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73752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Architecture — A Multi-Agent Finance Team on AWS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404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Bedrock AgentCore orchestrates a supervisor agent + specialist agents, each with its own tools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20040" y="1417320"/>
            <a:ext cx="1051560" cy="1737360"/>
          </a:xfrm>
          <a:prstGeom prst="rect">
            <a:avLst/>
          </a:prstGeom>
          <a:solidFill>
            <a:srgbClr val="FFFFFF"/>
          </a:solidFill>
          <a:ln w="15240">
            <a:solidFill>
              <a:srgbClr val="2A24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4630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3232" y="1828800"/>
            <a:ext cx="274320" cy="274320"/>
          </a:xfrm>
          <a:prstGeom prst="ellipse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103120"/>
            <a:ext cx="384048" cy="274320"/>
          </a:xfrm>
          <a:prstGeom prst="trapezoid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74320" y="2395728"/>
            <a:ext cx="1143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/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Team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389888" y="2148840"/>
            <a:ext cx="274320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5400000">
            <a:off x="1618488" y="20848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737360" y="1874520"/>
            <a:ext cx="1188720" cy="566928"/>
          </a:xfrm>
          <a:prstGeom prst="roundRect">
            <a:avLst>
              <a:gd name="adj" fmla="val 9677"/>
            </a:avLst>
          </a:prstGeom>
          <a:solidFill>
            <a:srgbClr val="1F70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737360" y="1892808"/>
            <a:ext cx="1188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481328" y="2459736"/>
            <a:ext cx="170078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Upload: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· Balance Sheet · Receipts</a:t>
            </a:r>
            <a:endParaRPr lang="en-US" sz="730" dirty="0"/>
          </a:p>
        </p:txBody>
      </p:sp>
      <p:sp>
        <p:nvSpPr>
          <p:cNvPr id="16" name="Shape 14"/>
          <p:cNvSpPr/>
          <p:nvPr/>
        </p:nvSpPr>
        <p:spPr>
          <a:xfrm>
            <a:off x="2962656" y="2148840"/>
            <a:ext cx="274320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rot="5400000">
            <a:off x="3191256" y="20848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91840" y="1207008"/>
            <a:ext cx="8595360" cy="4892040"/>
          </a:xfrm>
          <a:prstGeom prst="rect">
            <a:avLst/>
          </a:prstGeom>
          <a:solidFill>
            <a:srgbClr val="FAFAFC"/>
          </a:solidFill>
          <a:ln w="19050">
            <a:solidFill>
              <a:srgbClr val="2A243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01568" y="1252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 ·  Amazon Bedrock AgentCore  (VPC · Serverless)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429000" y="1874520"/>
            <a:ext cx="777240" cy="566928"/>
          </a:xfrm>
          <a:prstGeom prst="roundRect">
            <a:avLst>
              <a:gd name="adj" fmla="val 9677"/>
            </a:avLst>
          </a:prstGeom>
          <a:solidFill>
            <a:srgbClr val="E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429000" y="1892808"/>
            <a:ext cx="777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🪣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2459736"/>
            <a:ext cx="128930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S3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(doc store)</a:t>
            </a:r>
            <a:endParaRPr lang="en-US" sz="730" dirty="0"/>
          </a:p>
        </p:txBody>
      </p:sp>
      <p:sp>
        <p:nvSpPr>
          <p:cNvPr id="23" name="Shape 21"/>
          <p:cNvSpPr/>
          <p:nvPr/>
        </p:nvSpPr>
        <p:spPr>
          <a:xfrm>
            <a:off x="4206240" y="2148840"/>
            <a:ext cx="201168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 rot="5400000">
            <a:off x="4370832" y="20848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80560" y="1874520"/>
            <a:ext cx="822960" cy="566928"/>
          </a:xfrm>
          <a:prstGeom prst="roundRect">
            <a:avLst>
              <a:gd name="adj" fmla="val 9677"/>
            </a:avLst>
          </a:prstGeom>
          <a:solidFill>
            <a:srgbClr val="FF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480560" y="1892808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📄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224528" y="2459736"/>
            <a:ext cx="1335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Textract (OCR)</a:t>
            </a:r>
            <a:endParaRPr lang="en-US" sz="730" dirty="0"/>
          </a:p>
        </p:txBody>
      </p:sp>
      <p:sp>
        <p:nvSpPr>
          <p:cNvPr id="28" name="Shape 26"/>
          <p:cNvSpPr/>
          <p:nvPr/>
        </p:nvSpPr>
        <p:spPr>
          <a:xfrm>
            <a:off x="5303520" y="2148840"/>
            <a:ext cx="320040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 rot="5400000">
            <a:off x="5605272" y="20848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15000" y="1783080"/>
            <a:ext cx="1371600" cy="822960"/>
          </a:xfrm>
          <a:prstGeom prst="roundRect">
            <a:avLst>
              <a:gd name="adj" fmla="val 11111"/>
            </a:avLst>
          </a:prstGeom>
          <a:solidFill>
            <a:srgbClr val="A100FF"/>
          </a:solidFill>
          <a:ln w="19050">
            <a:solidFill>
              <a:srgbClr val="46007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715000" y="18288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✦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5715000" y="213055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5715000" y="2350008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F4F1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&amp; reconciles</a:t>
            </a:r>
            <a:endParaRPr lang="en-US" sz="700" dirty="0"/>
          </a:p>
        </p:txBody>
      </p:sp>
      <p:sp>
        <p:nvSpPr>
          <p:cNvPr id="34" name="Text 32"/>
          <p:cNvSpPr/>
          <p:nvPr/>
        </p:nvSpPr>
        <p:spPr>
          <a:xfrm>
            <a:off x="5440680" y="1527048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Amazon Bedrock (Claude) + AgentCore Runtime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6400800" y="2606040"/>
            <a:ext cx="0" cy="594360"/>
          </a:xfrm>
          <a:prstGeom prst="line">
            <a:avLst/>
          </a:prstGeom>
          <a:noFill/>
          <a:ln w="13970">
            <a:solidFill>
              <a:srgbClr val="A100F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11980" y="3200400"/>
            <a:ext cx="5129784" cy="0"/>
          </a:xfrm>
          <a:prstGeom prst="line">
            <a:avLst/>
          </a:prstGeom>
          <a:noFill/>
          <a:ln w="17780">
            <a:solidFill>
              <a:srgbClr val="A100F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411980" y="3200400"/>
            <a:ext cx="0" cy="228600"/>
          </a:xfrm>
          <a:prstGeom prst="line">
            <a:avLst/>
          </a:prstGeom>
          <a:noFill/>
          <a:ln w="13970">
            <a:solidFill>
              <a:srgbClr val="A100F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 rot="10800000">
            <a:off x="4347972" y="3410712"/>
            <a:ext cx="137160" cy="118872"/>
          </a:xfrm>
          <a:prstGeom prst="triangle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3703320" y="34290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750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703320" y="3483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500" dirty="0"/>
          </a:p>
        </p:txBody>
      </p:sp>
      <p:sp>
        <p:nvSpPr>
          <p:cNvPr id="41" name="Text 39"/>
          <p:cNvSpPr/>
          <p:nvPr/>
        </p:nvSpPr>
        <p:spPr>
          <a:xfrm>
            <a:off x="3749040" y="3794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Analysis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411980" y="4343400"/>
            <a:ext cx="0" cy="256032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 rot="10800000">
            <a:off x="4347972" y="4581144"/>
            <a:ext cx="137160" cy="11887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840480" y="459943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6F3FB"/>
          </a:solidFill>
          <a:ln w="12700">
            <a:solidFill>
              <a:srgbClr val="7500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840480" y="45994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AgentCore Gateway: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Athena +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6121908" y="3200400"/>
            <a:ext cx="0" cy="228600"/>
          </a:xfrm>
          <a:prstGeom prst="line">
            <a:avLst/>
          </a:prstGeom>
          <a:noFill/>
          <a:ln w="13970">
            <a:solidFill>
              <a:srgbClr val="A100FF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 rot="10800000">
            <a:off x="6057900" y="3410712"/>
            <a:ext cx="137160" cy="118872"/>
          </a:xfrm>
          <a:prstGeom prst="triangle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5413248" y="34290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17A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413248" y="3483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5458968" y="3794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121908" y="4343400"/>
            <a:ext cx="0" cy="256032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 rot="10800000">
            <a:off x="6057900" y="4581144"/>
            <a:ext cx="137160" cy="11887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550408" y="459943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6F3FB"/>
          </a:solidFill>
          <a:ln w="12700">
            <a:solidFill>
              <a:srgbClr val="117A8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5550408" y="45994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AgentCore Gateway: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engine</a:t>
            </a:r>
            <a:endParaRPr lang="en-US" sz="700" dirty="0"/>
          </a:p>
        </p:txBody>
      </p:sp>
      <p:sp>
        <p:nvSpPr>
          <p:cNvPr id="55" name="Shape 53"/>
          <p:cNvSpPr/>
          <p:nvPr/>
        </p:nvSpPr>
        <p:spPr>
          <a:xfrm>
            <a:off x="7831836" y="3200400"/>
            <a:ext cx="0" cy="228600"/>
          </a:xfrm>
          <a:prstGeom prst="line">
            <a:avLst/>
          </a:prstGeom>
          <a:noFill/>
          <a:ln w="13970">
            <a:solidFill>
              <a:srgbClr val="A100FF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0800000">
            <a:off x="7767828" y="3410712"/>
            <a:ext cx="137160" cy="118872"/>
          </a:xfrm>
          <a:prstGeom prst="triangle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123176" y="34290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E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123176" y="3483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500" dirty="0"/>
          </a:p>
        </p:txBody>
      </p:sp>
      <p:sp>
        <p:nvSpPr>
          <p:cNvPr id="59" name="Text 57"/>
          <p:cNvSpPr/>
          <p:nvPr/>
        </p:nvSpPr>
        <p:spPr>
          <a:xfrm>
            <a:off x="7168896" y="3794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Authenticity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831836" y="4343400"/>
            <a:ext cx="0" cy="256032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 rot="10800000">
            <a:off x="7767828" y="4581144"/>
            <a:ext cx="137160" cy="11887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7260336" y="459943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6F3FB"/>
          </a:solidFill>
          <a:ln w="12700">
            <a:solidFill>
              <a:srgbClr val="E23B3B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260336" y="45994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AgentCore Gateway: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Detector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Rekognition</a:t>
            </a:r>
            <a:endParaRPr lang="en-US" sz="700" dirty="0"/>
          </a:p>
        </p:txBody>
      </p:sp>
      <p:sp>
        <p:nvSpPr>
          <p:cNvPr id="64" name="Shape 62"/>
          <p:cNvSpPr/>
          <p:nvPr/>
        </p:nvSpPr>
        <p:spPr>
          <a:xfrm>
            <a:off x="9541764" y="3200400"/>
            <a:ext cx="0" cy="228600"/>
          </a:xfrm>
          <a:prstGeom prst="line">
            <a:avLst/>
          </a:prstGeom>
          <a:noFill/>
          <a:ln w="13970">
            <a:solidFill>
              <a:srgbClr val="A100FF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 rot="10800000">
            <a:off x="9477756" y="3410712"/>
            <a:ext cx="137160" cy="118872"/>
          </a:xfrm>
          <a:prstGeom prst="triangle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833104" y="3429000"/>
            <a:ext cx="1417320" cy="914400"/>
          </a:xfrm>
          <a:prstGeom prst="roundRect">
            <a:avLst>
              <a:gd name="adj" fmla="val 10000"/>
            </a:avLst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833104" y="3483864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500" dirty="0"/>
          </a:p>
        </p:txBody>
      </p:sp>
      <p:sp>
        <p:nvSpPr>
          <p:cNvPr id="68" name="Text 66"/>
          <p:cNvSpPr/>
          <p:nvPr/>
        </p:nvSpPr>
        <p:spPr>
          <a:xfrm>
            <a:off x="8878824" y="3794760"/>
            <a:ext cx="1325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900" dirty="0"/>
          </a:p>
        </p:txBody>
      </p:sp>
      <p:sp>
        <p:nvSpPr>
          <p:cNvPr id="69" name="Shape 67"/>
          <p:cNvSpPr/>
          <p:nvPr/>
        </p:nvSpPr>
        <p:spPr>
          <a:xfrm>
            <a:off x="9541764" y="4343400"/>
            <a:ext cx="0" cy="256032"/>
          </a:xfrm>
          <a:prstGeom prst="line">
            <a:avLst/>
          </a:prstGeom>
          <a:noFill/>
          <a:ln w="13970">
            <a:solidFill>
              <a:srgbClr val="88888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 rot="10800000">
            <a:off x="9477756" y="4581144"/>
            <a:ext cx="137160" cy="118872"/>
          </a:xfrm>
          <a:prstGeom prst="triangle">
            <a:avLst/>
          </a:prstGeom>
          <a:solidFill>
            <a:srgbClr val="8888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8970264" y="4599432"/>
            <a:ext cx="1143000" cy="502920"/>
          </a:xfrm>
          <a:prstGeom prst="roundRect">
            <a:avLst>
              <a:gd name="adj" fmla="val 10909"/>
            </a:avLst>
          </a:prstGeom>
          <a:solidFill>
            <a:srgbClr val="F6F3FB"/>
          </a:solidFill>
          <a:ln w="12700">
            <a:solidFill>
              <a:srgbClr val="1FA971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970264" y="4599432"/>
            <a:ext cx="1143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via AgentCore Gateway: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</a:t>
            </a:r>
            <a:endParaRPr lang="en-US" sz="700" dirty="0"/>
          </a:p>
          <a:p>
            <a:pPr algn="ctr" indent="0" marL="0">
              <a:buNone/>
            </a:pPr>
            <a:r>
              <a:rPr lang="en-US" sz="7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</a:t>
            </a:r>
            <a:endParaRPr lang="en-US" sz="700" dirty="0"/>
          </a:p>
        </p:txBody>
      </p:sp>
      <p:sp>
        <p:nvSpPr>
          <p:cNvPr id="73" name="Text 71"/>
          <p:cNvSpPr/>
          <p:nvPr/>
        </p:nvSpPr>
        <p:spPr>
          <a:xfrm>
            <a:off x="10195560" y="137160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Services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515600" y="192024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750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515600" y="193852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1400" dirty="0"/>
          </a:p>
        </p:txBody>
      </p:sp>
      <p:sp>
        <p:nvSpPr>
          <p:cNvPr id="76" name="Text 74"/>
          <p:cNvSpPr/>
          <p:nvPr/>
        </p:nvSpPr>
        <p:spPr>
          <a:xfrm>
            <a:off x="10259568" y="250545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30" dirty="0"/>
          </a:p>
        </p:txBody>
      </p:sp>
      <p:sp>
        <p:nvSpPr>
          <p:cNvPr id="77" name="Shape 75"/>
          <p:cNvSpPr/>
          <p:nvPr/>
        </p:nvSpPr>
        <p:spPr>
          <a:xfrm>
            <a:off x="10515600" y="288036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F70C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10515600" y="289864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</a:t>
            </a:r>
            <a:endParaRPr lang="en-US" sz="1400" dirty="0"/>
          </a:p>
        </p:txBody>
      </p:sp>
      <p:sp>
        <p:nvSpPr>
          <p:cNvPr id="79" name="Text 77"/>
          <p:cNvSpPr/>
          <p:nvPr/>
        </p:nvSpPr>
        <p:spPr>
          <a:xfrm>
            <a:off x="10259568" y="346557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AgentCore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</a:t>
            </a:r>
            <a:endParaRPr lang="en-US" sz="730" dirty="0"/>
          </a:p>
        </p:txBody>
      </p:sp>
      <p:sp>
        <p:nvSpPr>
          <p:cNvPr id="80" name="Shape 78"/>
          <p:cNvSpPr/>
          <p:nvPr/>
        </p:nvSpPr>
        <p:spPr>
          <a:xfrm>
            <a:off x="10515600" y="3840480"/>
            <a:ext cx="914400" cy="566928"/>
          </a:xfrm>
          <a:prstGeom prst="roundRect">
            <a:avLst>
              <a:gd name="adj" fmla="val 9677"/>
            </a:avLst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515600" y="3858768"/>
            <a:ext cx="914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82" name="Text 80"/>
          <p:cNvSpPr/>
          <p:nvPr/>
        </p:nvSpPr>
        <p:spPr>
          <a:xfrm>
            <a:off x="10259568" y="4425696"/>
            <a:ext cx="14264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Guardrails +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Observability</a:t>
            </a:r>
            <a:endParaRPr lang="en-US" sz="730" dirty="0"/>
          </a:p>
        </p:txBody>
      </p:sp>
      <p:sp>
        <p:nvSpPr>
          <p:cNvPr id="83" name="Shape 81"/>
          <p:cNvSpPr/>
          <p:nvPr/>
        </p:nvSpPr>
        <p:spPr>
          <a:xfrm>
            <a:off x="3703320" y="51206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E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3703320" y="5138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⮕</a:t>
            </a:r>
            <a:endParaRPr lang="en-US" sz="1400" dirty="0"/>
          </a:p>
        </p:txBody>
      </p:sp>
      <p:sp>
        <p:nvSpPr>
          <p:cNvPr id="85" name="Text 83"/>
          <p:cNvSpPr/>
          <p:nvPr/>
        </p:nvSpPr>
        <p:spPr>
          <a:xfrm>
            <a:off x="3447288" y="55961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Functions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(HITL approval)</a:t>
            </a:r>
            <a:endParaRPr lang="en-US" sz="730" dirty="0"/>
          </a:p>
        </p:txBody>
      </p:sp>
      <p:sp>
        <p:nvSpPr>
          <p:cNvPr id="86" name="Shape 84"/>
          <p:cNvSpPr/>
          <p:nvPr/>
        </p:nvSpPr>
        <p:spPr>
          <a:xfrm>
            <a:off x="4828032" y="5349240"/>
            <a:ext cx="256032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5400000">
            <a:off x="5029200" y="52852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5138928" y="5120640"/>
            <a:ext cx="1097280" cy="457200"/>
          </a:xfrm>
          <a:prstGeom prst="roundRect">
            <a:avLst>
              <a:gd name="adj" fmla="val 12000"/>
            </a:avLst>
          </a:prstGeom>
          <a:solidFill>
            <a:srgbClr val="750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5138928" y="5138928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400" dirty="0"/>
          </a:p>
        </p:txBody>
      </p:sp>
      <p:sp>
        <p:nvSpPr>
          <p:cNvPr id="90" name="Text 88"/>
          <p:cNvSpPr/>
          <p:nvPr/>
        </p:nvSpPr>
        <p:spPr>
          <a:xfrm>
            <a:off x="4882896" y="5596128"/>
            <a:ext cx="160934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Report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QuickSight</a:t>
            </a:r>
            <a:endParaRPr lang="en-US" sz="730" dirty="0"/>
          </a:p>
        </p:txBody>
      </p:sp>
      <p:sp>
        <p:nvSpPr>
          <p:cNvPr id="91" name="Shape 89"/>
          <p:cNvSpPr/>
          <p:nvPr/>
        </p:nvSpPr>
        <p:spPr>
          <a:xfrm>
            <a:off x="6263640" y="5349240"/>
            <a:ext cx="256032" cy="0"/>
          </a:xfrm>
          <a:prstGeom prst="line">
            <a:avLst/>
          </a:prstGeom>
          <a:noFill/>
          <a:ln w="13970">
            <a:solidFill>
              <a:srgbClr val="555555"/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 rot="5400000">
            <a:off x="6464808" y="5285232"/>
            <a:ext cx="109728" cy="137160"/>
          </a:xfrm>
          <a:prstGeom prst="triangle">
            <a:avLst/>
          </a:prstGeom>
          <a:solidFill>
            <a:srgbClr val="5555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583680" y="5120640"/>
            <a:ext cx="1051560" cy="457200"/>
          </a:xfrm>
          <a:prstGeom prst="roundRect">
            <a:avLst>
              <a:gd name="adj" fmla="val 12000"/>
            </a:avLst>
          </a:prstGeom>
          <a:solidFill>
            <a:srgbClr val="FF99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6583680" y="5138928"/>
            <a:ext cx="10515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📣</a:t>
            </a:r>
            <a:endParaRPr lang="en-US" sz="1400" dirty="0"/>
          </a:p>
        </p:txBody>
      </p:sp>
      <p:sp>
        <p:nvSpPr>
          <p:cNvPr id="95" name="Text 93"/>
          <p:cNvSpPr/>
          <p:nvPr/>
        </p:nvSpPr>
        <p:spPr>
          <a:xfrm>
            <a:off x="6327648" y="5596128"/>
            <a:ext cx="15636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SNS</a:t>
            </a:r>
            <a:endParaRPr lang="en-US" sz="730" dirty="0"/>
          </a:p>
          <a:p>
            <a:pPr algn="ctr" indent="0" marL="0">
              <a:buNone/>
            </a:pPr>
            <a:r>
              <a:rPr lang="en-US" sz="73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(flag alerts)</a:t>
            </a:r>
            <a:endParaRPr lang="en-US" sz="730" dirty="0"/>
          </a:p>
        </p:txBody>
      </p:sp>
      <p:sp>
        <p:nvSpPr>
          <p:cNvPr id="96" name="Text 94"/>
          <p:cNvSpPr/>
          <p:nvPr/>
        </p:nvSpPr>
        <p:spPr>
          <a:xfrm>
            <a:off x="7772400" y="5138928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return findings → Supervisor reconciles → human approves flagged items</a:t>
            </a:r>
            <a:endParaRPr lang="en-US" sz="850" dirty="0"/>
          </a:p>
        </p:txBody>
      </p:sp>
      <p:sp>
        <p:nvSpPr>
          <p:cNvPr id="97" name="Text 95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pPr indent="0" marL="0">
              <a:buNone/>
            </a:pPr>
            <a:r>
              <a:rPr lang="en-US" sz="1100" dirty="0">
                <a:solidFill>
                  <a:srgbClr val="B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98" name="Text 96"/>
          <p:cNvSpPr/>
          <p:nvPr/>
        </p:nvSpPr>
        <p:spPr>
          <a:xfrm>
            <a:off x="7315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0" cy="109728"/>
          </a:xfrm>
          <a:prstGeom prst="rect">
            <a:avLst/>
          </a:prstGeom>
          <a:solidFill>
            <a:srgbClr val="A100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0" y="0"/>
            <a:ext cx="4873752" cy="109728"/>
          </a:xfrm>
          <a:prstGeom prst="rect">
            <a:avLst/>
          </a:prstGeom>
          <a:solidFill>
            <a:srgbClr val="FF6B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256032"/>
            <a:ext cx="11430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the Agent Team — Specialists, Not a Monolith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384048" y="822960"/>
            <a:ext cx="11430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agent owns one job, uses its own AWS tools, and reports to the supervisor — just like a real audit team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F6F3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64592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7500C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1323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60020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P&amp;L Analysis Agent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600200" y="2029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the profit &amp; loss statement, computes margins and trends, and flags line items that deviate from historical norms.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tools:  </a:t>
            </a:r>
            <a:pPr indent="0" marL="0">
              <a:buNone/>
            </a:pPr>
            <a:r>
              <a:rPr lang="en-US" sz="9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Bedrock reasoning · Athena queries · historical baselines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63640" y="1371600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F6F3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19672" y="164592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117A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19672" y="1645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406640" y="1627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 Sheet Agent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406640" y="2029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Verifies the accounting identity (Assets = Liabilities + Equity), checks totals foot correctly, and spots misclassified entries.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537960" y="2944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17A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tools:  </a:t>
            </a:r>
            <a:pPr indent="0" marL="0">
              <a:buNone/>
            </a:pPr>
            <a:r>
              <a:rPr lang="en-US" sz="9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Lambda rules engine · Bedrock explanation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3657600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F6F3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93192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E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3232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60020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Receipt Authenticity Agent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600200" y="4315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Determines if a receipt is original or forged/duplicated — checks metadata, visual tampering, and duplicate submissions.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31520" y="5230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23B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tools:  </a:t>
            </a:r>
            <a:pPr indent="0" marL="0">
              <a:buNone/>
            </a:pPr>
            <a:r>
              <a:rPr lang="en-US" sz="9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Rekognition · Fraud Detector · Textract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63640" y="3657600"/>
            <a:ext cx="5532120" cy="2057400"/>
          </a:xfrm>
          <a:prstGeom prst="roundRect">
            <a:avLst>
              <a:gd name="adj" fmla="val 4444"/>
            </a:avLst>
          </a:prstGeom>
          <a:solidFill>
            <a:srgbClr val="F6F3F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19672" y="3931920"/>
            <a:ext cx="731520" cy="731520"/>
          </a:xfrm>
          <a:prstGeom prst="roundRect">
            <a:avLst>
              <a:gd name="adj" fmla="val 22500"/>
            </a:avLst>
          </a:prstGeom>
          <a:solidFill>
            <a:srgbClr val="1FA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9672" y="39319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406640" y="3913632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Reconciliation Agent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406640" y="4315968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figures across all three documents, ensures receipts tie to P&amp;L expenses, and compiles a unified audit finding.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537960" y="5230368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FA9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tools:  </a:t>
            </a:r>
            <a:pPr indent="0" marL="0">
              <a:buNone/>
            </a:pPr>
            <a:r>
              <a:rPr lang="en-US" sz="900" dirty="0">
                <a:solidFill>
                  <a:srgbClr val="4A4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DynamoDB lookups · Bedrock synthesis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5989320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750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multi-agent beats one big prompt: specialised agents are easier to test, cheaper to run (only the needed agent fires), and each finding is independently explainable for Responsible AI.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365760" y="6446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A100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accenture</a:t>
            </a:r>
            <a:pPr indent="0" marL="0">
              <a:buNone/>
            </a:pPr>
            <a:r>
              <a:rPr lang="en-US" sz="1100" dirty="0">
                <a:solidFill>
                  <a:srgbClr val="B9B4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indent="0" marL="0">
              <a:buNone/>
            </a:pPr>
            <a:r>
              <a:rPr lang="en-US" sz="11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7315200" y="64465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AABG FY26 Hackathon  ·  Team FinSightOps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FinSightOps — Agentic AWS Architecture</dc:title>
  <dc:subject>PptxGenJS Presentation</dc:subject>
  <dc:creator>AABG FY26 Hackathon</dc:creator>
  <cp:lastModifiedBy>AABG FY26 Hackathon</cp:lastModifiedBy>
  <cp:revision>1</cp:revision>
  <dcterms:created xsi:type="dcterms:W3CDTF">2026-07-20T04:17:29Z</dcterms:created>
  <dcterms:modified xsi:type="dcterms:W3CDTF">2026-07-20T04:17:29Z</dcterms:modified>
</cp:coreProperties>
</file>
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4" r:id="rId5"/>
    <p:sldId id="268" r:id="rId6"/>
    <p:sldId id="266" r:id="rId7"/>
    <p:sldId id="259" r:id="rId8"/>
    <p:sldId id="267" r:id="rId9"/>
    <p:sldId id="260" r:id="rId10"/>
    <p:sldId id="261" r:id="rId11"/>
    <p:sldId id="262" r:id="rId12"/>
    <p:sldId id="265" r:id="rId13"/>
    <p:sldId id="263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515A99-C091-1D42-6AF0-62E0CB36BC83}" v="2" dt="2026-07-29T04:06:53.127"/>
    <p1510:client id="{FE8886C8-9525-8948-1CA3-1CDE4849FFF1}" v="29" dt="2026-07-30T12:46:42.0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A100FF"/>
            </a:solidFill>
            <a:effectLst/>
          </c:spPr>
          <c:invertIfNegative val="0"/>
          <c:dLbls>
            <c:numFmt formatCode="&quot;$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Bedrock (Claude) inference</c:v>
                </c:pt>
                <c:pt idx="1">
                  <c:v>Textract OCR</c:v>
                </c:pt>
                <c:pt idx="2">
                  <c:v>Rekognition (tamper + dup checks)</c:v>
                </c:pt>
                <c:pt idx="3">
                  <c:v>QuickSight</c:v>
                </c:pt>
                <c:pt idx="4">
                  <c:v>Athena + DynamoDB</c:v>
                </c:pt>
                <c:pt idx="5">
                  <c:v>AgentCore Runtime</c:v>
                </c:pt>
                <c:pt idx="6">
                  <c:v>Lambda + Step Functions</c:v>
                </c:pt>
                <c:pt idx="7">
                  <c:v>S3 + SNS + Secrets Mgr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</c:v>
                </c:pt>
                <c:pt idx="1">
                  <c:v>6</c:v>
                </c:pt>
                <c:pt idx="2">
                  <c:v>10</c:v>
                </c:pt>
                <c:pt idx="3">
                  <c:v>9</c:v>
                </c:pt>
                <c:pt idx="4">
                  <c:v>5</c:v>
                </c:pt>
                <c:pt idx="5">
                  <c:v>8</c:v>
                </c:pt>
                <c:pt idx="6">
                  <c:v>2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CC-4512-8122-DFE7D8F60D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b"/>
        <c:majorGridlines>
          <c:spPr>
            <a:ln w="9525" cap="flat">
              <a:solidFill>
                <a:srgbClr val="E3E0EE"/>
              </a:solidFill>
              <a:prstDash val="solid"/>
              <a:round/>
            </a:ln>
          </c:spPr>
        </c:majorGridlines>
        <c:numFmt formatCode="&quot;$&quot;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8015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26" Type="http://schemas.openxmlformats.org/officeDocument/2006/relationships/image" Target="../media/image34.png"/><Relationship Id="rId3" Type="http://schemas.openxmlformats.org/officeDocument/2006/relationships/image" Target="../media/image11.png"/><Relationship Id="rId21" Type="http://schemas.openxmlformats.org/officeDocument/2006/relationships/image" Target="../media/image29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5" Type="http://schemas.openxmlformats.org/officeDocument/2006/relationships/image" Target="../media/image33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24" Type="http://schemas.openxmlformats.org/officeDocument/2006/relationships/image" Target="../media/image32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23" Type="http://schemas.openxmlformats.org/officeDocument/2006/relationships/image" Target="../media/image31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Relationship Id="rId22" Type="http://schemas.openxmlformats.org/officeDocument/2006/relationships/image" Target="../media/image30.png"/><Relationship Id="rId27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4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3.png"/><Relationship Id="rId5" Type="http://schemas.openxmlformats.org/officeDocument/2006/relationships/image" Target="../media/image38.png"/><Relationship Id="rId10" Type="http://schemas.openxmlformats.org/officeDocument/2006/relationships/image" Target="../media/image9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6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FinSightOps</a:t>
            </a:r>
            <a:endParaRPr lang="en-US" sz="6600"/>
          </a:p>
        </p:txBody>
      </p:sp>
      <p:sp>
        <p:nvSpPr>
          <p:cNvPr id="3" name="Text 1"/>
          <p:cNvSpPr/>
          <p:nvPr/>
        </p:nvSpPr>
        <p:spPr>
          <a:xfrm>
            <a:off x="658368" y="2971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Finance &amp; Audit Team on AWS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658368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>
                <a:solidFill>
                  <a:srgbClr val="D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 multi-agent auditing, augmented with external MCP integrations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658368" y="4343400"/>
            <a:ext cx="2560320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4343400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3383280" y="4343400"/>
            <a:ext cx="1312164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83280" y="4343400"/>
            <a:ext cx="13121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4860036" y="4343400"/>
            <a:ext cx="1408176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60036" y="4343400"/>
            <a:ext cx="1408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MCP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6432804" y="4343400"/>
            <a:ext cx="1888236" cy="420624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32804" y="4343400"/>
            <a:ext cx="18882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640080" y="5806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2000" b="1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accenture</a:t>
            </a:r>
            <a:r>
              <a:rPr lang="en-US" sz="20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aws</a:t>
            </a:r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7315200" y="59436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>
                <a:solidFill>
                  <a:srgbClr val="D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10 July 2026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close and audit is slow, manual, and error-prone — and it doesn't scale with the team.</a:t>
            </a:r>
            <a:endParaRPr lang="en-US" sz="150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4F2FA"/>
          </a:solidFill>
          <a:ln w="12700">
            <a:solidFill>
              <a:srgbClr val="E3E0EE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" y="2320747"/>
            <a:ext cx="341986" cy="3419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756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manual review</a:t>
            </a:r>
            <a:endParaRPr lang="en-US" sz="1700"/>
          </a:p>
        </p:txBody>
      </p:sp>
      <p:sp>
        <p:nvSpPr>
          <p:cNvPr id="8" name="Text 5"/>
          <p:cNvSpPr/>
          <p:nvPr/>
        </p:nvSpPr>
        <p:spPr>
          <a:xfrm>
            <a:off x="1874520" y="2560320"/>
            <a:ext cx="3840480" cy="9601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5000"/>
              </a:lnSpc>
            </a:pPr>
            <a:r>
              <a:rPr lang="en-US" sz="1250">
                <a:solidFill>
                  <a:srgbClr val="6B6B7B"/>
                </a:solidFill>
                <a:latin typeface="Calibri"/>
                <a:ea typeface="Calibri"/>
                <a:cs typeface="Calibri"/>
              </a:rPr>
              <a:t>Analysts reconcile P&amp;L, balance sheets and receipts by hand across disconnected files — a multi-day effort every cycle.</a:t>
            </a:r>
            <a:endParaRPr lang="en-US" sz="1250">
              <a:latin typeface="Calibri"/>
              <a:ea typeface="Calibri"/>
              <a:cs typeface="Calibri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28232" y="178308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4F2FA"/>
          </a:solidFill>
          <a:ln w="12700">
            <a:solidFill>
              <a:srgbClr val="E3E0EE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48272" y="2103120"/>
            <a:ext cx="777240" cy="777240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ic_b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899" y="2320747"/>
            <a:ext cx="341986" cy="3419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54112" y="207568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slip through</a:t>
            </a:r>
            <a:endParaRPr lang="en-US" sz="1700"/>
          </a:p>
        </p:txBody>
      </p:sp>
      <p:sp>
        <p:nvSpPr>
          <p:cNvPr id="13" name="Text 9"/>
          <p:cNvSpPr/>
          <p:nvPr/>
        </p:nvSpPr>
        <p:spPr>
          <a:xfrm>
            <a:off x="7754112" y="256032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Misclassified entries, foot errors and unbalanced statements are caught late, if at all, creating audit and compliance risk.</a:t>
            </a:r>
            <a:endParaRPr lang="en-US" sz="125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4F2FA"/>
          </a:solidFill>
          <a:ln w="12700">
            <a:solidFill>
              <a:srgbClr val="E3E0EE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68680" y="4343400"/>
            <a:ext cx="777240" cy="777240"/>
          </a:xfrm>
          <a:prstGeom prst="ellipse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_cop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07" y="4561027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4315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tampered receipts</a:t>
            </a:r>
            <a:endParaRPr lang="en-US" sz="1700"/>
          </a:p>
        </p:txBody>
      </p:sp>
      <p:sp>
        <p:nvSpPr>
          <p:cNvPr id="18" name="Text 13"/>
          <p:cNvSpPr/>
          <p:nvPr/>
        </p:nvSpPr>
        <p:spPr>
          <a:xfrm>
            <a:off x="1874520" y="48006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 or resubmitted receipts are near-impossible to spot at volume with the naked eye.</a:t>
            </a:r>
            <a:endParaRPr lang="en-US" sz="1250"/>
          </a:p>
        </p:txBody>
      </p:sp>
      <p:sp>
        <p:nvSpPr>
          <p:cNvPr id="19" name="Shape 14"/>
          <p:cNvSpPr/>
          <p:nvPr/>
        </p:nvSpPr>
        <p:spPr>
          <a:xfrm>
            <a:off x="6428232" y="40233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F4F2FA"/>
          </a:solidFill>
          <a:ln w="12700">
            <a:solidFill>
              <a:srgbClr val="E3E0EE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748272" y="4343400"/>
            <a:ext cx="777240" cy="777240"/>
          </a:xfrm>
          <a:prstGeom prst="ellipse">
            <a:avLst/>
          </a:prstGeom>
          <a:solidFill>
            <a:srgbClr val="1783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ic_disconne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5899" y="4561027"/>
            <a:ext cx="341986" cy="3419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54112" y="4315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everywhere</a:t>
            </a:r>
            <a:endParaRPr lang="en-US" sz="1700"/>
          </a:p>
        </p:txBody>
      </p:sp>
      <p:sp>
        <p:nvSpPr>
          <p:cNvPr id="23" name="Text 17"/>
          <p:cNvSpPr/>
          <p:nvPr/>
        </p:nvSpPr>
        <p:spPr>
          <a:xfrm>
            <a:off x="7754112" y="480060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Ledgers, ERP and accounting systems are siloed, so no one has a single, verifiable audit picture.</a:t>
            </a:r>
            <a:endParaRPr lang="en-US" sz="1250"/>
          </a:p>
        </p:txBody>
      </p:sp>
      <p:sp>
        <p:nvSpPr>
          <p:cNvPr id="24" name="Text 18"/>
          <p:cNvSpPr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1100" b="1" i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accenture</a:t>
            </a:r>
            <a:r>
              <a:rPr lang="en-US" sz="11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aws</a:t>
            </a:r>
            <a:endParaRPr lang="en-US" sz="1100"/>
          </a:p>
        </p:txBody>
      </p:sp>
      <p:sp>
        <p:nvSpPr>
          <p:cNvPr id="25" name="Text 19"/>
          <p:cNvSpPr/>
          <p:nvPr/>
        </p:nvSpPr>
        <p:spPr>
          <a:xfrm>
            <a:off x="7315200" y="6419088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9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Our Solution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548640" y="111556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agent orchestrates four specialist agents — a virtual audit team that reviews every statement in minutes, not weeks.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143000" y="21762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143000" y="252374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upload P&amp;L, balance sheet &amp; receipts. Textract extracts every figure.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777240" y="2651760"/>
            <a:ext cx="0" cy="777240"/>
          </a:xfrm>
          <a:prstGeom prst="line">
            <a:avLst/>
          </a:prstGeom>
          <a:noFill/>
          <a:ln w="25400">
            <a:solidFill>
              <a:srgbClr val="A100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457200" cy="457200"/>
          </a:xfrm>
          <a:prstGeom prst="ellipse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/>
          </a:p>
        </p:txBody>
      </p:sp>
      <p:sp>
        <p:nvSpPr>
          <p:cNvPr id="12" name="Text 10"/>
          <p:cNvSpPr/>
          <p:nvPr/>
        </p:nvSpPr>
        <p:spPr>
          <a:xfrm>
            <a:off x="1143000" y="34107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600"/>
          </a:p>
        </p:txBody>
      </p:sp>
      <p:sp>
        <p:nvSpPr>
          <p:cNvPr id="13" name="Text 11"/>
          <p:cNvSpPr/>
          <p:nvPr/>
        </p:nvSpPr>
        <p:spPr>
          <a:xfrm>
            <a:off x="1143000" y="375818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routes work to specialist agents; each pulls its own AWS + MCP tools.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777240" y="3886200"/>
            <a:ext cx="0" cy="777240"/>
          </a:xfrm>
          <a:prstGeom prst="line">
            <a:avLst/>
          </a:prstGeom>
          <a:noFill/>
          <a:ln w="25400">
            <a:solidFill>
              <a:srgbClr val="A100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1143000" y="46451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600"/>
          </a:p>
        </p:txBody>
      </p:sp>
      <p:sp>
        <p:nvSpPr>
          <p:cNvPr id="18" name="Text 16"/>
          <p:cNvSpPr/>
          <p:nvPr/>
        </p:nvSpPr>
        <p:spPr>
          <a:xfrm>
            <a:off x="1143000" y="499262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cross-checked; flagged items go to a human for approval.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4892040" y="1783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TEAM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4892040" y="219456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0EE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148072" y="2450592"/>
            <a:ext cx="713232" cy="713232"/>
          </a:xfrm>
          <a:prstGeom prst="ellipse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assets/ic_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7777" y="2650297"/>
            <a:ext cx="313822" cy="31382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989320" y="2450592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Analysis</a:t>
            </a:r>
            <a:endParaRPr lang="en-US" sz="1500"/>
          </a:p>
        </p:txBody>
      </p:sp>
      <p:sp>
        <p:nvSpPr>
          <p:cNvPr id="24" name="Text 21"/>
          <p:cNvSpPr/>
          <p:nvPr/>
        </p:nvSpPr>
        <p:spPr>
          <a:xfrm>
            <a:off x="5148072" y="32918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Margins, trends &amp; anomaly flags</a:t>
            </a:r>
            <a:endParaRPr lang="en-US" sz="1150"/>
          </a:p>
        </p:txBody>
      </p:sp>
      <p:sp>
        <p:nvSpPr>
          <p:cNvPr id="25" name="Shape 22"/>
          <p:cNvSpPr/>
          <p:nvPr/>
        </p:nvSpPr>
        <p:spPr>
          <a:xfrm>
            <a:off x="8458200" y="219456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0EE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8714232" y="2450592"/>
            <a:ext cx="713232" cy="713232"/>
          </a:xfrm>
          <a:prstGeom prst="ellipse">
            <a:avLst/>
          </a:prstGeom>
          <a:solidFill>
            <a:srgbClr val="1783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1" descr="assets/ic_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937" y="2650297"/>
            <a:ext cx="313822" cy="31382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9555480" y="2450592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500"/>
          </a:p>
        </p:txBody>
      </p:sp>
      <p:sp>
        <p:nvSpPr>
          <p:cNvPr id="29" name="Text 25"/>
          <p:cNvSpPr/>
          <p:nvPr/>
        </p:nvSpPr>
        <p:spPr>
          <a:xfrm>
            <a:off x="8714232" y="32918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= Liabilities + Equity checks</a:t>
            </a:r>
            <a:endParaRPr lang="en-US" sz="1150"/>
          </a:p>
        </p:txBody>
      </p:sp>
      <p:sp>
        <p:nvSpPr>
          <p:cNvPr id="30" name="Shape 26"/>
          <p:cNvSpPr/>
          <p:nvPr/>
        </p:nvSpPr>
        <p:spPr>
          <a:xfrm>
            <a:off x="4892040" y="420624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0EE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148072" y="4462272"/>
            <a:ext cx="713232" cy="713232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2" descr="assets/ic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7777" y="4661977"/>
            <a:ext cx="313822" cy="313822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989320" y="4462272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Authenticity</a:t>
            </a:r>
            <a:endParaRPr lang="en-US" sz="1500"/>
          </a:p>
        </p:txBody>
      </p:sp>
      <p:sp>
        <p:nvSpPr>
          <p:cNvPr id="34" name="Text 29"/>
          <p:cNvSpPr/>
          <p:nvPr/>
        </p:nvSpPr>
        <p:spPr>
          <a:xfrm>
            <a:off x="5148072" y="53035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duplicate &amp; tampered receipts</a:t>
            </a:r>
            <a:endParaRPr lang="en-US" sz="1150"/>
          </a:p>
        </p:txBody>
      </p:sp>
      <p:sp>
        <p:nvSpPr>
          <p:cNvPr id="35" name="Shape 30"/>
          <p:cNvSpPr/>
          <p:nvPr/>
        </p:nvSpPr>
        <p:spPr>
          <a:xfrm>
            <a:off x="8458200" y="4206240"/>
            <a:ext cx="32461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3E0EE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8714232" y="4462272"/>
            <a:ext cx="713232" cy="713232"/>
          </a:xfrm>
          <a:prstGeom prst="ellipse">
            <a:avLst/>
          </a:prstGeom>
          <a:solidFill>
            <a:srgbClr val="1E9E6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3" descr="assets/ic_lin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937" y="4661977"/>
            <a:ext cx="313822" cy="31382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555480" y="4462272"/>
            <a:ext cx="1965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500"/>
          </a:p>
        </p:txBody>
      </p:sp>
      <p:sp>
        <p:nvSpPr>
          <p:cNvPr id="39" name="Text 33"/>
          <p:cNvSpPr/>
          <p:nvPr/>
        </p:nvSpPr>
        <p:spPr>
          <a:xfrm>
            <a:off x="8714232" y="53035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receipts to P&amp;L, unifies findings</a:t>
            </a:r>
            <a:endParaRPr lang="en-US" sz="1150"/>
          </a:p>
        </p:txBody>
      </p:sp>
      <p:sp>
        <p:nvSpPr>
          <p:cNvPr id="40" name="Text 34"/>
          <p:cNvSpPr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1100" b="1" i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accenture</a:t>
            </a:r>
            <a:r>
              <a:rPr lang="en-US" sz="11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aws</a:t>
            </a:r>
            <a:endParaRPr lang="en-US" sz="1100"/>
          </a:p>
        </p:txBody>
      </p:sp>
      <p:sp>
        <p:nvSpPr>
          <p:cNvPr id="41" name="Text 35"/>
          <p:cNvSpPr/>
          <p:nvPr/>
        </p:nvSpPr>
        <p:spPr>
          <a:xfrm>
            <a:off x="7315200" y="6419088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It Works — In Plain Terms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virtual audit team, told as a story — no AWS knowledge needed to follow it.</a:t>
            </a:r>
            <a:endParaRPr lang="en-US" sz="1300"/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i="1">
                <a:solidFill>
                  <a:srgbClr val="17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weeks of manual review become minutes — with a human always approving anything risky.</a:t>
            </a:r>
            <a:endParaRPr lang="en-US" sz="1150"/>
          </a:p>
        </p:txBody>
      </p:sp>
      <p:sp>
        <p:nvSpPr>
          <p:cNvPr id="25" name="Text 19"/>
          <p:cNvSpPr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1100" b="1" i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accenture</a:t>
            </a:r>
            <a:r>
              <a:rPr lang="en-US" sz="11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aws</a:t>
            </a:r>
            <a:endParaRPr lang="en-US" sz="1100"/>
          </a:p>
        </p:txBody>
      </p:sp>
      <p:sp>
        <p:nvSpPr>
          <p:cNvPr id="26" name="Text 20"/>
          <p:cNvSpPr/>
          <p:nvPr/>
        </p:nvSpPr>
        <p:spPr>
          <a:xfrm>
            <a:off x="7315200" y="6419088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950"/>
          </a:p>
        </p:txBody>
      </p:sp>
      <p:sp>
        <p:nvSpPr>
          <p:cNvPr id="501" name="Flow1"/>
          <p:cNvSpPr/>
          <p:nvPr/>
        </p:nvSpPr>
        <p:spPr>
          <a:xfrm>
            <a:off x="640080" y="2788920"/>
            <a:ext cx="1965960" cy="1188720"/>
          </a:xfrm>
          <a:prstGeom prst="roundRect">
            <a:avLst>
              <a:gd name="adj" fmla="val 9000"/>
            </a:avLst>
          </a:prstGeom>
          <a:solidFill>
            <a:srgbClr val="F0FAFB"/>
          </a:solidFill>
          <a:ln w="15875">
            <a:solidFill>
              <a:srgbClr val="178391"/>
            </a:solidFill>
          </a:ln>
        </p:spPr>
        <p:txBody>
          <a:bodyPr wrap="square" lIns="82296" tIns="45720" rIns="82296" bIns="45720" anchor="ctr"/>
          <a:lstStyle/>
          <a:p>
            <a:pPr algn="ctr"/>
            <a:r>
              <a:rPr lang="en-US" sz="1400" b="1">
                <a:solidFill>
                  <a:srgbClr val="1A1A2E"/>
                </a:solidFill>
              </a:rPr>
              <a:t>1 · Upload</a:t>
            </a:r>
          </a:p>
          <a:p>
            <a:pPr algn="ctr"/>
            <a:r>
              <a:rPr lang="en-US" sz="1000">
                <a:solidFill>
                  <a:srgbClr val="6B6B7B"/>
                </a:solidFill>
              </a:rPr>
              <a:t>P&amp;L, balance sheet, receipts</a:t>
            </a:r>
          </a:p>
        </p:txBody>
      </p:sp>
      <p:sp>
        <p:nvSpPr>
          <p:cNvPr id="502" name="Flow2"/>
          <p:cNvSpPr/>
          <p:nvPr/>
        </p:nvSpPr>
        <p:spPr>
          <a:xfrm>
            <a:off x="2880360" y="2788920"/>
            <a:ext cx="1965960" cy="1188720"/>
          </a:xfrm>
          <a:prstGeom prst="roundRect">
            <a:avLst>
              <a:gd name="adj" fmla="val 9000"/>
            </a:avLst>
          </a:prstGeom>
          <a:solidFill>
            <a:srgbClr val="F0FAFB"/>
          </a:solidFill>
          <a:ln w="15875">
            <a:solidFill>
              <a:srgbClr val="178391"/>
            </a:solidFill>
          </a:ln>
        </p:spPr>
        <p:txBody>
          <a:bodyPr wrap="square" lIns="82296" tIns="45720" rIns="82296" bIns="45720" anchor="ctr"/>
          <a:lstStyle/>
          <a:p>
            <a:pPr algn="ctr"/>
            <a:r>
              <a:rPr lang="en-US" sz="1400" b="1">
                <a:solidFill>
                  <a:srgbClr val="1A1A2E"/>
                </a:solidFill>
              </a:rPr>
              <a:t>2 · AI team reviews</a:t>
            </a:r>
          </a:p>
          <a:p>
            <a:pPr algn="ctr"/>
            <a:r>
              <a:rPr lang="en-US" sz="1000">
                <a:solidFill>
                  <a:srgbClr val="6B6B7B"/>
                </a:solidFill>
              </a:rPr>
              <a:t>Every figure read &amp; checked</a:t>
            </a:r>
          </a:p>
        </p:txBody>
      </p:sp>
      <p:sp>
        <p:nvSpPr>
          <p:cNvPr id="503" name="Flow3"/>
          <p:cNvSpPr/>
          <p:nvPr/>
        </p:nvSpPr>
        <p:spPr>
          <a:xfrm>
            <a:off x="5120640" y="2788920"/>
            <a:ext cx="1965960" cy="1188720"/>
          </a:xfrm>
          <a:prstGeom prst="roundRect">
            <a:avLst>
              <a:gd name="adj" fmla="val 9000"/>
            </a:avLst>
          </a:prstGeom>
          <a:solidFill>
            <a:srgbClr val="F0FAFB"/>
          </a:solidFill>
          <a:ln w="15875">
            <a:solidFill>
              <a:srgbClr val="178391"/>
            </a:solidFill>
          </a:ln>
        </p:spPr>
        <p:txBody>
          <a:bodyPr wrap="square" lIns="82296" tIns="45720" rIns="82296" bIns="45720" anchor="ctr"/>
          <a:lstStyle/>
          <a:p>
            <a:pPr algn="ctr"/>
            <a:r>
              <a:rPr lang="en-US" sz="1400" b="1">
                <a:solidFill>
                  <a:srgbClr val="1A1A2E"/>
                </a:solidFill>
              </a:rPr>
              <a:t>3 · Findings sorted</a:t>
            </a:r>
          </a:p>
          <a:p>
            <a:pPr algn="ctr"/>
            <a:r>
              <a:rPr lang="en-US" sz="1000">
                <a:solidFill>
                  <a:srgbClr val="6B6B7B"/>
                </a:solidFill>
              </a:rPr>
              <a:t>Clean pass · risky flagged</a:t>
            </a:r>
          </a:p>
        </p:txBody>
      </p:sp>
      <p:sp>
        <p:nvSpPr>
          <p:cNvPr id="504" name="Flow4"/>
          <p:cNvSpPr/>
          <p:nvPr/>
        </p:nvSpPr>
        <p:spPr>
          <a:xfrm>
            <a:off x="7360920" y="2788920"/>
            <a:ext cx="1965960" cy="1188720"/>
          </a:xfrm>
          <a:prstGeom prst="roundRect">
            <a:avLst>
              <a:gd name="adj" fmla="val 9000"/>
            </a:avLst>
          </a:prstGeom>
          <a:solidFill>
            <a:srgbClr val="F0FAFB"/>
          </a:solidFill>
          <a:ln w="15875">
            <a:solidFill>
              <a:srgbClr val="178391"/>
            </a:solidFill>
          </a:ln>
        </p:spPr>
        <p:txBody>
          <a:bodyPr wrap="square" lIns="82296" tIns="45720" rIns="82296" bIns="45720" anchor="ctr"/>
          <a:lstStyle/>
          <a:p>
            <a:pPr algn="ctr"/>
            <a:r>
              <a:rPr lang="en-US" sz="1400" b="1">
                <a:solidFill>
                  <a:srgbClr val="1A1A2E"/>
                </a:solidFill>
              </a:rPr>
              <a:t>4 · Human approves</a:t>
            </a:r>
          </a:p>
          <a:p>
            <a:pPr algn="ctr"/>
            <a:r>
              <a:rPr lang="en-US" sz="1000">
                <a:solidFill>
                  <a:srgbClr val="6B6B7B"/>
                </a:solidFill>
              </a:rPr>
              <a:t>Reviewer signs off flagged</a:t>
            </a:r>
          </a:p>
        </p:txBody>
      </p:sp>
      <p:sp>
        <p:nvSpPr>
          <p:cNvPr id="505" name="Flow5"/>
          <p:cNvSpPr/>
          <p:nvPr/>
        </p:nvSpPr>
        <p:spPr>
          <a:xfrm>
            <a:off x="9601200" y="2788920"/>
            <a:ext cx="1965960" cy="1188720"/>
          </a:xfrm>
          <a:prstGeom prst="roundRect">
            <a:avLst>
              <a:gd name="adj" fmla="val 9000"/>
            </a:avLst>
          </a:prstGeom>
          <a:solidFill>
            <a:srgbClr val="F0FAFB"/>
          </a:solidFill>
          <a:ln w="15875">
            <a:solidFill>
              <a:srgbClr val="178391"/>
            </a:solidFill>
          </a:ln>
        </p:spPr>
        <p:txBody>
          <a:bodyPr wrap="square" lIns="82296" tIns="45720" rIns="82296" bIns="45720" anchor="ctr"/>
          <a:lstStyle/>
          <a:p>
            <a:pPr algn="ctr"/>
            <a:r>
              <a:rPr lang="en-US" sz="1400" b="1">
                <a:solidFill>
                  <a:srgbClr val="1A1A2E"/>
                </a:solidFill>
              </a:rPr>
              <a:t>5 · Report</a:t>
            </a:r>
          </a:p>
          <a:p>
            <a:pPr algn="ctr"/>
            <a:r>
              <a:rPr lang="en-US" sz="1000">
                <a:solidFill>
                  <a:srgbClr val="6B6B7B"/>
                </a:solidFill>
              </a:rPr>
              <a:t>Dashboard + team notified</a:t>
            </a:r>
          </a:p>
        </p:txBody>
      </p:sp>
      <p:cxnSp>
        <p:nvCxnSpPr>
          <p:cNvPr id="521" name="Arrow1"/>
          <p:cNvCxnSpPr/>
          <p:nvPr/>
        </p:nvCxnSpPr>
        <p:spPr>
          <a:xfrm>
            <a:off x="2606040" y="3383280"/>
            <a:ext cx="274320" cy="0"/>
          </a:xfrm>
          <a:prstGeom prst="straightConnector1">
            <a:avLst/>
          </a:prstGeom>
          <a:ln w="28575" cap="rnd">
            <a:solidFill>
              <a:srgbClr val="178391"/>
            </a:solidFill>
            <a:tailEnd type="triangle" w="med" len="med"/>
          </a:ln>
        </p:spPr>
      </p:cxnSp>
      <p:cxnSp>
        <p:nvCxnSpPr>
          <p:cNvPr id="522" name="Arrow2"/>
          <p:cNvCxnSpPr/>
          <p:nvPr/>
        </p:nvCxnSpPr>
        <p:spPr>
          <a:xfrm>
            <a:off x="4846320" y="3383280"/>
            <a:ext cx="274320" cy="0"/>
          </a:xfrm>
          <a:prstGeom prst="straightConnector1">
            <a:avLst/>
          </a:prstGeom>
          <a:ln w="28575" cap="rnd">
            <a:solidFill>
              <a:srgbClr val="178391"/>
            </a:solidFill>
            <a:tailEnd type="triangle" w="med" len="med"/>
          </a:ln>
        </p:spPr>
      </p:cxnSp>
      <p:cxnSp>
        <p:nvCxnSpPr>
          <p:cNvPr id="523" name="Arrow3"/>
          <p:cNvCxnSpPr/>
          <p:nvPr/>
        </p:nvCxnSpPr>
        <p:spPr>
          <a:xfrm>
            <a:off x="7086600" y="3383280"/>
            <a:ext cx="274320" cy="0"/>
          </a:xfrm>
          <a:prstGeom prst="straightConnector1">
            <a:avLst/>
          </a:prstGeom>
          <a:ln w="28575" cap="rnd">
            <a:solidFill>
              <a:srgbClr val="178391"/>
            </a:solidFill>
            <a:tailEnd type="triangle" w="med" len="med"/>
          </a:ln>
        </p:spPr>
      </p:cxnSp>
      <p:cxnSp>
        <p:nvCxnSpPr>
          <p:cNvPr id="524" name="Arrow4"/>
          <p:cNvCxnSpPr/>
          <p:nvPr/>
        </p:nvCxnSpPr>
        <p:spPr>
          <a:xfrm>
            <a:off x="9326880" y="3383280"/>
            <a:ext cx="274320" cy="0"/>
          </a:xfrm>
          <a:prstGeom prst="straightConnector1">
            <a:avLst/>
          </a:prstGeom>
          <a:ln w="28575" cap="rnd">
            <a:solidFill>
              <a:srgbClr val="178391"/>
            </a:solidFill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25FFE-419B-D129-0CF2-0853472A5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A88507-FFFC-391F-E87F-E261394A5782}"/>
              </a:ext>
            </a:extLst>
          </p:cNvPr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3400" b="1" dirty="0">
                <a:solidFill>
                  <a:srgbClr val="1A1A2E"/>
                </a:solidFill>
                <a:latin typeface="Century Schoolbook"/>
              </a:rPr>
              <a:t>Business </a:t>
            </a:r>
            <a:r>
              <a:rPr lang="en-US" sz="3400" b="1">
                <a:solidFill>
                  <a:srgbClr val="1A1A2E"/>
                </a:solidFill>
                <a:latin typeface="Century Schoolbook"/>
              </a:rPr>
              <a:t>Flow</a:t>
            </a:r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032A2F-3273-8A1E-919F-6A7A94A134F2}"/>
              </a:ext>
            </a:extLst>
          </p:cNvPr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virtual audit team, told as a story — no AWS knowledge needed to follow it.</a:t>
            </a:r>
            <a:endParaRPr lang="en-US" sz="130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0A44F31-C0CE-F5ED-83D9-528DE4651FCF}"/>
              </a:ext>
            </a:extLst>
          </p:cNvPr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i="1">
                <a:solidFill>
                  <a:srgbClr val="17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weeks of manual review become minutes — with a human always approving anything risky.</a:t>
            </a:r>
            <a:endParaRPr lang="en-US" sz="115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2D2E6413-4F0E-7E9A-7BDC-175AEF27B802}"/>
              </a:ext>
            </a:extLst>
          </p:cNvPr>
          <p:cNvSpPr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1100" b="1" i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accenture</a:t>
            </a:r>
            <a:r>
              <a:rPr lang="en-US" sz="11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aws</a:t>
            </a:r>
            <a:endParaRPr lang="en-US" sz="110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0C47A169-C069-CC28-FFCA-E41BA721FF96}"/>
              </a:ext>
            </a:extLst>
          </p:cNvPr>
          <p:cNvSpPr/>
          <p:nvPr/>
        </p:nvSpPr>
        <p:spPr>
          <a:xfrm>
            <a:off x="7315200" y="6419088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95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35FC8C-873B-505D-789A-3115E9182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294" y="1219200"/>
            <a:ext cx="7556385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170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High-Level Architecture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system in a few moving parts — how a document becomes an approved audit.</a:t>
            </a:r>
            <a:endParaRPr lang="en-US" sz="1300"/>
          </a:p>
        </p:txBody>
      </p:sp>
      <p:sp>
        <p:nvSpPr>
          <p:cNvPr id="25" name="Text 19"/>
          <p:cNvSpPr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1100" b="1" i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accenture</a:t>
            </a:r>
            <a:r>
              <a:rPr lang="en-US" sz="11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aws</a:t>
            </a:r>
            <a:endParaRPr lang="en-US" sz="1100"/>
          </a:p>
        </p:txBody>
      </p:sp>
      <p:sp>
        <p:nvSpPr>
          <p:cNvPr id="26" name="Text 20"/>
          <p:cNvSpPr/>
          <p:nvPr/>
        </p:nvSpPr>
        <p:spPr>
          <a:xfrm>
            <a:off x="7315200" y="6419088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950"/>
          </a:p>
        </p:txBody>
      </p:sp>
      <p:sp>
        <p:nvSpPr>
          <p:cNvPr id="600" name="Users"/>
          <p:cNvSpPr/>
          <p:nvPr/>
        </p:nvSpPr>
        <p:spPr>
          <a:xfrm>
            <a:off x="640080" y="2240280"/>
            <a:ext cx="2468880" cy="960120"/>
          </a:xfrm>
          <a:prstGeom prst="roundRect">
            <a:avLst>
              <a:gd name="adj" fmla="val 9000"/>
            </a:avLst>
          </a:prstGeom>
          <a:solidFill>
            <a:srgbClr val="F0FAFB"/>
          </a:solidFill>
          <a:ln w="15875">
            <a:solidFill>
              <a:srgbClr val="178391"/>
            </a:solidFill>
          </a:ln>
        </p:spPr>
        <p:txBody>
          <a:bodyPr wrap="square" lIns="82296" tIns="36576" rIns="82296" bIns="36576" anchor="ctr"/>
          <a:lstStyle/>
          <a:p>
            <a:pPr algn="ctr"/>
            <a:r>
              <a:rPr lang="en-US" sz="1300" b="1">
                <a:solidFill>
                  <a:srgbClr val="1A1A2E"/>
                </a:solidFill>
              </a:rPr>
              <a:t>Users &amp; web</a:t>
            </a:r>
          </a:p>
          <a:p>
            <a:pPr algn="ctr"/>
            <a:r>
              <a:rPr lang="en-US" sz="900">
                <a:solidFill>
                  <a:srgbClr val="6B6B7B"/>
                </a:solidFill>
              </a:rPr>
              <a:t>CloudFront · Cognito · API GW</a:t>
            </a:r>
          </a:p>
        </p:txBody>
      </p:sp>
      <p:sp>
        <p:nvSpPr>
          <p:cNvPr id="601" name="Ingest"/>
          <p:cNvSpPr/>
          <p:nvPr/>
        </p:nvSpPr>
        <p:spPr>
          <a:xfrm>
            <a:off x="640080" y="3429000"/>
            <a:ext cx="2468880" cy="960120"/>
          </a:xfrm>
          <a:prstGeom prst="roundRect">
            <a:avLst>
              <a:gd name="adj" fmla="val 9000"/>
            </a:avLst>
          </a:prstGeom>
          <a:solidFill>
            <a:srgbClr val="F0FAFB"/>
          </a:solidFill>
          <a:ln w="15875">
            <a:solidFill>
              <a:srgbClr val="178391"/>
            </a:solidFill>
          </a:ln>
        </p:spPr>
        <p:txBody>
          <a:bodyPr wrap="square" lIns="82296" tIns="36576" rIns="82296" bIns="36576" anchor="ctr"/>
          <a:lstStyle/>
          <a:p>
            <a:pPr algn="ctr"/>
            <a:r>
              <a:rPr lang="en-US" sz="1300" b="1">
                <a:solidFill>
                  <a:srgbClr val="1A1A2E"/>
                </a:solidFill>
              </a:rPr>
              <a:t>Ingestion</a:t>
            </a:r>
          </a:p>
          <a:p>
            <a:pPr algn="ctr"/>
            <a:r>
              <a:rPr lang="en-US" sz="900">
                <a:solidFill>
                  <a:srgbClr val="6B6B7B"/>
                </a:solidFill>
              </a:rPr>
              <a:t>Amazon S3 · Textract OCR</a:t>
            </a:r>
          </a:p>
        </p:txBody>
      </p:sp>
      <p:sp>
        <p:nvSpPr>
          <p:cNvPr id="602" name="AgentCore"/>
          <p:cNvSpPr/>
          <p:nvPr/>
        </p:nvSpPr>
        <p:spPr>
          <a:xfrm>
            <a:off x="3429000" y="2240280"/>
            <a:ext cx="4617720" cy="2148840"/>
          </a:xfrm>
          <a:prstGeom prst="roundRect">
            <a:avLst>
              <a:gd name="adj" fmla="val 6000"/>
            </a:avLst>
          </a:prstGeom>
          <a:solidFill>
            <a:srgbClr val="F3E9FB"/>
          </a:solidFill>
          <a:ln w="15875">
            <a:solidFill>
              <a:srgbClr val="6A1B9A"/>
            </a:solidFill>
          </a:ln>
        </p:spPr>
        <p:txBody>
          <a:bodyPr wrap="square" lIns="82296" tIns="109728" rIns="82296" bIns="36576" anchor="t"/>
          <a:lstStyle/>
          <a:p>
            <a:pPr algn="ctr"/>
            <a:r>
              <a:rPr lang="en-US" sz="1500" b="1">
                <a:solidFill>
                  <a:srgbClr val="6A1B9A"/>
                </a:solidFill>
              </a:rPr>
              <a:t>Amazon Bedrock AgentCore</a:t>
            </a:r>
          </a:p>
        </p:txBody>
      </p:sp>
      <p:sp>
        <p:nvSpPr>
          <p:cNvPr id="603" name="Supervisor"/>
          <p:cNvSpPr/>
          <p:nvPr/>
        </p:nvSpPr>
        <p:spPr>
          <a:xfrm>
            <a:off x="3639312" y="2834640"/>
            <a:ext cx="4197096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A1B9A"/>
            </a:solidFill>
          </a:ln>
        </p:spPr>
        <p:txBody>
          <a:bodyPr wrap="square" lIns="82296" tIns="36576" rIns="82296" bIns="36576" anchor="ctr"/>
          <a:lstStyle/>
          <a:p>
            <a:pPr algn="ctr"/>
            <a:r>
              <a:rPr lang="en-US" sz="1050" b="1">
                <a:solidFill>
                  <a:srgbClr val="6A1B9A"/>
                </a:solidFill>
              </a:rPr>
              <a:t>Supervisor agent · routes &amp; reconciles</a:t>
            </a:r>
          </a:p>
        </p:txBody>
      </p:sp>
      <p:sp>
        <p:nvSpPr>
          <p:cNvPr id="604" name="Agents"/>
          <p:cNvSpPr/>
          <p:nvPr/>
        </p:nvSpPr>
        <p:spPr>
          <a:xfrm>
            <a:off x="3639312" y="3429000"/>
            <a:ext cx="4197096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78391"/>
            </a:solidFill>
          </a:ln>
        </p:spPr>
        <p:txBody>
          <a:bodyPr wrap="square" lIns="82296" tIns="36576" rIns="82296" bIns="36576" anchor="ctr"/>
          <a:lstStyle/>
          <a:p>
            <a:pPr algn="ctr"/>
            <a:r>
              <a:rPr lang="en-US" sz="1050" b="1">
                <a:solidFill>
                  <a:srgbClr val="1A1A2E"/>
                </a:solidFill>
              </a:rPr>
              <a:t>P&amp;L · Balance · Receipt · Reconciliation</a:t>
            </a:r>
          </a:p>
          <a:p>
            <a:pPr algn="ctr"/>
            <a:r>
              <a:rPr lang="en-US" sz="800">
                <a:solidFill>
                  <a:srgbClr val="6B6B7B"/>
                </a:solidFill>
              </a:rPr>
              <a:t>4 specialist agents</a:t>
            </a:r>
          </a:p>
        </p:txBody>
      </p:sp>
      <p:sp>
        <p:nvSpPr>
          <p:cNvPr id="605" name="Tools"/>
          <p:cNvSpPr/>
          <p:nvPr/>
        </p:nvSpPr>
        <p:spPr>
          <a:xfrm>
            <a:off x="3639312" y="4041648"/>
            <a:ext cx="419709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/>
          <a:lstStyle/>
          <a:p>
            <a:pPr algn="ctr"/>
            <a:r>
              <a:rPr lang="en-US" sz="850" b="0">
                <a:solidFill>
                  <a:srgbClr val="6B6B7B"/>
                </a:solidFill>
              </a:rPr>
              <a:t>AWS tools: Athena · Lambda · DynamoDB</a:t>
            </a:r>
          </a:p>
        </p:txBody>
      </p:sp>
      <p:sp>
        <p:nvSpPr>
          <p:cNvPr id="606" name="HITL"/>
          <p:cNvSpPr/>
          <p:nvPr/>
        </p:nvSpPr>
        <p:spPr>
          <a:xfrm>
            <a:off x="8366760" y="2240280"/>
            <a:ext cx="3154680" cy="960120"/>
          </a:xfrm>
          <a:prstGeom prst="roundRect">
            <a:avLst>
              <a:gd name="adj" fmla="val 9000"/>
            </a:avLst>
          </a:prstGeom>
          <a:solidFill>
            <a:srgbClr val="F0FAFB"/>
          </a:solidFill>
          <a:ln w="15875">
            <a:solidFill>
              <a:srgbClr val="178391"/>
            </a:solidFill>
          </a:ln>
        </p:spPr>
        <p:txBody>
          <a:bodyPr wrap="square" lIns="82296" tIns="36576" rIns="82296" bIns="36576" anchor="ctr"/>
          <a:lstStyle/>
          <a:p>
            <a:pPr algn="ctr"/>
            <a:r>
              <a:rPr lang="en-US" sz="1250" b="1">
                <a:solidFill>
                  <a:srgbClr val="1A1A2E"/>
                </a:solidFill>
              </a:rPr>
              <a:t>Human-in-the-loop &amp; output</a:t>
            </a:r>
          </a:p>
          <a:p>
            <a:pPr algn="ctr"/>
            <a:r>
              <a:rPr lang="en-US" sz="850">
                <a:solidFill>
                  <a:srgbClr val="6B6B7B"/>
                </a:solidFill>
              </a:rPr>
              <a:t>Step Functions · SNS/Slack · QuickSight</a:t>
            </a:r>
          </a:p>
        </p:txBody>
      </p:sp>
      <p:sp>
        <p:nvSpPr>
          <p:cNvPr id="607" name="MCP"/>
          <p:cNvSpPr/>
          <p:nvPr/>
        </p:nvSpPr>
        <p:spPr>
          <a:xfrm>
            <a:off x="8366760" y="3429000"/>
            <a:ext cx="3154680" cy="960120"/>
          </a:xfrm>
          <a:prstGeom prst="roundRect">
            <a:avLst>
              <a:gd name="adj" fmla="val 9000"/>
            </a:avLst>
          </a:prstGeom>
          <a:solidFill>
            <a:srgbClr val="FDF0E9"/>
          </a:solidFill>
          <a:ln w="15875">
            <a:solidFill>
              <a:srgbClr val="C0501F"/>
            </a:solidFill>
          </a:ln>
        </p:spPr>
        <p:txBody>
          <a:bodyPr wrap="square" lIns="82296" tIns="36576" rIns="82296" bIns="36576" anchor="ctr"/>
          <a:lstStyle/>
          <a:p>
            <a:pPr algn="ctr"/>
            <a:r>
              <a:rPr lang="en-US" sz="1250" b="1">
                <a:solidFill>
                  <a:srgbClr val="8A3A16"/>
                </a:solidFill>
              </a:rPr>
              <a:t>External MCP · via Gateway</a:t>
            </a:r>
          </a:p>
          <a:p>
            <a:pPr algn="ctr"/>
            <a:r>
              <a:rPr lang="en-US" sz="850">
                <a:solidFill>
                  <a:srgbClr val="6B6B7B"/>
                </a:solidFill>
              </a:rPr>
              <a:t>QuickBooks · SAP · SEC EDGAR · Slack</a:t>
            </a:r>
          </a:p>
        </p:txBody>
      </p:sp>
      <p:sp>
        <p:nvSpPr>
          <p:cNvPr id="608" name="Security"/>
          <p:cNvSpPr/>
          <p:nvPr/>
        </p:nvSpPr>
        <p:spPr>
          <a:xfrm>
            <a:off x="640080" y="4892040"/>
            <a:ext cx="10881360" cy="731520"/>
          </a:xfrm>
          <a:prstGeom prst="roundRect">
            <a:avLst>
              <a:gd name="adj" fmla="val 5000"/>
            </a:avLst>
          </a:prstGeom>
          <a:solidFill>
            <a:srgbClr val="F2F2F5"/>
          </a:solidFill>
          <a:ln w="12700">
            <a:solidFill>
              <a:srgbClr val="6B6B7B"/>
            </a:solidFill>
          </a:ln>
        </p:spPr>
        <p:txBody>
          <a:bodyPr wrap="square" lIns="82296" tIns="36576" rIns="82296" bIns="36576" anchor="ctr"/>
          <a:lstStyle/>
          <a:p>
            <a:pPr algn="ctr"/>
            <a:r>
              <a:rPr lang="en-US" sz="1200" b="1">
                <a:solidFill>
                  <a:srgbClr val="1A1A2E"/>
                </a:solidFill>
              </a:rPr>
              <a:t>Security (cross-cutting): Secrets Manager · IAM least-privilege · no hardcoded credentials</a:t>
            </a:r>
          </a:p>
        </p:txBody>
      </p:sp>
      <p:cxnSp>
        <p:nvCxnSpPr>
          <p:cNvPr id="609" name="a1"/>
          <p:cNvCxnSpPr/>
          <p:nvPr/>
        </p:nvCxnSpPr>
        <p:spPr>
          <a:xfrm>
            <a:off x="1874520" y="3200400"/>
            <a:ext cx="0" cy="228600"/>
          </a:xfrm>
          <a:prstGeom prst="straightConnector1">
            <a:avLst/>
          </a:prstGeom>
          <a:ln w="28575" cap="rnd">
            <a:solidFill>
              <a:srgbClr val="178391"/>
            </a:solidFill>
            <a:tailEnd type="triangle" w="med" len="med"/>
          </a:ln>
        </p:spPr>
      </p:cxnSp>
      <p:cxnSp>
        <p:nvCxnSpPr>
          <p:cNvPr id="610" name="a2"/>
          <p:cNvCxnSpPr/>
          <p:nvPr/>
        </p:nvCxnSpPr>
        <p:spPr>
          <a:xfrm>
            <a:off x="3108960" y="3909060"/>
            <a:ext cx="320040" cy="0"/>
          </a:xfrm>
          <a:prstGeom prst="straightConnector1">
            <a:avLst/>
          </a:prstGeom>
          <a:ln w="28575" cap="rnd">
            <a:solidFill>
              <a:srgbClr val="178391"/>
            </a:solidFill>
            <a:tailEnd type="triangle" w="med" len="med"/>
          </a:ln>
        </p:spPr>
      </p:cxnSp>
      <p:cxnSp>
        <p:nvCxnSpPr>
          <p:cNvPr id="611" name="a3"/>
          <p:cNvCxnSpPr/>
          <p:nvPr/>
        </p:nvCxnSpPr>
        <p:spPr>
          <a:xfrm>
            <a:off x="8046720" y="2720340"/>
            <a:ext cx="320040" cy="0"/>
          </a:xfrm>
          <a:prstGeom prst="straightConnector1">
            <a:avLst/>
          </a:prstGeom>
          <a:ln w="28575" cap="rnd">
            <a:solidFill>
              <a:srgbClr val="178391"/>
            </a:solidFill>
            <a:tailEnd type="triangle" w="med" len="med"/>
          </a:ln>
        </p:spPr>
      </p:cxnSp>
      <p:cxnSp>
        <p:nvCxnSpPr>
          <p:cNvPr id="612" name="a4"/>
          <p:cNvCxnSpPr/>
          <p:nvPr/>
        </p:nvCxnSpPr>
        <p:spPr>
          <a:xfrm>
            <a:off x="8046720" y="3909060"/>
            <a:ext cx="320040" cy="0"/>
          </a:xfrm>
          <a:prstGeom prst="straightConnector1">
            <a:avLst/>
          </a:prstGeom>
          <a:ln w="28575" cap="rnd">
            <a:solidFill>
              <a:srgbClr val="178391"/>
            </a:solidFill>
            <a:headEnd type="triangl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System Architecture</a:t>
            </a:r>
            <a:endParaRPr lang="en-US" sz="300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9326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 services orchestrated by Amazon Bedrock AgentCore; external systems of record connect through MCP.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371600" cy="25603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/>
          </a:p>
        </p:txBody>
      </p:sp>
      <p:pic>
        <p:nvPicPr>
          <p:cNvPr id="6" name="Image 0" descr="assets/p_person_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373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" y="2304288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Analyst</a:t>
            </a:r>
            <a:endParaRPr lang="en-US" sz="850"/>
          </a:p>
        </p:txBody>
      </p:sp>
      <p:pic>
        <p:nvPicPr>
          <p:cNvPr id="8" name="Image 1" descr="assets/p_person_mg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788920"/>
            <a:ext cx="548640" cy="548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4048" y="3355848"/>
            <a:ext cx="1335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/ Manager</a:t>
            </a:r>
            <a:endParaRPr lang="en-US" sz="850"/>
          </a:p>
        </p:txBody>
      </p:sp>
      <p:pic>
        <p:nvPicPr>
          <p:cNvPr id="10" name="Image 2" descr="assets/p_lap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0" y="1389888"/>
            <a:ext cx="786384" cy="6400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83080" y="2066544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FinSightOps Web Portal</a:t>
            </a:r>
            <a:endParaRPr lang="en-US" sz="850"/>
          </a:p>
        </p:txBody>
      </p:sp>
      <p:sp>
        <p:nvSpPr>
          <p:cNvPr id="12" name="Shape 7"/>
          <p:cNvSpPr/>
          <p:nvPr/>
        </p:nvSpPr>
        <p:spPr>
          <a:xfrm>
            <a:off x="3886200" y="1170432"/>
            <a:ext cx="6903720" cy="4937760"/>
          </a:xfrm>
          <a:prstGeom prst="rect">
            <a:avLst/>
          </a:prstGeom>
          <a:solidFill>
            <a:srgbClr val="FCFCFE"/>
          </a:solidFill>
          <a:ln w="1587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3995928" y="122529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/>
          </a:p>
        </p:txBody>
      </p:sp>
      <p:sp>
        <p:nvSpPr>
          <p:cNvPr id="14" name="Shape 9"/>
          <p:cNvSpPr/>
          <p:nvPr/>
        </p:nvSpPr>
        <p:spPr>
          <a:xfrm>
            <a:off x="5175504" y="1170432"/>
            <a:ext cx="1078992" cy="2651760"/>
          </a:xfrm>
          <a:prstGeom prst="rect">
            <a:avLst/>
          </a:prstGeom>
          <a:ln w="12700">
            <a:solidFill>
              <a:srgbClr val="9AA3B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5212080" y="11978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7A8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800"/>
          </a:p>
        </p:txBody>
      </p:sp>
      <p:pic>
        <p:nvPicPr>
          <p:cNvPr id="16" name="Image 3" descr="assets/t_amplif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4256" y="1417320"/>
            <a:ext cx="566928" cy="5669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931920" y="19933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Amplify</a:t>
            </a:r>
            <a:endParaRPr lang="en-US" sz="800"/>
          </a:p>
        </p:txBody>
      </p:sp>
      <p:pic>
        <p:nvPicPr>
          <p:cNvPr id="18" name="Image 4" descr="assets/t_cloudfro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1536" y="1417320"/>
            <a:ext cx="566928" cy="5669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29200" y="19933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CloudFront</a:t>
            </a:r>
            <a:endParaRPr lang="en-US" sz="800"/>
          </a:p>
        </p:txBody>
      </p:sp>
      <p:pic>
        <p:nvPicPr>
          <p:cNvPr id="20" name="Image 5" descr="assets/t_apig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536" y="1417320"/>
            <a:ext cx="566928" cy="56692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72200" y="19933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800"/>
          </a:p>
        </p:txBody>
      </p:sp>
      <p:pic>
        <p:nvPicPr>
          <p:cNvPr id="22" name="Image 6" descr="assets/t_agentco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7536" y="1417320"/>
            <a:ext cx="566928" cy="56692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315200" y="19933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</a:t>
            </a:r>
            <a:endParaRPr lang="en-US" sz="800"/>
          </a:p>
        </p:txBody>
      </p:sp>
      <p:pic>
        <p:nvPicPr>
          <p:cNvPr id="24" name="Image 7" descr="assets/t_claud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60536" y="1417320"/>
            <a:ext cx="566928" cy="56692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8458200" y="19933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(Claude)</a:t>
            </a:r>
            <a:endParaRPr lang="en-US" sz="800"/>
          </a:p>
        </p:txBody>
      </p:sp>
      <p:pic>
        <p:nvPicPr>
          <p:cNvPr id="26" name="Image 8" descr="assets/t_rekogniti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12096" y="1417320"/>
            <a:ext cx="566928" cy="566928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509760" y="199339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Rekognition</a:t>
            </a:r>
            <a:endParaRPr lang="en-US" sz="800"/>
          </a:p>
        </p:txBody>
      </p:sp>
      <p:pic>
        <p:nvPicPr>
          <p:cNvPr id="28" name="Image 9" descr="assets/t_cognit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4256" y="2971800"/>
            <a:ext cx="566928" cy="566928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3931920" y="35478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</a:t>
            </a:r>
            <a:endParaRPr lang="en-US" sz="800"/>
          </a:p>
        </p:txBody>
      </p:sp>
      <p:pic>
        <p:nvPicPr>
          <p:cNvPr id="30" name="Image 10" descr="assets/t_route5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31536" y="2971800"/>
            <a:ext cx="566928" cy="566928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029200" y="35478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Route 53</a:t>
            </a:r>
            <a:endParaRPr lang="en-US" sz="800"/>
          </a:p>
        </p:txBody>
      </p:sp>
      <p:pic>
        <p:nvPicPr>
          <p:cNvPr id="32" name="Image 11" descr="assets/t_textrac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4536" y="2971800"/>
            <a:ext cx="566928" cy="566928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172200" y="35478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Textract</a:t>
            </a:r>
            <a:endParaRPr lang="en-US" sz="800"/>
          </a:p>
        </p:txBody>
      </p:sp>
      <p:pic>
        <p:nvPicPr>
          <p:cNvPr id="34" name="Image 12" descr="assets/t_lambd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17536" y="2971800"/>
            <a:ext cx="566928" cy="566928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7315200" y="35478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800"/>
          </a:p>
        </p:txBody>
      </p:sp>
      <p:pic>
        <p:nvPicPr>
          <p:cNvPr id="36" name="Image 13" descr="assets/t_s3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860536" y="2971800"/>
            <a:ext cx="566928" cy="566928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8458200" y="35478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800"/>
          </a:p>
        </p:txBody>
      </p:sp>
      <p:pic>
        <p:nvPicPr>
          <p:cNvPr id="38" name="Image 14" descr="assets/t_frau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12096" y="2971800"/>
            <a:ext cx="566928" cy="566928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9509760" y="354787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Detector</a:t>
            </a:r>
            <a:endParaRPr lang="en-US" sz="800"/>
          </a:p>
        </p:txBody>
      </p:sp>
      <p:pic>
        <p:nvPicPr>
          <p:cNvPr id="40" name="Image 15" descr="assets/t_secrets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34256" y="4526280"/>
            <a:ext cx="566928" cy="566928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3931920" y="510235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00"/>
          </a:p>
        </p:txBody>
      </p:sp>
      <p:pic>
        <p:nvPicPr>
          <p:cNvPr id="42" name="Image 16" descr="assets/t_dynamodb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31536" y="4526280"/>
            <a:ext cx="566928" cy="566928"/>
          </a:xfrm>
          <a:prstGeom prst="rect">
            <a:avLst/>
          </a:prstGeom>
        </p:spPr>
      </p:pic>
      <p:sp>
        <p:nvSpPr>
          <p:cNvPr id="43" name="Text 24"/>
          <p:cNvSpPr/>
          <p:nvPr/>
        </p:nvSpPr>
        <p:spPr>
          <a:xfrm>
            <a:off x="5029200" y="510235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800"/>
          </a:p>
        </p:txBody>
      </p:sp>
      <p:pic>
        <p:nvPicPr>
          <p:cNvPr id="44" name="Image 17" descr="assets/t_athena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74536" y="4526280"/>
            <a:ext cx="566928" cy="566928"/>
          </a:xfrm>
          <a:prstGeom prst="rect">
            <a:avLst/>
          </a:prstGeom>
        </p:spPr>
      </p:pic>
      <p:sp>
        <p:nvSpPr>
          <p:cNvPr id="45" name="Text 25"/>
          <p:cNvSpPr/>
          <p:nvPr/>
        </p:nvSpPr>
        <p:spPr>
          <a:xfrm>
            <a:off x="6172200" y="510235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800"/>
          </a:p>
        </p:txBody>
      </p:sp>
      <p:pic>
        <p:nvPicPr>
          <p:cNvPr id="46" name="Image 18" descr="assets/t_quicksigh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17536" y="4526280"/>
            <a:ext cx="566928" cy="566928"/>
          </a:xfrm>
          <a:prstGeom prst="rect">
            <a:avLst/>
          </a:prstGeom>
        </p:spPr>
      </p:pic>
      <p:sp>
        <p:nvSpPr>
          <p:cNvPr id="47" name="Text 26"/>
          <p:cNvSpPr/>
          <p:nvPr/>
        </p:nvSpPr>
        <p:spPr>
          <a:xfrm>
            <a:off x="7315200" y="510235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QuickSight</a:t>
            </a:r>
            <a:endParaRPr lang="en-US" sz="800"/>
          </a:p>
        </p:txBody>
      </p:sp>
      <p:pic>
        <p:nvPicPr>
          <p:cNvPr id="48" name="Image 19" descr="assets/t_stepfns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60536" y="4526280"/>
            <a:ext cx="566928" cy="566928"/>
          </a:xfrm>
          <a:prstGeom prst="rect">
            <a:avLst/>
          </a:prstGeom>
        </p:spPr>
      </p:pic>
      <p:sp>
        <p:nvSpPr>
          <p:cNvPr id="49" name="Text 27"/>
          <p:cNvSpPr/>
          <p:nvPr/>
        </p:nvSpPr>
        <p:spPr>
          <a:xfrm>
            <a:off x="8458200" y="510235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</a:t>
            </a:r>
            <a:endParaRPr lang="en-US" sz="800"/>
          </a:p>
        </p:txBody>
      </p:sp>
      <p:pic>
        <p:nvPicPr>
          <p:cNvPr id="50" name="Image 20" descr="assets/t_sns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912096" y="4526280"/>
            <a:ext cx="566928" cy="566928"/>
          </a:xfrm>
          <a:prstGeom prst="rect">
            <a:avLst/>
          </a:prstGeom>
        </p:spPr>
      </p:pic>
      <p:sp>
        <p:nvSpPr>
          <p:cNvPr id="51" name="Text 28"/>
          <p:cNvSpPr/>
          <p:nvPr/>
        </p:nvSpPr>
        <p:spPr>
          <a:xfrm>
            <a:off x="9509760" y="5102352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8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SNS</a:t>
            </a:r>
            <a:endParaRPr lang="en-US" sz="800"/>
          </a:p>
        </p:txBody>
      </p:sp>
      <p:sp>
        <p:nvSpPr>
          <p:cNvPr id="52" name="Text 29"/>
          <p:cNvSpPr/>
          <p:nvPr/>
        </p:nvSpPr>
        <p:spPr>
          <a:xfrm>
            <a:off x="10835640" y="932688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00" b="1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MCP</a:t>
            </a:r>
            <a:endParaRPr lang="en-US" sz="900"/>
          </a:p>
        </p:txBody>
      </p:sp>
      <p:pic>
        <p:nvPicPr>
          <p:cNvPr id="53" name="Image 21" descr="assets/t_quickbooks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224260" y="1417320"/>
            <a:ext cx="502920" cy="502920"/>
          </a:xfrm>
          <a:prstGeom prst="rect">
            <a:avLst/>
          </a:prstGeom>
        </p:spPr>
      </p:pic>
      <p:sp>
        <p:nvSpPr>
          <p:cNvPr id="54" name="Text 30"/>
          <p:cNvSpPr/>
          <p:nvPr/>
        </p:nvSpPr>
        <p:spPr>
          <a:xfrm>
            <a:off x="10762488" y="1920240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/ Xero</a:t>
            </a:r>
            <a:endParaRPr lang="en-US" sz="750"/>
          </a:p>
        </p:txBody>
      </p:sp>
      <p:pic>
        <p:nvPicPr>
          <p:cNvPr id="55" name="Image 22" descr="assets/t_sap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1224260" y="2395728"/>
            <a:ext cx="502920" cy="502920"/>
          </a:xfrm>
          <a:prstGeom prst="rect">
            <a:avLst/>
          </a:prstGeom>
        </p:spPr>
      </p:pic>
      <p:sp>
        <p:nvSpPr>
          <p:cNvPr id="56" name="Text 31"/>
          <p:cNvSpPr/>
          <p:nvPr/>
        </p:nvSpPr>
        <p:spPr>
          <a:xfrm>
            <a:off x="10762488" y="2898648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/ ERP</a:t>
            </a:r>
            <a:endParaRPr lang="en-US" sz="750"/>
          </a:p>
        </p:txBody>
      </p:sp>
      <p:pic>
        <p:nvPicPr>
          <p:cNvPr id="57" name="Image 23" descr="assets/t_sec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224260" y="3374136"/>
            <a:ext cx="502920" cy="502920"/>
          </a:xfrm>
          <a:prstGeom prst="rect">
            <a:avLst/>
          </a:prstGeom>
        </p:spPr>
      </p:pic>
      <p:sp>
        <p:nvSpPr>
          <p:cNvPr id="58" name="Text 32"/>
          <p:cNvSpPr/>
          <p:nvPr/>
        </p:nvSpPr>
        <p:spPr>
          <a:xfrm>
            <a:off x="10762488" y="3877056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/ Tax Reg</a:t>
            </a:r>
            <a:endParaRPr lang="en-US" sz="750"/>
          </a:p>
        </p:txBody>
      </p:sp>
      <p:pic>
        <p:nvPicPr>
          <p:cNvPr id="59" name="Image 24" descr="assets/t_slack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224260" y="4352544"/>
            <a:ext cx="502920" cy="502920"/>
          </a:xfrm>
          <a:prstGeom prst="rect">
            <a:avLst/>
          </a:prstGeom>
        </p:spPr>
      </p:pic>
      <p:sp>
        <p:nvSpPr>
          <p:cNvPr id="60" name="Text 33"/>
          <p:cNvSpPr/>
          <p:nvPr/>
        </p:nvSpPr>
        <p:spPr>
          <a:xfrm>
            <a:off x="10762488" y="4855464"/>
            <a:ext cx="14264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566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</a:t>
            </a:r>
            <a:endParaRPr lang="en-US" sz="750"/>
          </a:p>
        </p:txBody>
      </p:sp>
      <p:sp>
        <p:nvSpPr>
          <p:cNvPr id="61" name="Shape 34"/>
          <p:cNvSpPr/>
          <p:nvPr/>
        </p:nvSpPr>
        <p:spPr>
          <a:xfrm>
            <a:off x="1737360" y="1709928"/>
            <a:ext cx="347472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35"/>
          <p:cNvSpPr/>
          <p:nvPr/>
        </p:nvSpPr>
        <p:spPr>
          <a:xfrm>
            <a:off x="2907792" y="1709928"/>
            <a:ext cx="1426464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36"/>
          <p:cNvSpPr/>
          <p:nvPr/>
        </p:nvSpPr>
        <p:spPr>
          <a:xfrm>
            <a:off x="4617720" y="1984248"/>
            <a:ext cx="0" cy="987552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37"/>
          <p:cNvSpPr/>
          <p:nvPr/>
        </p:nvSpPr>
        <p:spPr>
          <a:xfrm>
            <a:off x="4901184" y="1700784"/>
            <a:ext cx="493776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38"/>
          <p:cNvSpPr/>
          <p:nvPr/>
        </p:nvSpPr>
        <p:spPr>
          <a:xfrm>
            <a:off x="5715000" y="1984248"/>
            <a:ext cx="0" cy="987552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39"/>
          <p:cNvSpPr/>
          <p:nvPr/>
        </p:nvSpPr>
        <p:spPr>
          <a:xfrm>
            <a:off x="6035040" y="1700784"/>
            <a:ext cx="539496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40"/>
          <p:cNvSpPr/>
          <p:nvPr/>
        </p:nvSpPr>
        <p:spPr>
          <a:xfrm>
            <a:off x="7141464" y="1700784"/>
            <a:ext cx="576072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41"/>
          <p:cNvSpPr/>
          <p:nvPr/>
        </p:nvSpPr>
        <p:spPr>
          <a:xfrm>
            <a:off x="8284464" y="1700784"/>
            <a:ext cx="576072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42"/>
          <p:cNvSpPr/>
          <p:nvPr/>
        </p:nvSpPr>
        <p:spPr>
          <a:xfrm>
            <a:off x="8001000" y="1984248"/>
            <a:ext cx="0" cy="987552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43"/>
          <p:cNvSpPr/>
          <p:nvPr/>
        </p:nvSpPr>
        <p:spPr>
          <a:xfrm>
            <a:off x="7717536" y="3255264"/>
            <a:ext cx="0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44"/>
          <p:cNvSpPr/>
          <p:nvPr/>
        </p:nvSpPr>
        <p:spPr>
          <a:xfrm>
            <a:off x="8284464" y="3255264"/>
            <a:ext cx="576072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45"/>
          <p:cNvSpPr/>
          <p:nvPr/>
        </p:nvSpPr>
        <p:spPr>
          <a:xfrm>
            <a:off x="9427464" y="3255264"/>
            <a:ext cx="484632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46"/>
          <p:cNvSpPr/>
          <p:nvPr/>
        </p:nvSpPr>
        <p:spPr>
          <a:xfrm>
            <a:off x="9400032" y="2971800"/>
            <a:ext cx="566928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47"/>
          <p:cNvSpPr/>
          <p:nvPr/>
        </p:nvSpPr>
        <p:spPr>
          <a:xfrm>
            <a:off x="10195560" y="1984248"/>
            <a:ext cx="0" cy="987552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48"/>
          <p:cNvSpPr/>
          <p:nvPr/>
        </p:nvSpPr>
        <p:spPr>
          <a:xfrm>
            <a:off x="7863840" y="3538728"/>
            <a:ext cx="0" cy="987552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49"/>
          <p:cNvSpPr/>
          <p:nvPr/>
        </p:nvSpPr>
        <p:spPr>
          <a:xfrm>
            <a:off x="5998464" y="4809744"/>
            <a:ext cx="576072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50"/>
          <p:cNvSpPr/>
          <p:nvPr/>
        </p:nvSpPr>
        <p:spPr>
          <a:xfrm>
            <a:off x="9052560" y="3538728"/>
            <a:ext cx="0" cy="987552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51"/>
          <p:cNvSpPr/>
          <p:nvPr/>
        </p:nvSpPr>
        <p:spPr>
          <a:xfrm>
            <a:off x="7141464" y="4809744"/>
            <a:ext cx="576072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52"/>
          <p:cNvSpPr/>
          <p:nvPr/>
        </p:nvSpPr>
        <p:spPr>
          <a:xfrm>
            <a:off x="8092440" y="3538728"/>
            <a:ext cx="1005840" cy="987552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53"/>
          <p:cNvSpPr/>
          <p:nvPr/>
        </p:nvSpPr>
        <p:spPr>
          <a:xfrm>
            <a:off x="9427464" y="4809744"/>
            <a:ext cx="484632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54"/>
          <p:cNvSpPr/>
          <p:nvPr/>
        </p:nvSpPr>
        <p:spPr>
          <a:xfrm>
            <a:off x="4617720" y="3538728"/>
            <a:ext cx="0" cy="987552"/>
          </a:xfrm>
          <a:prstGeom prst="line">
            <a:avLst/>
          </a:prstGeom>
          <a:noFill/>
          <a:ln w="17780">
            <a:solidFill>
              <a:srgbClr val="B0728F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55"/>
          <p:cNvSpPr/>
          <p:nvPr/>
        </p:nvSpPr>
        <p:spPr>
          <a:xfrm>
            <a:off x="11224260" y="2542032"/>
            <a:ext cx="0" cy="0"/>
          </a:xfrm>
          <a:prstGeom prst="line">
            <a:avLst/>
          </a:prstGeom>
          <a:noFill/>
          <a:ln w="17780">
            <a:solidFill>
              <a:srgbClr val="8C4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56"/>
          <p:cNvSpPr/>
          <p:nvPr/>
        </p:nvSpPr>
        <p:spPr>
          <a:xfrm>
            <a:off x="8001000" y="2542032"/>
            <a:ext cx="0" cy="0"/>
          </a:xfrm>
          <a:prstGeom prst="line">
            <a:avLst/>
          </a:prstGeom>
          <a:noFill/>
          <a:ln w="17780">
            <a:solidFill>
              <a:srgbClr val="8C4FFF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57"/>
          <p:cNvSpPr/>
          <p:nvPr/>
        </p:nvSpPr>
        <p:spPr>
          <a:xfrm>
            <a:off x="8366760" y="2286000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8C4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AgentCore Gateway</a:t>
            </a:r>
            <a:endParaRPr lang="en-US" sz="800"/>
          </a:p>
        </p:txBody>
      </p:sp>
      <p:sp>
        <p:nvSpPr>
          <p:cNvPr id="85" name="Shape 58"/>
          <p:cNvSpPr/>
          <p:nvPr/>
        </p:nvSpPr>
        <p:spPr>
          <a:xfrm>
            <a:off x="8001000" y="5093208"/>
            <a:ext cx="0" cy="713232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59"/>
          <p:cNvSpPr/>
          <p:nvPr/>
        </p:nvSpPr>
        <p:spPr>
          <a:xfrm>
            <a:off x="8001000" y="5806440"/>
            <a:ext cx="0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60"/>
          <p:cNvSpPr/>
          <p:nvPr/>
        </p:nvSpPr>
        <p:spPr>
          <a:xfrm>
            <a:off x="1051560" y="5806440"/>
            <a:ext cx="0" cy="0"/>
          </a:xfrm>
          <a:prstGeom prst="line">
            <a:avLst/>
          </a:prstGeom>
          <a:noFill/>
          <a:ln w="17780">
            <a:solidFill>
              <a:srgbClr val="68758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61"/>
          <p:cNvSpPr/>
          <p:nvPr/>
        </p:nvSpPr>
        <p:spPr>
          <a:xfrm>
            <a:off x="2926080" y="55961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>
                <a:solidFill>
                  <a:srgbClr val="687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alerts</a:t>
            </a:r>
            <a:endParaRPr lang="en-US" sz="800"/>
          </a:p>
        </p:txBody>
      </p:sp>
      <p:sp>
        <p:nvSpPr>
          <p:cNvPr id="89" name="Text 62"/>
          <p:cNvSpPr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1100" b="1" i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accenture</a:t>
            </a:r>
            <a:r>
              <a:rPr lang="en-US" sz="11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aws</a:t>
            </a:r>
            <a:endParaRPr lang="en-US" sz="1100"/>
          </a:p>
        </p:txBody>
      </p:sp>
      <p:sp>
        <p:nvSpPr>
          <p:cNvPr id="90" name="Text 63"/>
          <p:cNvSpPr/>
          <p:nvPr/>
        </p:nvSpPr>
        <p:spPr>
          <a:xfrm>
            <a:off x="7315200" y="6419088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9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Sequence — A Single Audit Run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calls whom, in order — from upload to a human-approved report.</a:t>
            </a:r>
            <a:endParaRPr lang="en-US" sz="1300"/>
          </a:p>
        </p:txBody>
      </p:sp>
      <p:sp>
        <p:nvSpPr>
          <p:cNvPr id="25" name="Text 19"/>
          <p:cNvSpPr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1100" b="1" i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accenture</a:t>
            </a:r>
            <a:r>
              <a:rPr lang="en-US" sz="11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aws</a:t>
            </a:r>
            <a:endParaRPr lang="en-US" sz="1100"/>
          </a:p>
        </p:txBody>
      </p:sp>
      <p:sp>
        <p:nvSpPr>
          <p:cNvPr id="26" name="Text 20"/>
          <p:cNvSpPr/>
          <p:nvPr/>
        </p:nvSpPr>
        <p:spPr>
          <a:xfrm>
            <a:off x="7315200" y="6419088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950"/>
          </a:p>
        </p:txBody>
      </p:sp>
      <p:sp>
        <p:nvSpPr>
          <p:cNvPr id="700" name="H700"/>
          <p:cNvSpPr/>
          <p:nvPr/>
        </p:nvSpPr>
        <p:spPr>
          <a:xfrm>
            <a:off x="114300" y="1810512"/>
            <a:ext cx="1783080" cy="713232"/>
          </a:xfrm>
          <a:prstGeom prst="roundRect">
            <a:avLst>
              <a:gd name="adj" fmla="val 12000"/>
            </a:avLst>
          </a:prstGeom>
          <a:solidFill>
            <a:srgbClr val="F3E9FB"/>
          </a:solidFill>
          <a:ln w="12700">
            <a:solidFill>
              <a:srgbClr val="6A1B9A"/>
            </a:solidFill>
          </a:ln>
        </p:spPr>
        <p:txBody>
          <a:bodyPr wrap="square" lIns="45720" tIns="18288" rIns="45720" bIns="18288" anchor="ctr"/>
          <a:lstStyle/>
          <a:p>
            <a:pPr algn="ctr"/>
            <a:r>
              <a:rPr lang="en-US" sz="1100" b="1">
                <a:solidFill>
                  <a:srgbClr val="6A1B9A"/>
                </a:solidFill>
              </a:rPr>
              <a:t>Analyst</a:t>
            </a:r>
          </a:p>
          <a:p>
            <a:pPr algn="ctr"/>
            <a:r>
              <a:rPr lang="en-US" sz="800">
                <a:solidFill>
                  <a:srgbClr val="6B6B7B"/>
                </a:solidFill>
              </a:rPr>
              <a:t>Finance user</a:t>
            </a:r>
          </a:p>
        </p:txBody>
      </p:sp>
      <p:sp>
        <p:nvSpPr>
          <p:cNvPr id="701" name="H701"/>
          <p:cNvSpPr/>
          <p:nvPr/>
        </p:nvSpPr>
        <p:spPr>
          <a:xfrm>
            <a:off x="2089404" y="1810512"/>
            <a:ext cx="1783080" cy="713232"/>
          </a:xfrm>
          <a:prstGeom prst="roundRect">
            <a:avLst>
              <a:gd name="adj" fmla="val 12000"/>
            </a:avLst>
          </a:prstGeom>
          <a:solidFill>
            <a:srgbClr val="F3E9FB"/>
          </a:solidFill>
          <a:ln w="12700">
            <a:solidFill>
              <a:srgbClr val="6A1B9A"/>
            </a:solidFill>
          </a:ln>
        </p:spPr>
        <p:txBody>
          <a:bodyPr wrap="square" lIns="45720" tIns="18288" rIns="45720" bIns="18288" anchor="ctr"/>
          <a:lstStyle/>
          <a:p>
            <a:pPr algn="ctr"/>
            <a:r>
              <a:rPr lang="en-US" sz="1100" b="1">
                <a:solidFill>
                  <a:srgbClr val="6A1B9A"/>
                </a:solidFill>
              </a:rPr>
              <a:t>Web &amp; API</a:t>
            </a:r>
          </a:p>
          <a:p>
            <a:pPr algn="ctr"/>
            <a:r>
              <a:rPr lang="en-US" sz="800">
                <a:solidFill>
                  <a:srgbClr val="6B6B7B"/>
                </a:solidFill>
              </a:rPr>
              <a:t>Cognito · API GW</a:t>
            </a:r>
          </a:p>
        </p:txBody>
      </p:sp>
      <p:sp>
        <p:nvSpPr>
          <p:cNvPr id="702" name="H702"/>
          <p:cNvSpPr/>
          <p:nvPr/>
        </p:nvSpPr>
        <p:spPr>
          <a:xfrm>
            <a:off x="4064508" y="1810512"/>
            <a:ext cx="1783080" cy="713232"/>
          </a:xfrm>
          <a:prstGeom prst="roundRect">
            <a:avLst>
              <a:gd name="adj" fmla="val 12000"/>
            </a:avLst>
          </a:prstGeom>
          <a:solidFill>
            <a:srgbClr val="F3E9FB"/>
          </a:solidFill>
          <a:ln w="12700">
            <a:solidFill>
              <a:srgbClr val="6A1B9A"/>
            </a:solidFill>
          </a:ln>
        </p:spPr>
        <p:txBody>
          <a:bodyPr wrap="square" lIns="45720" tIns="18288" rIns="45720" bIns="18288" anchor="ctr"/>
          <a:lstStyle/>
          <a:p>
            <a:pPr algn="ctr"/>
            <a:r>
              <a:rPr lang="en-US" sz="1100" b="1">
                <a:solidFill>
                  <a:srgbClr val="6A1B9A"/>
                </a:solidFill>
              </a:rPr>
              <a:t>Supervisor</a:t>
            </a:r>
          </a:p>
          <a:p>
            <a:pPr algn="ctr"/>
            <a:r>
              <a:rPr lang="en-US" sz="800">
                <a:solidFill>
                  <a:srgbClr val="6B6B7B"/>
                </a:solidFill>
              </a:rPr>
              <a:t>AgentCore</a:t>
            </a:r>
          </a:p>
        </p:txBody>
      </p:sp>
      <p:sp>
        <p:nvSpPr>
          <p:cNvPr id="703" name="H703"/>
          <p:cNvSpPr/>
          <p:nvPr/>
        </p:nvSpPr>
        <p:spPr>
          <a:xfrm>
            <a:off x="6039612" y="1810512"/>
            <a:ext cx="1783080" cy="713232"/>
          </a:xfrm>
          <a:prstGeom prst="roundRect">
            <a:avLst>
              <a:gd name="adj" fmla="val 12000"/>
            </a:avLst>
          </a:prstGeom>
          <a:solidFill>
            <a:srgbClr val="F3E9FB"/>
          </a:solidFill>
          <a:ln w="12700">
            <a:solidFill>
              <a:srgbClr val="6A1B9A"/>
            </a:solidFill>
          </a:ln>
        </p:spPr>
        <p:txBody>
          <a:bodyPr wrap="square" lIns="45720" tIns="18288" rIns="45720" bIns="18288" anchor="ctr"/>
          <a:lstStyle/>
          <a:p>
            <a:pPr algn="ctr"/>
            <a:r>
              <a:rPr lang="en-US" sz="1100" b="1">
                <a:solidFill>
                  <a:srgbClr val="6A1B9A"/>
                </a:solidFill>
              </a:rPr>
              <a:t>Specialist agents</a:t>
            </a:r>
          </a:p>
          <a:p>
            <a:pPr algn="ctr"/>
            <a:r>
              <a:rPr lang="en-US" sz="800">
                <a:solidFill>
                  <a:srgbClr val="6B6B7B"/>
                </a:solidFill>
              </a:rPr>
              <a:t>×4 parallel</a:t>
            </a:r>
          </a:p>
        </p:txBody>
      </p:sp>
      <p:sp>
        <p:nvSpPr>
          <p:cNvPr id="704" name="H704"/>
          <p:cNvSpPr/>
          <p:nvPr/>
        </p:nvSpPr>
        <p:spPr>
          <a:xfrm>
            <a:off x="8014716" y="1810512"/>
            <a:ext cx="1783080" cy="713232"/>
          </a:xfrm>
          <a:prstGeom prst="roundRect">
            <a:avLst>
              <a:gd name="adj" fmla="val 12000"/>
            </a:avLst>
          </a:prstGeom>
          <a:solidFill>
            <a:srgbClr val="F3E9FB"/>
          </a:solidFill>
          <a:ln w="12700">
            <a:solidFill>
              <a:srgbClr val="6A1B9A"/>
            </a:solidFill>
          </a:ln>
        </p:spPr>
        <p:txBody>
          <a:bodyPr wrap="square" lIns="45720" tIns="18288" rIns="45720" bIns="18288" anchor="ctr"/>
          <a:lstStyle/>
          <a:p>
            <a:pPr algn="ctr"/>
            <a:r>
              <a:rPr lang="en-US" sz="1100" b="1">
                <a:solidFill>
                  <a:srgbClr val="6A1B9A"/>
                </a:solidFill>
              </a:rPr>
              <a:t>AWS tools + MCP</a:t>
            </a:r>
          </a:p>
          <a:p>
            <a:pPr algn="ctr"/>
            <a:r>
              <a:rPr lang="en-US" sz="800">
                <a:solidFill>
                  <a:srgbClr val="6B6B7B"/>
                </a:solidFill>
              </a:rPr>
              <a:t>tools &amp; systems</a:t>
            </a:r>
          </a:p>
        </p:txBody>
      </p:sp>
      <p:sp>
        <p:nvSpPr>
          <p:cNvPr id="705" name="H705"/>
          <p:cNvSpPr/>
          <p:nvPr/>
        </p:nvSpPr>
        <p:spPr>
          <a:xfrm>
            <a:off x="9989820" y="1810512"/>
            <a:ext cx="1783080" cy="713232"/>
          </a:xfrm>
          <a:prstGeom prst="roundRect">
            <a:avLst>
              <a:gd name="adj" fmla="val 12000"/>
            </a:avLst>
          </a:prstGeom>
          <a:solidFill>
            <a:srgbClr val="F3E9FB"/>
          </a:solidFill>
          <a:ln w="12700">
            <a:solidFill>
              <a:srgbClr val="6A1B9A"/>
            </a:solidFill>
          </a:ln>
        </p:spPr>
        <p:txBody>
          <a:bodyPr wrap="square" lIns="45720" tIns="18288" rIns="45720" bIns="18288" anchor="ctr"/>
          <a:lstStyle/>
          <a:p>
            <a:pPr algn="ctr"/>
            <a:r>
              <a:rPr lang="en-US" sz="1100" b="1">
                <a:solidFill>
                  <a:srgbClr val="6A1B9A"/>
                </a:solidFill>
              </a:rPr>
              <a:t>HITL &amp; output</a:t>
            </a:r>
          </a:p>
          <a:p>
            <a:pPr algn="ctr"/>
            <a:r>
              <a:rPr lang="en-US" sz="800">
                <a:solidFill>
                  <a:srgbClr val="6B6B7B"/>
                </a:solidFill>
              </a:rPr>
              <a:t>approve · alert · report</a:t>
            </a:r>
          </a:p>
        </p:txBody>
      </p:sp>
      <p:cxnSp>
        <p:nvCxnSpPr>
          <p:cNvPr id="706" name="L706"/>
          <p:cNvCxnSpPr/>
          <p:nvPr/>
        </p:nvCxnSpPr>
        <p:spPr>
          <a:xfrm>
            <a:off x="1005840" y="2523744"/>
            <a:ext cx="0" cy="3739896"/>
          </a:xfrm>
          <a:prstGeom prst="straightConnector1">
            <a:avLst/>
          </a:prstGeom>
          <a:ln w="9525">
            <a:solidFill>
              <a:srgbClr val="B9B9C4"/>
            </a:solidFill>
            <a:prstDash val="dash"/>
          </a:ln>
        </p:spPr>
      </p:cxnSp>
      <p:cxnSp>
        <p:nvCxnSpPr>
          <p:cNvPr id="707" name="L707"/>
          <p:cNvCxnSpPr/>
          <p:nvPr/>
        </p:nvCxnSpPr>
        <p:spPr>
          <a:xfrm>
            <a:off x="2980944" y="2523744"/>
            <a:ext cx="0" cy="3739896"/>
          </a:xfrm>
          <a:prstGeom prst="straightConnector1">
            <a:avLst/>
          </a:prstGeom>
          <a:ln w="9525">
            <a:solidFill>
              <a:srgbClr val="B9B9C4"/>
            </a:solidFill>
            <a:prstDash val="dash"/>
          </a:ln>
        </p:spPr>
      </p:cxnSp>
      <p:cxnSp>
        <p:nvCxnSpPr>
          <p:cNvPr id="708" name="L708"/>
          <p:cNvCxnSpPr/>
          <p:nvPr/>
        </p:nvCxnSpPr>
        <p:spPr>
          <a:xfrm>
            <a:off x="4956048" y="2523744"/>
            <a:ext cx="0" cy="3739896"/>
          </a:xfrm>
          <a:prstGeom prst="straightConnector1">
            <a:avLst/>
          </a:prstGeom>
          <a:ln w="9525">
            <a:solidFill>
              <a:srgbClr val="B9B9C4"/>
            </a:solidFill>
            <a:prstDash val="dash"/>
          </a:ln>
        </p:spPr>
      </p:cxnSp>
      <p:cxnSp>
        <p:nvCxnSpPr>
          <p:cNvPr id="709" name="L709"/>
          <p:cNvCxnSpPr/>
          <p:nvPr/>
        </p:nvCxnSpPr>
        <p:spPr>
          <a:xfrm>
            <a:off x="6931152" y="2523744"/>
            <a:ext cx="0" cy="3739896"/>
          </a:xfrm>
          <a:prstGeom prst="straightConnector1">
            <a:avLst/>
          </a:prstGeom>
          <a:ln w="9525">
            <a:solidFill>
              <a:srgbClr val="B9B9C4"/>
            </a:solidFill>
            <a:prstDash val="dash"/>
          </a:ln>
        </p:spPr>
      </p:cxnSp>
      <p:cxnSp>
        <p:nvCxnSpPr>
          <p:cNvPr id="710" name="L710"/>
          <p:cNvCxnSpPr/>
          <p:nvPr/>
        </p:nvCxnSpPr>
        <p:spPr>
          <a:xfrm>
            <a:off x="8906256" y="2523744"/>
            <a:ext cx="0" cy="3739896"/>
          </a:xfrm>
          <a:prstGeom prst="straightConnector1">
            <a:avLst/>
          </a:prstGeom>
          <a:ln w="9525">
            <a:solidFill>
              <a:srgbClr val="B9B9C4"/>
            </a:solidFill>
            <a:prstDash val="dash"/>
          </a:ln>
        </p:spPr>
      </p:cxnSp>
      <p:cxnSp>
        <p:nvCxnSpPr>
          <p:cNvPr id="711" name="L711"/>
          <p:cNvCxnSpPr/>
          <p:nvPr/>
        </p:nvCxnSpPr>
        <p:spPr>
          <a:xfrm>
            <a:off x="10881360" y="2523744"/>
            <a:ext cx="0" cy="3739896"/>
          </a:xfrm>
          <a:prstGeom prst="straightConnector1">
            <a:avLst/>
          </a:prstGeom>
          <a:ln w="9525">
            <a:solidFill>
              <a:srgbClr val="B9B9C4"/>
            </a:solidFill>
            <a:prstDash val="dash"/>
          </a:ln>
        </p:spPr>
      </p:cxnSp>
      <p:cxnSp>
        <p:nvCxnSpPr>
          <p:cNvPr id="712" name="M712"/>
          <p:cNvCxnSpPr/>
          <p:nvPr/>
        </p:nvCxnSpPr>
        <p:spPr>
          <a:xfrm>
            <a:off x="1005840" y="2926080"/>
            <a:ext cx="1975104" cy="0"/>
          </a:xfrm>
          <a:prstGeom prst="straightConnector1">
            <a:avLst/>
          </a:prstGeom>
          <a:ln w="22225" cap="rnd">
            <a:solidFill>
              <a:srgbClr val="178391"/>
            </a:solidFill>
            <a:tailEnd type="triangle" w="med" len="med"/>
          </a:ln>
        </p:spPr>
      </p:cxnSp>
      <p:sp>
        <p:nvSpPr>
          <p:cNvPr id="713" name="ML713"/>
          <p:cNvSpPr/>
          <p:nvPr/>
        </p:nvSpPr>
        <p:spPr>
          <a:xfrm>
            <a:off x="438912" y="2651760"/>
            <a:ext cx="31089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" tIns="0" rIns="9144" bIns="0" anchor="ctr"/>
          <a:lstStyle/>
          <a:p>
            <a:pPr algn="ctr"/>
            <a:r>
              <a:rPr lang="en-US" sz="900" b="1">
                <a:solidFill>
                  <a:srgbClr val="0F6E56"/>
                </a:solidFill>
              </a:rPr>
              <a:t>1  Upload docs · Cognito auth</a:t>
            </a:r>
          </a:p>
        </p:txBody>
      </p:sp>
      <p:cxnSp>
        <p:nvCxnSpPr>
          <p:cNvPr id="714" name="M714"/>
          <p:cNvCxnSpPr/>
          <p:nvPr/>
        </p:nvCxnSpPr>
        <p:spPr>
          <a:xfrm>
            <a:off x="2980944" y="3383280"/>
            <a:ext cx="1975104" cy="0"/>
          </a:xfrm>
          <a:prstGeom prst="straightConnector1">
            <a:avLst/>
          </a:prstGeom>
          <a:ln w="22225" cap="rnd">
            <a:solidFill>
              <a:srgbClr val="178391"/>
            </a:solidFill>
            <a:tailEnd type="triangle" w="med" len="med"/>
          </a:ln>
        </p:spPr>
      </p:cxnSp>
      <p:sp>
        <p:nvSpPr>
          <p:cNvPr id="715" name="ML715"/>
          <p:cNvSpPr/>
          <p:nvPr/>
        </p:nvSpPr>
        <p:spPr>
          <a:xfrm>
            <a:off x="2414016" y="3108960"/>
            <a:ext cx="31089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" tIns="0" rIns="9144" bIns="0" anchor="ctr"/>
          <a:lstStyle/>
          <a:p>
            <a:pPr algn="ctr"/>
            <a:r>
              <a:rPr lang="en-US" sz="900" b="1">
                <a:solidFill>
                  <a:srgbClr val="0F6E56"/>
                </a:solidFill>
              </a:rPr>
              <a:t>2  Trigger audit run (S3)</a:t>
            </a:r>
          </a:p>
        </p:txBody>
      </p:sp>
      <p:cxnSp>
        <p:nvCxnSpPr>
          <p:cNvPr id="716" name="M716"/>
          <p:cNvCxnSpPr/>
          <p:nvPr/>
        </p:nvCxnSpPr>
        <p:spPr>
          <a:xfrm>
            <a:off x="4956048" y="3840480"/>
            <a:ext cx="3950208" cy="0"/>
          </a:xfrm>
          <a:prstGeom prst="straightConnector1">
            <a:avLst/>
          </a:prstGeom>
          <a:ln w="22225" cap="rnd">
            <a:solidFill>
              <a:srgbClr val="178391"/>
            </a:solidFill>
            <a:tailEnd type="triangle" w="med" len="med"/>
          </a:ln>
        </p:spPr>
      </p:cxnSp>
      <p:sp>
        <p:nvSpPr>
          <p:cNvPr id="717" name="ML717"/>
          <p:cNvSpPr/>
          <p:nvPr/>
        </p:nvSpPr>
        <p:spPr>
          <a:xfrm>
            <a:off x="5376672" y="3566160"/>
            <a:ext cx="31089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" tIns="0" rIns="9144" bIns="0" anchor="ctr"/>
          <a:lstStyle/>
          <a:p>
            <a:pPr algn="ctr"/>
            <a:r>
              <a:rPr lang="en-US" sz="900" b="1">
                <a:solidFill>
                  <a:srgbClr val="0F6E56"/>
                </a:solidFill>
              </a:rPr>
              <a:t>3  Textract OCR → figures</a:t>
            </a:r>
          </a:p>
        </p:txBody>
      </p:sp>
      <p:cxnSp>
        <p:nvCxnSpPr>
          <p:cNvPr id="718" name="M718"/>
          <p:cNvCxnSpPr/>
          <p:nvPr/>
        </p:nvCxnSpPr>
        <p:spPr>
          <a:xfrm>
            <a:off x="4956048" y="4297680"/>
            <a:ext cx="1975104" cy="0"/>
          </a:xfrm>
          <a:prstGeom prst="straightConnector1">
            <a:avLst/>
          </a:prstGeom>
          <a:ln w="22225" cap="rnd">
            <a:solidFill>
              <a:srgbClr val="178391"/>
            </a:solidFill>
            <a:tailEnd type="triangle" w="med" len="med"/>
          </a:ln>
        </p:spPr>
      </p:cxnSp>
      <p:sp>
        <p:nvSpPr>
          <p:cNvPr id="719" name="ML719"/>
          <p:cNvSpPr/>
          <p:nvPr/>
        </p:nvSpPr>
        <p:spPr>
          <a:xfrm>
            <a:off x="4389120" y="4023360"/>
            <a:ext cx="31089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" tIns="0" rIns="9144" bIns="0" anchor="ctr"/>
          <a:lstStyle/>
          <a:p>
            <a:pPr algn="ctr"/>
            <a:r>
              <a:rPr lang="en-US" sz="900" b="1">
                <a:solidFill>
                  <a:srgbClr val="0F6E56"/>
                </a:solidFill>
              </a:rPr>
              <a:t>4  Route work → agents (parallel)</a:t>
            </a:r>
          </a:p>
        </p:txBody>
      </p:sp>
      <p:cxnSp>
        <p:nvCxnSpPr>
          <p:cNvPr id="720" name="M720"/>
          <p:cNvCxnSpPr/>
          <p:nvPr/>
        </p:nvCxnSpPr>
        <p:spPr>
          <a:xfrm>
            <a:off x="6931152" y="4754880"/>
            <a:ext cx="1975104" cy="0"/>
          </a:xfrm>
          <a:prstGeom prst="straightConnector1">
            <a:avLst/>
          </a:prstGeom>
          <a:ln w="22225" cap="rnd">
            <a:solidFill>
              <a:srgbClr val="178391"/>
            </a:solidFill>
            <a:tailEnd type="triangle" w="med" len="med"/>
          </a:ln>
        </p:spPr>
      </p:cxnSp>
      <p:sp>
        <p:nvSpPr>
          <p:cNvPr id="721" name="ML721"/>
          <p:cNvSpPr/>
          <p:nvPr/>
        </p:nvSpPr>
        <p:spPr>
          <a:xfrm>
            <a:off x="6364224" y="4480560"/>
            <a:ext cx="31089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" tIns="0" rIns="9144" bIns="0" anchor="ctr"/>
          <a:lstStyle/>
          <a:p>
            <a:pPr algn="ctr"/>
            <a:r>
              <a:rPr lang="en-US" sz="900" b="1">
                <a:solidFill>
                  <a:srgbClr val="0F6E56"/>
                </a:solidFill>
              </a:rPr>
              <a:t>5  AWS tools + MCP lookups</a:t>
            </a:r>
          </a:p>
        </p:txBody>
      </p:sp>
      <p:cxnSp>
        <p:nvCxnSpPr>
          <p:cNvPr id="722" name="M722"/>
          <p:cNvCxnSpPr/>
          <p:nvPr/>
        </p:nvCxnSpPr>
        <p:spPr>
          <a:xfrm>
            <a:off x="4956048" y="5212080"/>
            <a:ext cx="1975104" cy="0"/>
          </a:xfrm>
          <a:prstGeom prst="straightConnector1">
            <a:avLst/>
          </a:prstGeom>
          <a:ln w="22225" cap="rnd">
            <a:solidFill>
              <a:srgbClr val="178391"/>
            </a:solidFill>
            <a:headEnd type="triangle" w="med" len="med"/>
          </a:ln>
        </p:spPr>
      </p:cxnSp>
      <p:sp>
        <p:nvSpPr>
          <p:cNvPr id="723" name="ML723"/>
          <p:cNvSpPr/>
          <p:nvPr/>
        </p:nvSpPr>
        <p:spPr>
          <a:xfrm>
            <a:off x="4389120" y="4937760"/>
            <a:ext cx="31089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" tIns="0" rIns="9144" bIns="0" anchor="ctr"/>
          <a:lstStyle/>
          <a:p>
            <a:pPr algn="ctr"/>
            <a:r>
              <a:rPr lang="en-US" sz="900" b="1">
                <a:solidFill>
                  <a:srgbClr val="0F6E56"/>
                </a:solidFill>
              </a:rPr>
              <a:t>6  Return explainable findings</a:t>
            </a:r>
          </a:p>
        </p:txBody>
      </p:sp>
      <p:cxnSp>
        <p:nvCxnSpPr>
          <p:cNvPr id="724" name="M724"/>
          <p:cNvCxnSpPr/>
          <p:nvPr/>
        </p:nvCxnSpPr>
        <p:spPr>
          <a:xfrm>
            <a:off x="4956048" y="5669280"/>
            <a:ext cx="5925312" cy="0"/>
          </a:xfrm>
          <a:prstGeom prst="straightConnector1">
            <a:avLst/>
          </a:prstGeom>
          <a:ln w="22225" cap="rnd">
            <a:solidFill>
              <a:srgbClr val="178391"/>
            </a:solidFill>
            <a:tailEnd type="triangle" w="med" len="med"/>
          </a:ln>
        </p:spPr>
      </p:cxnSp>
      <p:sp>
        <p:nvSpPr>
          <p:cNvPr id="725" name="ML725"/>
          <p:cNvSpPr/>
          <p:nvPr/>
        </p:nvSpPr>
        <p:spPr>
          <a:xfrm>
            <a:off x="6364224" y="5394960"/>
            <a:ext cx="31089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" tIns="0" rIns="9144" bIns="0" anchor="ctr"/>
          <a:lstStyle/>
          <a:p>
            <a:pPr algn="ctr"/>
            <a:r>
              <a:rPr lang="en-US" sz="900" b="1">
                <a:solidFill>
                  <a:srgbClr val="0F6E56"/>
                </a:solidFill>
              </a:rPr>
              <a:t>7  Reconcile · flagged → human approval</a:t>
            </a:r>
          </a:p>
        </p:txBody>
      </p:sp>
      <p:cxnSp>
        <p:nvCxnSpPr>
          <p:cNvPr id="726" name="M726"/>
          <p:cNvCxnSpPr/>
          <p:nvPr/>
        </p:nvCxnSpPr>
        <p:spPr>
          <a:xfrm>
            <a:off x="1005840" y="6080760"/>
            <a:ext cx="9875520" cy="0"/>
          </a:xfrm>
          <a:prstGeom prst="straightConnector1">
            <a:avLst/>
          </a:prstGeom>
          <a:ln w="22225" cap="rnd">
            <a:solidFill>
              <a:srgbClr val="178391"/>
            </a:solidFill>
            <a:headEnd type="triangle" w="med" len="med"/>
          </a:ln>
        </p:spPr>
      </p:cxnSp>
      <p:sp>
        <p:nvSpPr>
          <p:cNvPr id="727" name="ML727"/>
          <p:cNvSpPr/>
          <p:nvPr/>
        </p:nvSpPr>
        <p:spPr>
          <a:xfrm>
            <a:off x="4389120" y="5806440"/>
            <a:ext cx="3108960" cy="2377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" tIns="0" rIns="9144" bIns="0" anchor="ctr"/>
          <a:lstStyle/>
          <a:p>
            <a:pPr algn="ctr"/>
            <a:r>
              <a:rPr lang="en-US" sz="900" b="1">
                <a:solidFill>
                  <a:srgbClr val="0F6E56"/>
                </a:solidFill>
              </a:rPr>
              <a:t>8  Report + dashboard · Slack alert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AWS Services &amp; Their Functions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AWS-native — serverless where possible, secured with IAM roles and Secrets Manager.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9525">
            <a:solidFill>
              <a:srgbClr val="E3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566928" cy="566928"/>
          </a:xfrm>
          <a:prstGeom prst="ellipse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48" y="1896100"/>
            <a:ext cx="249448" cy="249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0078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</a:t>
            </a:r>
            <a:endParaRPr lang="en-US" sz="1250"/>
          </a:p>
        </p:txBody>
      </p:sp>
      <p:sp>
        <p:nvSpPr>
          <p:cNvPr id="8" name="Text 5"/>
          <p:cNvSpPr/>
          <p:nvPr/>
        </p:nvSpPr>
        <p:spPr>
          <a:xfrm>
            <a:off x="1463040" y="206654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+ Gateway that hosts and orchestrates the agent team</a:t>
            </a:r>
            <a:endParaRPr lang="en-US" sz="1000"/>
          </a:p>
        </p:txBody>
      </p:sp>
      <p:sp>
        <p:nvSpPr>
          <p:cNvPr id="9" name="Shape 6"/>
          <p:cNvSpPr/>
          <p:nvPr/>
        </p:nvSpPr>
        <p:spPr>
          <a:xfrm>
            <a:off x="4279392" y="1536192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9525">
            <a:solidFill>
              <a:srgbClr val="E3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480560" y="1737360"/>
            <a:ext cx="566928" cy="566928"/>
          </a:xfrm>
          <a:prstGeom prst="ellipse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ic_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9300" y="1896100"/>
            <a:ext cx="249448" cy="249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170078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(Claude)</a:t>
            </a:r>
            <a:endParaRPr lang="en-US" sz="1250"/>
          </a:p>
        </p:txBody>
      </p:sp>
      <p:sp>
        <p:nvSpPr>
          <p:cNvPr id="13" name="Text 9"/>
          <p:cNvSpPr/>
          <p:nvPr/>
        </p:nvSpPr>
        <p:spPr>
          <a:xfrm>
            <a:off x="5193792" y="206654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engine for analysis, explanation &amp; synthesis</a:t>
            </a:r>
            <a:endParaRPr lang="en-US" sz="1000"/>
          </a:p>
        </p:txBody>
      </p:sp>
      <p:sp>
        <p:nvSpPr>
          <p:cNvPr id="14" name="Shape 10"/>
          <p:cNvSpPr/>
          <p:nvPr/>
        </p:nvSpPr>
        <p:spPr>
          <a:xfrm>
            <a:off x="8010144" y="1536192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9525">
            <a:solidFill>
              <a:srgbClr val="E3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211312" y="1737360"/>
            <a:ext cx="566928" cy="566928"/>
          </a:xfrm>
          <a:prstGeom prst="ellipse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_filea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0052" y="1896100"/>
            <a:ext cx="249448" cy="2494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24544" y="170078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Textract</a:t>
            </a:r>
            <a:endParaRPr lang="en-US" sz="1250"/>
          </a:p>
        </p:txBody>
      </p:sp>
      <p:sp>
        <p:nvSpPr>
          <p:cNvPr id="18" name="Text 13"/>
          <p:cNvSpPr/>
          <p:nvPr/>
        </p:nvSpPr>
        <p:spPr>
          <a:xfrm>
            <a:off x="8924544" y="206654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— extracts figures from statements &amp; receipts</a:t>
            </a:r>
            <a:endParaRPr lang="en-US" sz="1000"/>
          </a:p>
        </p:txBody>
      </p:sp>
      <p:sp>
        <p:nvSpPr>
          <p:cNvPr id="19" name="Shape 14"/>
          <p:cNvSpPr/>
          <p:nvPr/>
        </p:nvSpPr>
        <p:spPr>
          <a:xfrm>
            <a:off x="548640" y="2724912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9525">
            <a:solidFill>
              <a:srgbClr val="E3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49808" y="2926080"/>
            <a:ext cx="566928" cy="566928"/>
          </a:xfrm>
          <a:prstGeom prst="ellipse">
            <a:avLst/>
          </a:prstGeom>
          <a:solidFill>
            <a:srgbClr val="1783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ic_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548" y="3084820"/>
            <a:ext cx="249448" cy="2494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28895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1250"/>
          </a:p>
        </p:txBody>
      </p:sp>
      <p:sp>
        <p:nvSpPr>
          <p:cNvPr id="23" name="Text 17"/>
          <p:cNvSpPr/>
          <p:nvPr/>
        </p:nvSpPr>
        <p:spPr>
          <a:xfrm>
            <a:off x="1463040" y="325526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document store for all uploaded artifacts</a:t>
            </a:r>
            <a:endParaRPr lang="en-US" sz="1000"/>
          </a:p>
        </p:txBody>
      </p:sp>
      <p:sp>
        <p:nvSpPr>
          <p:cNvPr id="24" name="Shape 18"/>
          <p:cNvSpPr/>
          <p:nvPr/>
        </p:nvSpPr>
        <p:spPr>
          <a:xfrm>
            <a:off x="4279392" y="2724912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9525">
            <a:solidFill>
              <a:srgbClr val="E3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480560" y="2926080"/>
            <a:ext cx="566928" cy="566928"/>
          </a:xfrm>
          <a:prstGeom prst="ellipse">
            <a:avLst/>
          </a:prstGeom>
          <a:solidFill>
            <a:srgbClr val="1E9E6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ic_chartb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9300" y="3084820"/>
            <a:ext cx="249448" cy="2494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28895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Athena</a:t>
            </a:r>
            <a:endParaRPr lang="en-US" sz="1250"/>
          </a:p>
        </p:txBody>
      </p:sp>
      <p:sp>
        <p:nvSpPr>
          <p:cNvPr id="28" name="Text 21"/>
          <p:cNvSpPr/>
          <p:nvPr/>
        </p:nvSpPr>
        <p:spPr>
          <a:xfrm>
            <a:off x="5193792" y="325526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historical financials for anomaly baselines</a:t>
            </a:r>
            <a:endParaRPr lang="en-US" sz="1000"/>
          </a:p>
        </p:txBody>
      </p:sp>
      <p:sp>
        <p:nvSpPr>
          <p:cNvPr id="29" name="Shape 22"/>
          <p:cNvSpPr/>
          <p:nvPr/>
        </p:nvSpPr>
        <p:spPr>
          <a:xfrm>
            <a:off x="8010144" y="2724912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9525">
            <a:solidFill>
              <a:srgbClr val="E3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211312" y="2926080"/>
            <a:ext cx="566928" cy="566928"/>
          </a:xfrm>
          <a:prstGeom prst="ellipse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assets/ic_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0052" y="3084820"/>
            <a:ext cx="249448" cy="2494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24544" y="28895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</a:t>
            </a:r>
            <a:endParaRPr lang="en-US" sz="1250"/>
          </a:p>
        </p:txBody>
      </p:sp>
      <p:sp>
        <p:nvSpPr>
          <p:cNvPr id="33" name="Text 25"/>
          <p:cNvSpPr/>
          <p:nvPr/>
        </p:nvSpPr>
        <p:spPr>
          <a:xfrm>
            <a:off x="8924544" y="325526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rules engine for balance-sheet checks</a:t>
            </a:r>
            <a:endParaRPr lang="en-US" sz="1000"/>
          </a:p>
        </p:txBody>
      </p:sp>
      <p:sp>
        <p:nvSpPr>
          <p:cNvPr id="34" name="Shape 26"/>
          <p:cNvSpPr/>
          <p:nvPr/>
        </p:nvSpPr>
        <p:spPr>
          <a:xfrm>
            <a:off x="548640" y="3913632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9525">
            <a:solidFill>
              <a:srgbClr val="E3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749808" y="4114800"/>
            <a:ext cx="566928" cy="566928"/>
          </a:xfrm>
          <a:prstGeom prst="ellipse">
            <a:avLst/>
          </a:prstGeom>
          <a:solidFill>
            <a:srgbClr val="D645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assets/ic_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548" y="4273540"/>
            <a:ext cx="249448" cy="2494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63040" y="40782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Rekognition + Textract</a:t>
            </a:r>
            <a:endParaRPr lang="en-US" sz="1250"/>
          </a:p>
        </p:txBody>
      </p:sp>
      <p:sp>
        <p:nvSpPr>
          <p:cNvPr id="38" name="Text 29"/>
          <p:cNvSpPr/>
          <p:nvPr/>
        </p:nvSpPr>
        <p:spPr>
          <a:xfrm>
            <a:off x="1463040" y="444398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tamper heuristics: metadata, hashing, vision</a:t>
            </a:r>
            <a:endParaRPr lang="en-US" sz="1000"/>
          </a:p>
        </p:txBody>
      </p:sp>
      <p:sp>
        <p:nvSpPr>
          <p:cNvPr id="39" name="Shape 30"/>
          <p:cNvSpPr/>
          <p:nvPr/>
        </p:nvSpPr>
        <p:spPr>
          <a:xfrm>
            <a:off x="4279392" y="3913632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9525">
            <a:solidFill>
              <a:srgbClr val="E3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4480560" y="4114800"/>
            <a:ext cx="566928" cy="566928"/>
          </a:xfrm>
          <a:prstGeom prst="ellipse">
            <a:avLst/>
          </a:prstGeom>
          <a:solidFill>
            <a:srgbClr val="1E9E6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7" descr="assets/ic_l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9300" y="4273540"/>
            <a:ext cx="249448" cy="24944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93792" y="40782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</a:t>
            </a:r>
            <a:endParaRPr lang="en-US" sz="1250"/>
          </a:p>
        </p:txBody>
      </p:sp>
      <p:sp>
        <p:nvSpPr>
          <p:cNvPr id="43" name="Text 33"/>
          <p:cNvSpPr/>
          <p:nvPr/>
        </p:nvSpPr>
        <p:spPr>
          <a:xfrm>
            <a:off x="5193792" y="444398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cross-checks across the three documents</a:t>
            </a:r>
            <a:endParaRPr lang="en-US" sz="1000"/>
          </a:p>
        </p:txBody>
      </p:sp>
      <p:sp>
        <p:nvSpPr>
          <p:cNvPr id="44" name="Shape 34"/>
          <p:cNvSpPr/>
          <p:nvPr/>
        </p:nvSpPr>
        <p:spPr>
          <a:xfrm>
            <a:off x="8010144" y="3913632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9525">
            <a:solidFill>
              <a:srgbClr val="E3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35"/>
          <p:cNvSpPr/>
          <p:nvPr/>
        </p:nvSpPr>
        <p:spPr>
          <a:xfrm>
            <a:off x="8211312" y="4114800"/>
            <a:ext cx="566928" cy="566928"/>
          </a:xfrm>
          <a:prstGeom prst="ellipse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8" descr="assets/ic_sitema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0052" y="4273540"/>
            <a:ext cx="249448" cy="249448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24544" y="40782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Step Functions</a:t>
            </a:r>
            <a:endParaRPr lang="en-US" sz="1250"/>
          </a:p>
        </p:txBody>
      </p:sp>
      <p:sp>
        <p:nvSpPr>
          <p:cNvPr id="48" name="Text 37"/>
          <p:cNvSpPr/>
          <p:nvPr/>
        </p:nvSpPr>
        <p:spPr>
          <a:xfrm>
            <a:off x="8924544" y="444398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 workflow for flagged items</a:t>
            </a:r>
            <a:endParaRPr lang="en-US" sz="1000"/>
          </a:p>
        </p:txBody>
      </p:sp>
      <p:sp>
        <p:nvSpPr>
          <p:cNvPr id="49" name="Shape 38"/>
          <p:cNvSpPr/>
          <p:nvPr/>
        </p:nvSpPr>
        <p:spPr>
          <a:xfrm>
            <a:off x="548640" y="5102352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9525">
            <a:solidFill>
              <a:srgbClr val="E3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39"/>
          <p:cNvSpPr/>
          <p:nvPr/>
        </p:nvSpPr>
        <p:spPr>
          <a:xfrm>
            <a:off x="749808" y="5303520"/>
            <a:ext cx="566928" cy="566928"/>
          </a:xfrm>
          <a:prstGeom prst="ellipse">
            <a:avLst/>
          </a:prstGeom>
          <a:solidFill>
            <a:srgbClr val="E8590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9" descr="assets/ic_chartlin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8548" y="5462260"/>
            <a:ext cx="249448" cy="249448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1463040" y="52669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QuickSight</a:t>
            </a:r>
            <a:endParaRPr lang="en-US" sz="1250"/>
          </a:p>
        </p:txBody>
      </p:sp>
      <p:sp>
        <p:nvSpPr>
          <p:cNvPr id="53" name="Text 41"/>
          <p:cNvSpPr/>
          <p:nvPr/>
        </p:nvSpPr>
        <p:spPr>
          <a:xfrm>
            <a:off x="1463040" y="563270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dashboards &amp; the final report</a:t>
            </a:r>
            <a:endParaRPr lang="en-US" sz="1000"/>
          </a:p>
        </p:txBody>
      </p:sp>
      <p:sp>
        <p:nvSpPr>
          <p:cNvPr id="54" name="Shape 42"/>
          <p:cNvSpPr/>
          <p:nvPr/>
        </p:nvSpPr>
        <p:spPr>
          <a:xfrm>
            <a:off x="4279392" y="5102352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9525">
            <a:solidFill>
              <a:srgbClr val="E3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3"/>
          <p:cNvSpPr/>
          <p:nvPr/>
        </p:nvSpPr>
        <p:spPr>
          <a:xfrm>
            <a:off x="4480560" y="5303520"/>
            <a:ext cx="566928" cy="566928"/>
          </a:xfrm>
          <a:prstGeom prst="ellipse">
            <a:avLst/>
          </a:prstGeom>
          <a:solidFill>
            <a:srgbClr val="1783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10" descr="assets/ic_bel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39300" y="5462260"/>
            <a:ext cx="249448" cy="249448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5193792" y="52669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SNS</a:t>
            </a:r>
            <a:endParaRPr lang="en-US" sz="1250"/>
          </a:p>
        </p:txBody>
      </p:sp>
      <p:sp>
        <p:nvSpPr>
          <p:cNvPr id="58" name="Text 45"/>
          <p:cNvSpPr/>
          <p:nvPr/>
        </p:nvSpPr>
        <p:spPr>
          <a:xfrm>
            <a:off x="5193792" y="563270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to reviewers on flagged findings</a:t>
            </a:r>
            <a:endParaRPr lang="en-US" sz="1000"/>
          </a:p>
        </p:txBody>
      </p:sp>
      <p:sp>
        <p:nvSpPr>
          <p:cNvPr id="59" name="Shape 46"/>
          <p:cNvSpPr/>
          <p:nvPr/>
        </p:nvSpPr>
        <p:spPr>
          <a:xfrm>
            <a:off x="8010144" y="5102352"/>
            <a:ext cx="3611880" cy="1097280"/>
          </a:xfrm>
          <a:prstGeom prst="roundRect">
            <a:avLst>
              <a:gd name="adj" fmla="val 6667"/>
            </a:avLst>
          </a:prstGeom>
          <a:solidFill>
            <a:srgbClr val="F4F2FA"/>
          </a:solidFill>
          <a:ln w="9525">
            <a:solidFill>
              <a:srgbClr val="E3E0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47"/>
          <p:cNvSpPr/>
          <p:nvPr/>
        </p:nvSpPr>
        <p:spPr>
          <a:xfrm>
            <a:off x="8211312" y="5303520"/>
            <a:ext cx="566928" cy="566928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1" name="Image 11" descr="assets/ic_key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70052" y="5462260"/>
            <a:ext cx="249448" cy="249448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8924544" y="526694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 + IAM</a:t>
            </a:r>
            <a:endParaRPr lang="en-US" sz="1250"/>
          </a:p>
        </p:txBody>
      </p:sp>
      <p:sp>
        <p:nvSpPr>
          <p:cNvPr id="63" name="Text 49"/>
          <p:cNvSpPr/>
          <p:nvPr/>
        </p:nvSpPr>
        <p:spPr>
          <a:xfrm>
            <a:off x="8924544" y="5632704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credentials — least-privilege access</a:t>
            </a:r>
            <a:endParaRPr lang="en-US" sz="1000"/>
          </a:p>
        </p:txBody>
      </p:sp>
      <p:sp>
        <p:nvSpPr>
          <p:cNvPr id="64" name="Text 50"/>
          <p:cNvSpPr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1100" b="1" i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accenture</a:t>
            </a:r>
            <a:r>
              <a:rPr lang="en-US" sz="11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aws</a:t>
            </a:r>
            <a:endParaRPr lang="en-US" sz="1100"/>
          </a:p>
        </p:txBody>
      </p:sp>
      <p:sp>
        <p:nvSpPr>
          <p:cNvPr id="65" name="Text 51"/>
          <p:cNvSpPr/>
          <p:nvPr/>
        </p:nvSpPr>
        <p:spPr>
          <a:xfrm>
            <a:off x="7315200" y="6419088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9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External MCP Integrations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reach real systems of record through Model Context Protocol servers — surfaced as tools via AgentCore Gateway.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0FAFB"/>
          </a:solidFill>
          <a:ln w="12700">
            <a:solidFill>
              <a:srgbClr val="178391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938528"/>
            <a:ext cx="749808" cy="749808"/>
          </a:xfrm>
          <a:prstGeom prst="ellipse">
            <a:avLst/>
          </a:prstGeom>
          <a:solidFill>
            <a:srgbClr val="1783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194" y="2148474"/>
            <a:ext cx="329916" cy="3299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202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QuickBooks / Xero MCP</a:t>
            </a:r>
            <a:endParaRPr lang="en-US" sz="1550"/>
          </a:p>
        </p:txBody>
      </p:sp>
      <p:sp>
        <p:nvSpPr>
          <p:cNvPr id="8" name="Text 5"/>
          <p:cNvSpPr/>
          <p:nvPr/>
        </p:nvSpPr>
        <p:spPr>
          <a:xfrm>
            <a:off x="841248" y="26060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live ledger entries, invoices and expense records so agents audit against the real books — not a stale export.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6428232" y="16459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0FAFB"/>
          </a:solidFill>
          <a:ln w="12700">
            <a:solidFill>
              <a:srgbClr val="178391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20840" y="1938528"/>
            <a:ext cx="749808" cy="749808"/>
          </a:xfrm>
          <a:prstGeom prst="ellipse">
            <a:avLst/>
          </a:prstGeom>
          <a:solidFill>
            <a:srgbClr val="1783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ic_buil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786" y="2148474"/>
            <a:ext cx="329916" cy="3299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08392" y="19202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/ ERP MCP</a:t>
            </a:r>
            <a:endParaRPr lang="en-US" sz="1550"/>
          </a:p>
        </p:txBody>
      </p:sp>
      <p:sp>
        <p:nvSpPr>
          <p:cNvPr id="13" name="Text 9"/>
          <p:cNvSpPr/>
          <p:nvPr/>
        </p:nvSpPr>
        <p:spPr>
          <a:xfrm>
            <a:off x="6720840" y="26060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enterprise financial master data and journal entries for org-wide statements and cross-entity reconciliation.</a:t>
            </a:r>
            <a:endParaRPr lang="en-US" sz="120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0FAFB"/>
          </a:solidFill>
          <a:ln w="12700">
            <a:solidFill>
              <a:srgbClr val="178391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" y="4041648"/>
            <a:ext cx="749808" cy="749808"/>
          </a:xfrm>
          <a:prstGeom prst="ellipse">
            <a:avLst/>
          </a:prstGeom>
          <a:solidFill>
            <a:srgbClr val="1783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_gav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194" y="4251594"/>
            <a:ext cx="329916" cy="3299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0233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MCP (SEC EDGAR / tax rules)</a:t>
            </a:r>
            <a:endParaRPr lang="en-US" sz="1550"/>
          </a:p>
        </p:txBody>
      </p:sp>
      <p:sp>
        <p:nvSpPr>
          <p:cNvPr id="18" name="Text 13"/>
          <p:cNvSpPr/>
          <p:nvPr/>
        </p:nvSpPr>
        <p:spPr>
          <a:xfrm>
            <a:off x="841248" y="4709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classifications and disclosures against current filing and tax rules for compliance-grade findings.</a:t>
            </a:r>
            <a:endParaRPr lang="en-US" sz="1200"/>
          </a:p>
        </p:txBody>
      </p:sp>
      <p:sp>
        <p:nvSpPr>
          <p:cNvPr id="19" name="Shape 14"/>
          <p:cNvSpPr/>
          <p:nvPr/>
        </p:nvSpPr>
        <p:spPr>
          <a:xfrm>
            <a:off x="6428232" y="37490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0FAFB"/>
          </a:solidFill>
          <a:ln w="12700">
            <a:solidFill>
              <a:srgbClr val="178391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720840" y="4041648"/>
            <a:ext cx="749808" cy="749808"/>
          </a:xfrm>
          <a:prstGeom prst="ellipse">
            <a:avLst/>
          </a:prstGeom>
          <a:solidFill>
            <a:srgbClr val="1783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ic_sla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0786" y="4251594"/>
            <a:ext cx="329916" cy="3299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08392" y="40233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/ Teams MCP</a:t>
            </a:r>
            <a:endParaRPr lang="en-US" sz="1550"/>
          </a:p>
        </p:txBody>
      </p:sp>
      <p:sp>
        <p:nvSpPr>
          <p:cNvPr id="23" name="Text 17"/>
          <p:cNvSpPr/>
          <p:nvPr/>
        </p:nvSpPr>
        <p:spPr>
          <a:xfrm>
            <a:off x="6720840" y="4709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flagged items and approval requests to reviewers in-channel, closing the human-in-the-loop instantly.</a:t>
            </a:r>
            <a:endParaRPr lang="en-US" sz="1200"/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i="1">
                <a:solidFill>
                  <a:srgbClr val="17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MCP: standardised, credential-scoped tool access means we plug into any system of record without custom glue code — and swap providers without touching the agents.</a:t>
            </a:r>
            <a:endParaRPr lang="en-US" sz="1150"/>
          </a:p>
        </p:txBody>
      </p:sp>
      <p:sp>
        <p:nvSpPr>
          <p:cNvPr id="25" name="Text 19"/>
          <p:cNvSpPr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1100" b="1" i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accenture</a:t>
            </a:r>
            <a:r>
              <a:rPr lang="en-US" sz="11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aws</a:t>
            </a:r>
            <a:endParaRPr lang="en-US" sz="1100"/>
          </a:p>
        </p:txBody>
      </p:sp>
      <p:sp>
        <p:nvSpPr>
          <p:cNvPr id="26" name="Text 20"/>
          <p:cNvSpPr/>
          <p:nvPr/>
        </p:nvSpPr>
        <p:spPr>
          <a:xfrm>
            <a:off x="7315200" y="6419088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9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Cost Breakdown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hackathon-MVP spend for one 4-week hack period — serverless &amp; on-demand keep it well under the $100 credit.</a:t>
            </a:r>
            <a:endParaRPr lang="en-US" sz="130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691640"/>
            <a:ext cx="3977640" cy="2011680"/>
          </a:xfrm>
          <a:prstGeom prst="roundRect">
            <a:avLst>
              <a:gd name="adj" fmla="val 4545"/>
            </a:avLst>
          </a:prstGeom>
          <a:solidFill>
            <a:srgbClr val="140F3C"/>
          </a:solidFill>
          <a:ln/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35240" y="187452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>
                <a:solidFill>
                  <a:srgbClr val="D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TOTAL / HACK PERIOD</a:t>
            </a:r>
            <a:endParaRPr lang="en-US" sz="1200"/>
          </a:p>
        </p:txBody>
      </p:sp>
      <p:sp>
        <p:nvSpPr>
          <p:cNvPr id="7" name="Text 4"/>
          <p:cNvSpPr/>
          <p:nvPr/>
        </p:nvSpPr>
        <p:spPr>
          <a:xfrm>
            <a:off x="7635240" y="214884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r>
              <a:rPr lang="en-US" sz="6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3400"/>
          </a:p>
        </p:txBody>
      </p:sp>
      <p:sp>
        <p:nvSpPr>
          <p:cNvPr id="8" name="Text 5"/>
          <p:cNvSpPr/>
          <p:nvPr/>
        </p:nvSpPr>
        <p:spPr>
          <a:xfrm>
            <a:off x="7635240" y="320040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$100 AWS credit  ·  ~33% headroom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7635240" y="3931920"/>
            <a:ext cx="457200" cy="457200"/>
          </a:xfrm>
          <a:prstGeom prst="ellipse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assets/ic_dol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256" y="4059936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11312" y="38862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MCP servers run on the vendor side — $0 AWS compute; only minimal egress.</a:t>
            </a:r>
            <a:endParaRPr lang="en-US" sz="1100"/>
          </a:p>
        </p:txBody>
      </p:sp>
      <p:sp>
        <p:nvSpPr>
          <p:cNvPr id="12" name="Shape 8"/>
          <p:cNvSpPr/>
          <p:nvPr/>
        </p:nvSpPr>
        <p:spPr>
          <a:xfrm>
            <a:off x="7635240" y="4645152"/>
            <a:ext cx="457200" cy="457200"/>
          </a:xfrm>
          <a:prstGeom prst="ellipse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assets/ic_lea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256" y="4773168"/>
            <a:ext cx="201168" cy="201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11312" y="4599432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(Lambda, Step Functions, on-demand DynamoDB) means we pay only per audit run.</a:t>
            </a:r>
            <a:endParaRPr lang="en-US" sz="1100"/>
          </a:p>
        </p:txBody>
      </p:sp>
      <p:sp>
        <p:nvSpPr>
          <p:cNvPr id="15" name="Shape 10"/>
          <p:cNvSpPr/>
          <p:nvPr/>
        </p:nvSpPr>
        <p:spPr>
          <a:xfrm>
            <a:off x="7635240" y="5358384"/>
            <a:ext cx="457200" cy="457200"/>
          </a:xfrm>
          <a:prstGeom prst="ellipse">
            <a:avLst/>
          </a:prstGeom>
          <a:solidFill>
            <a:srgbClr val="A100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3256" y="5486400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211312" y="531266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guardrails: Bedrock token caps, AgentCore session timeouts, CloudWatch budget alarms.</a:t>
            </a:r>
            <a:endParaRPr lang="en-US" sz="1100"/>
          </a:p>
        </p:txBody>
      </p:sp>
      <p:sp>
        <p:nvSpPr>
          <p:cNvPr id="18" name="Text 12"/>
          <p:cNvSpPr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1100" b="1" i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accenture</a:t>
            </a:r>
            <a:r>
              <a:rPr lang="en-US" sz="11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aws</a:t>
            </a:r>
            <a:endParaRPr lang="en-US" sz="1100"/>
          </a:p>
        </p:txBody>
      </p:sp>
      <p:sp>
        <p:nvSpPr>
          <p:cNvPr id="19" name="Text 13"/>
          <p:cNvSpPr/>
          <p:nvPr/>
        </p:nvSpPr>
        <p:spPr>
          <a:xfrm>
            <a:off x="7315200" y="6419088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9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1A1A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MVP Scope — What We Demo on 14 Aug</a:t>
            </a:r>
            <a:endParaRPr lang="en-US" sz="340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 what we can build and demo in the hack window — everything else is on the roadmap.</a:t>
            </a:r>
            <a:endParaRPr lang="en-US" sz="130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0FAFB"/>
          </a:solidFill>
          <a:ln w="12700">
            <a:solidFill>
              <a:srgbClr val="178391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1938528"/>
            <a:ext cx="749808" cy="749808"/>
          </a:xfrm>
          <a:prstGeom prst="ellipse">
            <a:avLst/>
          </a:prstGeom>
          <a:solidFill>
            <a:srgbClr val="1783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94" y="2148474"/>
            <a:ext cx="329916" cy="3299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202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— the agent team</a:t>
            </a:r>
            <a:endParaRPr lang="en-US" sz="1550"/>
          </a:p>
        </p:txBody>
      </p:sp>
      <p:sp>
        <p:nvSpPr>
          <p:cNvPr id="8" name="Text 5"/>
          <p:cNvSpPr/>
          <p:nvPr/>
        </p:nvSpPr>
        <p:spPr>
          <a:xfrm>
            <a:off x="841248" y="26060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specialist agents (P&amp;L, balance sheet, receipt, reconciliation), running end-to-end on AWS.</a:t>
            </a:r>
            <a:endParaRPr lang="en-US" sz="1200"/>
          </a:p>
        </p:txBody>
      </p:sp>
      <p:sp>
        <p:nvSpPr>
          <p:cNvPr id="9" name="Shape 6"/>
          <p:cNvSpPr/>
          <p:nvPr/>
        </p:nvSpPr>
        <p:spPr>
          <a:xfrm>
            <a:off x="6428232" y="164592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0FAFB"/>
          </a:solidFill>
          <a:ln w="12700">
            <a:solidFill>
              <a:srgbClr val="178391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20840" y="1938528"/>
            <a:ext cx="749808" cy="749808"/>
          </a:xfrm>
          <a:prstGeom prst="ellipse">
            <a:avLst/>
          </a:prstGeom>
          <a:solidFill>
            <a:srgbClr val="1783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ic_buil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0786" y="2148474"/>
            <a:ext cx="329916" cy="3299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08392" y="192024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— the core flow</a:t>
            </a:r>
            <a:endParaRPr lang="en-US" sz="1550"/>
          </a:p>
        </p:txBody>
      </p:sp>
      <p:sp>
        <p:nvSpPr>
          <p:cNvPr id="13" name="Text 9"/>
          <p:cNvSpPr/>
          <p:nvPr/>
        </p:nvSpPr>
        <p:spPr>
          <a:xfrm>
            <a:off x="6720840" y="26060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→ Textract OCR → agents reason → Step Functions human approval → SNS/Slack alert + report.</a:t>
            </a:r>
            <a:endParaRPr lang="en-US" sz="120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0FAFB"/>
          </a:solidFill>
          <a:ln w="12700">
            <a:solidFill>
              <a:srgbClr val="178391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1248" y="4041648"/>
            <a:ext cx="749808" cy="749808"/>
          </a:xfrm>
          <a:prstGeom prst="ellipse">
            <a:avLst/>
          </a:prstGeom>
          <a:solidFill>
            <a:srgbClr val="1783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ic_gav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194" y="4251594"/>
            <a:ext cx="329916" cy="3299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0233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— one live integration</a:t>
            </a:r>
            <a:endParaRPr lang="en-US" sz="1550"/>
          </a:p>
        </p:txBody>
      </p:sp>
      <p:sp>
        <p:nvSpPr>
          <p:cNvPr id="18" name="Text 13"/>
          <p:cNvSpPr/>
          <p:nvPr/>
        </p:nvSpPr>
        <p:spPr>
          <a:xfrm>
            <a:off x="841248" y="4709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MCP connector live (SEC EDGAR or QuickBooks sandbox); remaining systems of record are mocked.</a:t>
            </a:r>
            <a:endParaRPr lang="en-US" sz="1200"/>
          </a:p>
        </p:txBody>
      </p:sp>
      <p:sp>
        <p:nvSpPr>
          <p:cNvPr id="19" name="Shape 14"/>
          <p:cNvSpPr/>
          <p:nvPr/>
        </p:nvSpPr>
        <p:spPr>
          <a:xfrm>
            <a:off x="6428232" y="374904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0FAFB"/>
          </a:solidFill>
          <a:ln w="12700">
            <a:solidFill>
              <a:srgbClr val="178391"/>
            </a:solidFill>
            <a:prstDash val="solid"/>
          </a:ln>
          <a:effectLst>
            <a:outerShdw blurRad="101600" dist="25400" dir="5400000" algn="bl" rotWithShape="0">
              <a:srgbClr val="6A1B9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720840" y="4041648"/>
            <a:ext cx="749808" cy="749808"/>
          </a:xfrm>
          <a:prstGeom prst="ellipse">
            <a:avLst/>
          </a:prstGeom>
          <a:solidFill>
            <a:srgbClr val="17839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ic_sl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0786" y="4251594"/>
            <a:ext cx="329916" cy="3299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08392" y="4023360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to v2</a:t>
            </a:r>
            <a:endParaRPr lang="en-US" sz="1550"/>
          </a:p>
        </p:txBody>
      </p:sp>
      <p:sp>
        <p:nvSpPr>
          <p:cNvPr id="23" name="Text 17"/>
          <p:cNvSpPr/>
          <p:nvPr/>
        </p:nvSpPr>
        <p:spPr>
          <a:xfrm>
            <a:off x="6720840" y="47091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Fraud Detector, full QuickSight seats, and live SAP / ERP — all on the 3-month roadmap.</a:t>
            </a:r>
            <a:endParaRPr lang="en-US" sz="1200"/>
          </a:p>
        </p:txBody>
      </p:sp>
      <p:sp>
        <p:nvSpPr>
          <p:cNvPr id="24" name="Text 18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i="1">
                <a:solidFill>
                  <a:srgbClr val="17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held: AWS-native only · $100 credit (est. $67) · team-level impact · live demo · no hardcoded credentials.</a:t>
            </a:r>
            <a:endParaRPr lang="en-US" sz="1150"/>
          </a:p>
        </p:txBody>
      </p:sp>
      <p:sp>
        <p:nvSpPr>
          <p:cNvPr id="25" name="Text 19"/>
          <p:cNvSpPr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1100" b="1" i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accenture</a:t>
            </a:r>
            <a:r>
              <a:rPr lang="en-US" sz="11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aws</a:t>
            </a:r>
            <a:endParaRPr lang="en-US" sz="1100"/>
          </a:p>
        </p:txBody>
      </p:sp>
      <p:sp>
        <p:nvSpPr>
          <p:cNvPr id="26" name="Text 20"/>
          <p:cNvSpPr/>
          <p:nvPr/>
        </p:nvSpPr>
        <p:spPr>
          <a:xfrm>
            <a:off x="7315200" y="6419088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6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9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Built to Last</a:t>
            </a:r>
            <a:endParaRPr lang="en-US" sz="380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D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Responsible-AI by design, and a clear path to production.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40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53288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35000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1325880" y="2715768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4D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returns an independent, traceable finding — no black-box verdicts.</a:t>
            </a:r>
            <a:endParaRPr lang="en-US" sz="1150"/>
          </a:p>
        </p:txBody>
      </p:sp>
      <p:sp>
        <p:nvSpPr>
          <p:cNvPr id="9" name="Shape 6"/>
          <p:cNvSpPr/>
          <p:nvPr/>
        </p:nvSpPr>
        <p:spPr>
          <a:xfrm>
            <a:off x="548640" y="3410712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703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520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</a:t>
            </a:r>
            <a:endParaRPr lang="en-US" sz="1500"/>
          </a:p>
        </p:txBody>
      </p:sp>
      <p:sp>
        <p:nvSpPr>
          <p:cNvPr id="12" name="Text 8"/>
          <p:cNvSpPr/>
          <p:nvPr/>
        </p:nvSpPr>
        <p:spPr>
          <a:xfrm>
            <a:off x="1325880" y="3886200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4D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 + full observability on every agent action.</a:t>
            </a:r>
            <a:endParaRPr lang="en-US" sz="1150"/>
          </a:p>
        </p:txBody>
      </p:sp>
      <p:sp>
        <p:nvSpPr>
          <p:cNvPr id="13" name="Shape 9"/>
          <p:cNvSpPr/>
          <p:nvPr/>
        </p:nvSpPr>
        <p:spPr>
          <a:xfrm>
            <a:off x="548640" y="4581144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assets/ic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7375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469087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500"/>
          </a:p>
        </p:txBody>
      </p:sp>
      <p:sp>
        <p:nvSpPr>
          <p:cNvPr id="16" name="Text 11"/>
          <p:cNvSpPr/>
          <p:nvPr/>
        </p:nvSpPr>
        <p:spPr>
          <a:xfrm>
            <a:off x="1325880" y="50566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4DF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flagged item is actioned without human approval via Step Functions.</a:t>
            </a:r>
            <a:endParaRPr lang="en-US" sz="1150"/>
          </a:p>
        </p:txBody>
      </p:sp>
      <p:sp>
        <p:nvSpPr>
          <p:cNvPr id="17" name="Text 12"/>
          <p:cNvSpPr/>
          <p:nvPr/>
        </p:nvSpPr>
        <p:spPr>
          <a:xfrm>
            <a:off x="612648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— v2 IN 3 MONTHS</a:t>
            </a:r>
            <a:endParaRPr lang="en-US" sz="1400"/>
          </a:p>
        </p:txBody>
      </p:sp>
      <p:sp>
        <p:nvSpPr>
          <p:cNvPr id="18" name="Shape 13"/>
          <p:cNvSpPr/>
          <p:nvPr/>
        </p:nvSpPr>
        <p:spPr>
          <a:xfrm>
            <a:off x="6126480" y="2240280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6126480" y="22402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20" name="Text 15"/>
          <p:cNvSpPr/>
          <p:nvPr/>
        </p:nvSpPr>
        <p:spPr>
          <a:xfrm>
            <a:off x="6656832" y="220370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/>
          </a:p>
        </p:txBody>
      </p:sp>
      <p:sp>
        <p:nvSpPr>
          <p:cNvPr id="21" name="Text 16"/>
          <p:cNvSpPr/>
          <p:nvPr/>
        </p:nvSpPr>
        <p:spPr>
          <a:xfrm>
            <a:off x="7772400" y="218541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agents, 3 document types, single-team demo on AWS.</a:t>
            </a:r>
            <a:endParaRPr lang="en-US" sz="1150"/>
          </a:p>
        </p:txBody>
      </p:sp>
      <p:sp>
        <p:nvSpPr>
          <p:cNvPr id="22" name="Shape 17"/>
          <p:cNvSpPr/>
          <p:nvPr/>
        </p:nvSpPr>
        <p:spPr>
          <a:xfrm>
            <a:off x="6327648" y="2642616"/>
            <a:ext cx="0" cy="384048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126480" y="3026664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6126480" y="30266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25" name="Text 20"/>
          <p:cNvSpPr/>
          <p:nvPr/>
        </p:nvSpPr>
        <p:spPr>
          <a:xfrm>
            <a:off x="6656832" y="29900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mo</a:t>
            </a:r>
            <a:endParaRPr lang="en-US" sz="1300"/>
          </a:p>
        </p:txBody>
      </p:sp>
      <p:sp>
        <p:nvSpPr>
          <p:cNvPr id="26" name="Text 21"/>
          <p:cNvSpPr/>
          <p:nvPr/>
        </p:nvSpPr>
        <p:spPr>
          <a:xfrm>
            <a:off x="7772400" y="2971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cash-flow &amp; tax agents; Fraud Detector, QuickSight seats, connectors (NetSuite, Workday).</a:t>
            </a:r>
            <a:endParaRPr lang="en-US" sz="1150"/>
          </a:p>
        </p:txBody>
      </p:sp>
      <p:sp>
        <p:nvSpPr>
          <p:cNvPr id="27" name="Shape 22"/>
          <p:cNvSpPr/>
          <p:nvPr/>
        </p:nvSpPr>
        <p:spPr>
          <a:xfrm>
            <a:off x="6327648" y="3429000"/>
            <a:ext cx="0" cy="384048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126480" y="3813048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6126480" y="38130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30" name="Text 25"/>
          <p:cNvSpPr/>
          <p:nvPr/>
        </p:nvSpPr>
        <p:spPr>
          <a:xfrm>
            <a:off x="6656832" y="377647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 mo</a:t>
            </a:r>
            <a:endParaRPr lang="en-US" sz="1300"/>
          </a:p>
        </p:txBody>
      </p:sp>
      <p:sp>
        <p:nvSpPr>
          <p:cNvPr id="31" name="Text 26"/>
          <p:cNvSpPr/>
          <p:nvPr/>
        </p:nvSpPr>
        <p:spPr>
          <a:xfrm>
            <a:off x="7772400" y="375818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audit — auto-trigger on new uploads via S3 events.</a:t>
            </a:r>
            <a:endParaRPr lang="en-US" sz="1150"/>
          </a:p>
        </p:txBody>
      </p:sp>
      <p:sp>
        <p:nvSpPr>
          <p:cNvPr id="32" name="Shape 27"/>
          <p:cNvSpPr/>
          <p:nvPr/>
        </p:nvSpPr>
        <p:spPr>
          <a:xfrm>
            <a:off x="6327648" y="4215384"/>
            <a:ext cx="0" cy="384048"/>
          </a:xfrm>
          <a:prstGeom prst="line">
            <a:avLst/>
          </a:prstGeom>
          <a:noFill/>
          <a:ln w="19050">
            <a:solidFill>
              <a:srgbClr val="FFFFFF">
                <a:alpha val="60000"/>
              </a:srgbClr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6126480" y="4599432"/>
            <a:ext cx="402336" cy="40233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/>
          <p:nvPr/>
        </p:nvSpPr>
        <p:spPr>
          <a:xfrm>
            <a:off x="6126480" y="4599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35" name="Text 30"/>
          <p:cNvSpPr/>
          <p:nvPr/>
        </p:nvSpPr>
        <p:spPr>
          <a:xfrm>
            <a:off x="6656832" y="456285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mo</a:t>
            </a:r>
            <a:endParaRPr lang="en-US" sz="1300"/>
          </a:p>
        </p:txBody>
      </p:sp>
      <p:sp>
        <p:nvSpPr>
          <p:cNvPr id="36" name="Text 31"/>
          <p:cNvSpPr/>
          <p:nvPr/>
        </p:nvSpPr>
        <p:spPr>
          <a:xfrm>
            <a:off x="7772400" y="45445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Org-wide rollout with per-entity dashboards and SSO.</a:t>
            </a:r>
            <a:endParaRPr lang="en-US" sz="1150"/>
          </a:p>
        </p:txBody>
      </p:sp>
      <p:sp>
        <p:nvSpPr>
          <p:cNvPr id="37" name="Text 32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FinSightOps — audit at machine speed, with a human always in command.</a:t>
            </a:r>
            <a:endParaRPr lang="en-US" sz="1400"/>
          </a:p>
        </p:txBody>
      </p:sp>
      <p:sp>
        <p:nvSpPr>
          <p:cNvPr id="38" name="Text 33"/>
          <p:cNvSpPr/>
          <p:nvPr/>
        </p:nvSpPr>
        <p:spPr>
          <a:xfrm>
            <a:off x="457200" y="6419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1100" b="1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accenture</a:t>
            </a:r>
            <a:r>
              <a:rPr lang="en-US" sz="1100" b="1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aws</a:t>
            </a:r>
            <a:endParaRPr lang="en-US" sz="1100"/>
          </a:p>
        </p:txBody>
      </p:sp>
      <p:sp>
        <p:nvSpPr>
          <p:cNvPr id="39" name="Text 34"/>
          <p:cNvSpPr/>
          <p:nvPr/>
        </p:nvSpPr>
        <p:spPr>
          <a:xfrm>
            <a:off x="7315200" y="6419088"/>
            <a:ext cx="4416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>
                <a:solidFill>
                  <a:srgbClr val="D9D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9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20</cp:revision>
  <dcterms:created xsi:type="dcterms:W3CDTF">2026-07-21T15:25:23Z</dcterms:created>
  <dcterms:modified xsi:type="dcterms:W3CDTF">2026-07-30T12:48:59Z</dcterms:modified>
</cp:coreProperties>
</file>
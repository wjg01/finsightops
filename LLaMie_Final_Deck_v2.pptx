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3_0.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5_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0F_0.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8" r:id="rId3"/>
    <p:sldId id="259" r:id="rId4"/>
    <p:sldId id="260" r:id="rId5"/>
    <p:sldId id="261" r:id="rId6"/>
    <p:sldId id="262" r:id="rId7"/>
    <p:sldId id="257" r:id="rId8"/>
    <p:sldId id="277" r:id="rId9"/>
    <p:sldId id="278" r:id="rId10"/>
    <p:sldId id="279" r:id="rId11"/>
    <p:sldId id="280" r:id="rId12"/>
    <p:sldId id="281" r:id="rId13"/>
    <p:sldId id="263" r:id="rId14"/>
    <p:sldId id="264" r:id="rId15"/>
    <p:sldId id="265" r:id="rId16"/>
    <p:sldId id="266" r:id="rId17"/>
    <p:sldId id="267" r:id="rId18"/>
    <p:sldId id="268" r:id="rId19"/>
    <p:sldId id="269" r:id="rId20"/>
    <p:sldId id="270" r:id="rId21"/>
    <p:sldId id="271" r:id="rId22"/>
    <p:sldId id="272" r:id="rId23"/>
    <p:sldId id="274"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907E02D-EFA3-949E-313D-9DD04475D313}" name="Abdul Aziz, Muhammad Fikhri" initials="MA" userId="S::m.b.abdul.aziz@accenture.com::2b753c4d-a917-4217-8ad5-a01a232c53c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E2E2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4DD968-E20D-468F-9134-FCF33C4DE8F5}" v="1" dt="2026-08-14T05:31:27.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 Wei Jun" userId="dcc15d3b-84d1-45aa-8786-9aca983fae4f" providerId="ADAL" clId="{7B66EDB9-5FD7-45A5-82DF-322CAE710554}"/>
    <pc:docChg chg="addSld delSld modSld">
      <pc:chgData name="Gan, Wei Jun" userId="dcc15d3b-84d1-45aa-8786-9aca983fae4f" providerId="ADAL" clId="{7B66EDB9-5FD7-45A5-82DF-322CAE710554}" dt="2026-08-14T05:33:04.003" v="1" actId="47"/>
      <pc:docMkLst>
        <pc:docMk/>
      </pc:docMkLst>
      <pc:sldChg chg="add">
        <pc:chgData name="Gan, Wei Jun" userId="dcc15d3b-84d1-45aa-8786-9aca983fae4f" providerId="ADAL" clId="{7B66EDB9-5FD7-45A5-82DF-322CAE710554}" dt="2026-08-14T05:31:27.093" v="0"/>
        <pc:sldMkLst>
          <pc:docMk/>
          <pc:sldMk cId="0" sldId="257"/>
        </pc:sldMkLst>
      </pc:sldChg>
      <pc:sldChg chg="add">
        <pc:chgData name="Gan, Wei Jun" userId="dcc15d3b-84d1-45aa-8786-9aca983fae4f" providerId="ADAL" clId="{7B66EDB9-5FD7-45A5-82DF-322CAE710554}" dt="2026-08-14T05:31:27.093" v="0"/>
        <pc:sldMkLst>
          <pc:docMk/>
          <pc:sldMk cId="0" sldId="263"/>
        </pc:sldMkLst>
      </pc:sldChg>
      <pc:sldChg chg="add">
        <pc:chgData name="Gan, Wei Jun" userId="dcc15d3b-84d1-45aa-8786-9aca983fae4f" providerId="ADAL" clId="{7B66EDB9-5FD7-45A5-82DF-322CAE710554}" dt="2026-08-14T05:31:27.093" v="0"/>
        <pc:sldMkLst>
          <pc:docMk/>
          <pc:sldMk cId="0" sldId="264"/>
        </pc:sldMkLst>
      </pc:sldChg>
      <pc:sldChg chg="del">
        <pc:chgData name="Gan, Wei Jun" userId="dcc15d3b-84d1-45aa-8786-9aca983fae4f" providerId="ADAL" clId="{7B66EDB9-5FD7-45A5-82DF-322CAE710554}" dt="2026-08-14T05:33:04.003" v="1" actId="47"/>
        <pc:sldMkLst>
          <pc:docMk/>
          <pc:sldMk cId="1013382231" sldId="276"/>
        </pc:sldMkLst>
      </pc:sldChg>
      <pc:sldChg chg="add">
        <pc:chgData name="Gan, Wei Jun" userId="dcc15d3b-84d1-45aa-8786-9aca983fae4f" providerId="ADAL" clId="{7B66EDB9-5FD7-45A5-82DF-322CAE710554}" dt="2026-08-14T05:31:27.093" v="0"/>
        <pc:sldMkLst>
          <pc:docMk/>
          <pc:sldMk cId="0" sldId="277"/>
        </pc:sldMkLst>
      </pc:sldChg>
      <pc:sldChg chg="add">
        <pc:chgData name="Gan, Wei Jun" userId="dcc15d3b-84d1-45aa-8786-9aca983fae4f" providerId="ADAL" clId="{7B66EDB9-5FD7-45A5-82DF-322CAE710554}" dt="2026-08-14T05:31:27.093" v="0"/>
        <pc:sldMkLst>
          <pc:docMk/>
          <pc:sldMk cId="0" sldId="278"/>
        </pc:sldMkLst>
      </pc:sldChg>
      <pc:sldChg chg="add">
        <pc:chgData name="Gan, Wei Jun" userId="dcc15d3b-84d1-45aa-8786-9aca983fae4f" providerId="ADAL" clId="{7B66EDB9-5FD7-45A5-82DF-322CAE710554}" dt="2026-08-14T05:31:27.093" v="0"/>
        <pc:sldMkLst>
          <pc:docMk/>
          <pc:sldMk cId="0" sldId="279"/>
        </pc:sldMkLst>
      </pc:sldChg>
      <pc:sldChg chg="add">
        <pc:chgData name="Gan, Wei Jun" userId="dcc15d3b-84d1-45aa-8786-9aca983fae4f" providerId="ADAL" clId="{7B66EDB9-5FD7-45A5-82DF-322CAE710554}" dt="2026-08-14T05:31:27.093" v="0"/>
        <pc:sldMkLst>
          <pc:docMk/>
          <pc:sldMk cId="0" sldId="280"/>
        </pc:sldMkLst>
      </pc:sldChg>
      <pc:sldChg chg="add">
        <pc:chgData name="Gan, Wei Jun" userId="dcc15d3b-84d1-45aa-8786-9aca983fae4f" providerId="ADAL" clId="{7B66EDB9-5FD7-45A5-82DF-322CAE710554}" dt="2026-08-14T05:31:27.093" v="0"/>
        <pc:sldMkLst>
          <pc:docMk/>
          <pc:sldMk cId="0" sldId="281"/>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2101F"/>
                </a:solidFill>
                <a:latin typeface="Calibri"/>
              </a:defRPr>
            </a:pPr>
            <a:r>
              <a:rPr lang="en-US" sz="1150" b="0" i="0" u="none" strike="noStrike">
                <a:solidFill>
                  <a:srgbClr val="12101F"/>
                </a:solidFill>
                <a:latin typeface="Calibri"/>
              </a:rPr>
              <a:t>Estimated spend by service (USD)</a:t>
            </a:r>
          </a:p>
        </c:rich>
      </c:tx>
      <c:overlay val="0"/>
    </c:title>
    <c:autoTitleDeleted val="0"/>
    <c:plotArea>
      <c:layout/>
      <c:barChart>
        <c:barDir val="bar"/>
        <c:grouping val="clustered"/>
        <c:varyColors val="0"/>
        <c:ser>
          <c:idx val="0"/>
          <c:order val="0"/>
          <c:tx>
            <c:strRef>
              <c:f>Sheet1!$B$1</c:f>
              <c:strCache>
                <c:ptCount val="1"/>
                <c:pt idx="0">
                  <c:v>USD per hack period</c:v>
                </c:pt>
              </c:strCache>
            </c:strRef>
          </c:tx>
          <c:spPr>
            <a:solidFill>
              <a:srgbClr val="A100FF"/>
            </a:solidFill>
            <a:effectLst/>
          </c:spPr>
          <c:invertIfNegative val="0"/>
          <c:dLbls>
            <c:numFmt formatCode="&quot;$&quot;#,##0" sourceLinked="0"/>
            <c:spPr>
              <a:noFill/>
              <a:ln>
                <a:noFill/>
              </a:ln>
              <a:effectLst/>
            </c:spPr>
            <c:txPr>
              <a:bodyPr/>
              <a:lstStyle/>
              <a:p>
                <a:pPr>
                  <a:defRPr sz="1000" b="0" i="0" u="none" strike="noStrike">
                    <a:solidFill>
                      <a:srgbClr val="1210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Bedrock (Claude) inference</c:v>
                </c:pt>
                <c:pt idx="1">
                  <c:v>Textract OCR</c:v>
                </c:pt>
                <c:pt idx="2">
                  <c:v>DynamoDB</c:v>
                </c:pt>
                <c:pt idx="3">
                  <c:v>Lambda + S3 + Secrets</c:v>
                </c:pt>
              </c:strCache>
            </c:strRef>
          </c:cat>
          <c:val>
            <c:numRef>
              <c:f>Sheet1!$B$2:$B$5</c:f>
              <c:numCache>
                <c:formatCode>General</c:formatCode>
                <c:ptCount val="4"/>
                <c:pt idx="0">
                  <c:v>24</c:v>
                </c:pt>
                <c:pt idx="1">
                  <c:v>6</c:v>
                </c:pt>
                <c:pt idx="2">
                  <c:v>3</c:v>
                </c:pt>
                <c:pt idx="3">
                  <c:v>3</c:v>
                </c:pt>
              </c:numCache>
            </c:numRef>
          </c:val>
          <c:extLst>
            <c:ext xmlns:c16="http://schemas.microsoft.com/office/drawing/2014/chart" uri="{C3380CC4-5D6E-409C-BE32-E72D297353CC}">
              <c16:uniqueId val="{00000000-2CCB-4CDA-B5AB-667AFE1CD5A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4B5563"/>
                </a:solidFill>
                <a:latin typeface="Calibri"/>
              </a:defRPr>
            </a:pPr>
            <a:endParaRPr lang="en-US"/>
          </a:p>
        </c:txPr>
        <c:crossAx val="2094734552"/>
        <c:crosses val="autoZero"/>
        <c:auto val="1"/>
        <c:lblAlgn val="ctr"/>
        <c:lblOffset val="100"/>
        <c:noMultiLvlLbl val="1"/>
      </c:catAx>
      <c:valAx>
        <c:axId val="2094734552"/>
        <c:scaling>
          <c:orientation val="minMax"/>
          <c:max val="3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omments/modernComment_10F_0.xml><?xml version="1.0" encoding="utf-8"?>
<p188:cmLst xmlns:a="http://schemas.openxmlformats.org/drawingml/2006/main" xmlns:r="http://schemas.openxmlformats.org/officeDocument/2006/relationships" xmlns:p188="http://schemas.microsoft.com/office/powerpoint/2018/8/main">
  <p188:cm id="{0763622D-7865-42E3-A9FB-0642DBE7F0BC}" authorId="{0907E02D-EFA3-949E-313D-9DD04475D313}" created="2026-08-13T16:41:40.979">
    <pc:sldMkLst xmlns:pc="http://schemas.microsoft.com/office/powerpoint/2013/main/command">
      <pc:docMk/>
      <pc:sldMk cId="0" sldId="271"/>
    </pc:sldMkLst>
    <p188:txBody>
      <a:bodyPr/>
      <a:lstStyle/>
      <a:p>
        <a:r>
          <a:rPr lang="en-US"/>
          <a:t>Fraud detection agent in the roadmap</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C67FE6F1-9B77-4369-8A17-3388343EC361}" authorId="{0907E02D-EFA3-949E-313D-9DD04475D313}" created="2026-08-13T16:32:06.153">
    <pc:sldMkLst xmlns:pc="http://schemas.microsoft.com/office/powerpoint/2013/main/command">
      <pc:docMk/>
      <pc:sldMk cId="0" sldId="259"/>
    </pc:sldMkLst>
    <p188:txBody>
      <a:bodyPr/>
      <a:lstStyle/>
      <a:p>
        <a:r>
          <a:rPr lang="en-US"/>
          <a:t>Extraction, OCR</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E763864C-3949-481D-AFF4-C729E6AEB8E3}" authorId="{0907E02D-EFA3-949E-313D-9DD04475D313}" created="2026-08-13T16:35:33.049">
    <pc:sldMkLst xmlns:pc="http://schemas.microsoft.com/office/powerpoint/2013/main/command">
      <pc:docMk/>
      <pc:sldMk cId="0" sldId="261"/>
    </pc:sldMkLst>
    <p188:txBody>
      <a:bodyPr/>
      <a:lstStyle/>
      <a:p>
        <a:r>
          <a:rPr lang="en-US"/>
          <a:t>IAM, Strands, API, Runner Agent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6976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one-liner: 'Weeks of manual review become minutes, and every figure stays traceable to the document it came from.' 20 seconds, then move. Demo is 14 August.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30 seconds. The expensive human hours go into posting and cross-checking, not judgment. That sets up why the work is split across specialist agents.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seconds. Key line for judges: four specialists, each with a narrow job, each a Strands agent in its own Lambda. Explainability comes from the separation — every finding is attributable to one agent and persisted with its evidence.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seconds, left to right then down. Three beats: (1) an upload to S3 is the trigger — no one presses go; (2) the ledger agent is the gate, and the two statement agents run off the trial balance it produces; (3) every agent persists its result to one DynamoDB table, which is exactly what the dashboard reads — so the judge is looking at real stored output, not a rendered summary.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Place the AWS architecture diagram in the frame on this slide. Narrate it in about 45 seconds, then move on: the logical pipeline is already covered on the previous slide, so keep this one to the services and how they connect.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slide for a technical judge. Don't read all eight steps — narrate 2, 3, 5 and 8. If they ask what happens when an agent fails, that's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anyone has a citable figure for hours spent on manual close work, add it — but only if it can be sourced. The strongest point is traceability: it is what makes the output usable in a real engagement rather than a demo.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Strongest technical line: 'we do not trust an LLM with arithmetic, and we don't have to.' Second: the double-entry gate — the system refuses to produce statements from books that don't balance. If asked why Strands over a managed runtime, the answer is on the innovation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Lead with 2 for a cloud judge and 4 for a finance judge. Number 2 is the one worth defending out loud: choosing an open SDK over a managed agent runtime means no proprietary orchestration to unpick later, and the framework itself adds nothing to the bill.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One-line version: adding capability here means adding an agent, not rebuilding the system. Be honest about the first ceiling — synchronous Textract throughput and Bedrock quotas, both of which have known managed answers.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BEFORE 14 AUG: replace the '$ __' with the real figure from AWS Billing and paste a Cost Explorer screenshot into the frame on the right. The point to land is that we did not come in under the credit by accident, we came in under it by removing everything the audit did not need. Bedrock inference is the only line that grows meaningfully at production volume.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Sustainability is 5% — spend 30 seconds. Scale-to-zero and the subtraction point are the two credible claims. Resist inventing a carbon figure; the honest framing at the bottom scores better than a made-up percentage.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Judges ask 'what would you do with more time' — this is the pre-baked answer. Everything on the roadmap is an addition to the current design, not a replacement of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BEFORE 14 AUG: embed the recorded run in the frame on the left (Insert &gt; Video &gt; This Device, then set it to play full screen). Open the live portal in a second window before you start. If the live run has not reached the ledger stage within about fifteen seconds, say 'let me show you the recorded run' and play it. Do not debug on stage.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Leave this on screen during questions. Do not summarise the deck again.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1463040"/>
            <a:ext cx="7863840" cy="914400"/>
          </a:xfrm>
          <a:prstGeom prst="rect">
            <a:avLst/>
          </a:prstGeom>
          <a:noFill/>
          <a:ln/>
        </p:spPr>
        <p:txBody>
          <a:bodyPr wrap="square" lIns="0" tIns="0" rIns="0" bIns="0" rtlCol="0" anchor="ctr"/>
          <a:lstStyle/>
          <a:p>
            <a:pPr marL="0" indent="0">
              <a:buNone/>
            </a:pPr>
            <a:r>
              <a:rPr lang="en-US" sz="4600" b="1">
                <a:solidFill>
                  <a:srgbClr val="FFFFFF"/>
                </a:solidFill>
                <a:latin typeface="Bookman Old Style" pitchFamily="34" charset="0"/>
                <a:ea typeface="Bookman Old Style" pitchFamily="34" charset="-122"/>
                <a:cs typeface="Bookman Old Style" pitchFamily="34" charset="-120"/>
              </a:rPr>
              <a:t>FinSightOps</a:t>
            </a:r>
            <a:endParaRPr lang="en-US" sz="4600"/>
          </a:p>
        </p:txBody>
      </p:sp>
      <p:sp>
        <p:nvSpPr>
          <p:cNvPr id="3" name="Text 1"/>
          <p:cNvSpPr/>
          <p:nvPr/>
        </p:nvSpPr>
        <p:spPr>
          <a:xfrm>
            <a:off x="566928" y="2468880"/>
            <a:ext cx="8229600" cy="457200"/>
          </a:xfrm>
          <a:prstGeom prst="rect">
            <a:avLst/>
          </a:prstGeom>
          <a:noFill/>
          <a:ln/>
        </p:spPr>
        <p:txBody>
          <a:bodyPr wrap="square" lIns="0" tIns="0" rIns="0" bIns="0" rtlCol="0" anchor="ctr"/>
          <a:lstStyle/>
          <a:p>
            <a:pPr marL="0" indent="0">
              <a:buNone/>
            </a:pPr>
            <a:r>
              <a:rPr lang="en-US" sz="2200" b="1">
                <a:solidFill>
                  <a:srgbClr val="FF9900"/>
                </a:solidFill>
                <a:latin typeface="Calibri" pitchFamily="34" charset="0"/>
                <a:ea typeface="Calibri" pitchFamily="34" charset="-122"/>
                <a:cs typeface="Calibri" pitchFamily="34" charset="-120"/>
              </a:rPr>
              <a:t>An Agentic AI Finance &amp; Audit Team on AWS</a:t>
            </a:r>
            <a:endParaRPr lang="en-US" sz="2200"/>
          </a:p>
        </p:txBody>
      </p:sp>
      <p:sp>
        <p:nvSpPr>
          <p:cNvPr id="4" name="Text 2"/>
          <p:cNvSpPr/>
          <p:nvPr/>
        </p:nvSpPr>
        <p:spPr>
          <a:xfrm>
            <a:off x="566928" y="3017520"/>
            <a:ext cx="8046720" cy="731520"/>
          </a:xfrm>
          <a:prstGeom prst="rect">
            <a:avLst/>
          </a:prstGeom>
          <a:noFill/>
          <a:ln/>
        </p:spPr>
        <p:txBody>
          <a:bodyPr wrap="square" lIns="0" tIns="0" rIns="0" bIns="0" rtlCol="0" anchor="ctr"/>
          <a:lstStyle/>
          <a:p>
            <a:pPr marL="0" indent="0">
              <a:lnSpc>
                <a:spcPts val="2000"/>
              </a:lnSpc>
              <a:buNone/>
            </a:pPr>
            <a:r>
              <a:rPr lang="en-US" sz="1400">
                <a:solidFill>
                  <a:srgbClr val="E8DEF8"/>
                </a:solidFill>
                <a:latin typeface="Calibri" pitchFamily="34" charset="0"/>
                <a:ea typeface="Calibri" pitchFamily="34" charset="-122"/>
                <a:cs typeface="Calibri" pitchFamily="34" charset="-120"/>
              </a:rPr>
              <a:t>AWS-native multi-agent auditing on the Strands Agent Framework. Four specialist agents turn uploaded documents into a reconciled set of statements, with every result on one dashboard.</a:t>
            </a:r>
            <a:endParaRPr lang="en-US" sz="1400"/>
          </a:p>
        </p:txBody>
      </p:sp>
      <p:sp>
        <p:nvSpPr>
          <p:cNvPr id="5" name="Shape 3"/>
          <p:cNvSpPr/>
          <p:nvPr/>
        </p:nvSpPr>
        <p:spPr>
          <a:xfrm>
            <a:off x="566928" y="3931920"/>
            <a:ext cx="2606040" cy="475488"/>
          </a:xfrm>
          <a:prstGeom prst="roundRect">
            <a:avLst>
              <a:gd name="adj" fmla="val 50000"/>
            </a:avLst>
          </a:prstGeom>
          <a:solidFill>
            <a:srgbClr val="FFFFFF">
              <a:alpha val="18000"/>
            </a:srgbClr>
          </a:solidFill>
          <a:ln w="9525">
            <a:solidFill>
              <a:srgbClr val="D9C7F5"/>
            </a:solidFill>
            <a:prstDash val="solid"/>
          </a:ln>
        </p:spPr>
        <p:txBody>
          <a:bodyPr/>
          <a:lstStyle/>
          <a:p>
            <a:endParaRPr lang="en-US"/>
          </a:p>
        </p:txBody>
      </p:sp>
      <p:sp>
        <p:nvSpPr>
          <p:cNvPr id="6" name="Text 4"/>
          <p:cNvSpPr/>
          <p:nvPr/>
        </p:nvSpPr>
        <p:spPr>
          <a:xfrm>
            <a:off x="566928" y="3931920"/>
            <a:ext cx="260604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Strands Agent Framework</a:t>
            </a:r>
            <a:endParaRPr lang="en-US" sz="1100"/>
          </a:p>
        </p:txBody>
      </p:sp>
      <p:sp>
        <p:nvSpPr>
          <p:cNvPr id="7" name="Shape 5"/>
          <p:cNvSpPr/>
          <p:nvPr/>
        </p:nvSpPr>
        <p:spPr>
          <a:xfrm>
            <a:off x="3310128" y="3931920"/>
            <a:ext cx="1600200" cy="475488"/>
          </a:xfrm>
          <a:prstGeom prst="roundRect">
            <a:avLst>
              <a:gd name="adj" fmla="val 50000"/>
            </a:avLst>
          </a:prstGeom>
          <a:solidFill>
            <a:srgbClr val="FFFFFF">
              <a:alpha val="18000"/>
            </a:srgbClr>
          </a:solidFill>
          <a:ln w="9525">
            <a:solidFill>
              <a:srgbClr val="D9C7F5"/>
            </a:solidFill>
            <a:prstDash val="solid"/>
          </a:ln>
        </p:spPr>
        <p:txBody>
          <a:bodyPr/>
          <a:lstStyle/>
          <a:p>
            <a:endParaRPr lang="en-US"/>
          </a:p>
        </p:txBody>
      </p:sp>
      <p:sp>
        <p:nvSpPr>
          <p:cNvPr id="8" name="Text 6"/>
          <p:cNvSpPr/>
          <p:nvPr/>
        </p:nvSpPr>
        <p:spPr>
          <a:xfrm>
            <a:off x="3310128" y="3931920"/>
            <a:ext cx="160020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Multi-Agent</a:t>
            </a:r>
            <a:endParaRPr lang="en-US" sz="1100"/>
          </a:p>
        </p:txBody>
      </p:sp>
      <p:sp>
        <p:nvSpPr>
          <p:cNvPr id="9" name="Shape 7"/>
          <p:cNvSpPr/>
          <p:nvPr/>
        </p:nvSpPr>
        <p:spPr>
          <a:xfrm>
            <a:off x="5047488" y="3931920"/>
            <a:ext cx="1965960" cy="475488"/>
          </a:xfrm>
          <a:prstGeom prst="roundRect">
            <a:avLst>
              <a:gd name="adj" fmla="val 50000"/>
            </a:avLst>
          </a:prstGeom>
          <a:solidFill>
            <a:srgbClr val="FFFFFF">
              <a:alpha val="18000"/>
            </a:srgbClr>
          </a:solidFill>
          <a:ln w="9525">
            <a:solidFill>
              <a:srgbClr val="D9C7F5"/>
            </a:solidFill>
            <a:prstDash val="solid"/>
          </a:ln>
        </p:spPr>
        <p:txBody>
          <a:bodyPr/>
          <a:lstStyle/>
          <a:p>
            <a:endParaRPr lang="en-US"/>
          </a:p>
        </p:txBody>
      </p:sp>
      <p:sp>
        <p:nvSpPr>
          <p:cNvPr id="10" name="Text 8"/>
          <p:cNvSpPr/>
          <p:nvPr/>
        </p:nvSpPr>
        <p:spPr>
          <a:xfrm>
            <a:off x="5047488" y="3931920"/>
            <a:ext cx="196596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Amazon Bedrock</a:t>
            </a:r>
            <a:endParaRPr lang="en-US" sz="1100"/>
          </a:p>
        </p:txBody>
      </p:sp>
      <p:sp>
        <p:nvSpPr>
          <p:cNvPr id="11" name="Shape 9"/>
          <p:cNvSpPr/>
          <p:nvPr/>
        </p:nvSpPr>
        <p:spPr>
          <a:xfrm>
            <a:off x="7150608" y="3931920"/>
            <a:ext cx="1508760" cy="475488"/>
          </a:xfrm>
          <a:prstGeom prst="roundRect">
            <a:avLst>
              <a:gd name="adj" fmla="val 50000"/>
            </a:avLst>
          </a:prstGeom>
          <a:solidFill>
            <a:srgbClr val="FFFFFF">
              <a:alpha val="18000"/>
            </a:srgbClr>
          </a:solidFill>
          <a:ln w="9525">
            <a:solidFill>
              <a:srgbClr val="D9C7F5"/>
            </a:solidFill>
            <a:prstDash val="solid"/>
          </a:ln>
        </p:spPr>
        <p:txBody>
          <a:bodyPr/>
          <a:lstStyle/>
          <a:p>
            <a:endParaRPr lang="en-US"/>
          </a:p>
        </p:txBody>
      </p:sp>
      <p:sp>
        <p:nvSpPr>
          <p:cNvPr id="12" name="Text 10"/>
          <p:cNvSpPr/>
          <p:nvPr/>
        </p:nvSpPr>
        <p:spPr>
          <a:xfrm>
            <a:off x="7150608" y="3931920"/>
            <a:ext cx="150876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Serverless</a:t>
            </a:r>
            <a:endParaRPr lang="en-US" sz="1100"/>
          </a:p>
        </p:txBody>
      </p:sp>
      <p:sp>
        <p:nvSpPr>
          <p:cNvPr id="14" name="Text 1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FFFFF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15" name="Text 1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D6CCEA"/>
                </a:solidFill>
                <a:latin typeface="Calibri" pitchFamily="34" charset="0"/>
                <a:ea typeface="Calibri" pitchFamily="34" charset="-122"/>
                <a:cs typeface="Calibri" pitchFamily="34" charset="-120"/>
              </a:rPr>
              <a:t>AABG FY26 Hackathon   ·   Team LLaMie</a:t>
            </a:r>
            <a:endParaRPr lang="en-US" sz="10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The Problem</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Financial close and audit is slow, manual and error-prone, and it does not scale with the team.</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a:t>
            </a:r>
            <a:r>
              <a:rPr lang="en-US" sz="1050" err="1">
                <a:solidFill>
                  <a:srgbClr val="7C8493"/>
                </a:solidFill>
                <a:latin typeface="Calibri" pitchFamily="34" charset="0"/>
                <a:ea typeface="Calibri" pitchFamily="34" charset="-122"/>
                <a:cs typeface="Calibri" pitchFamily="34" charset="-120"/>
              </a:rPr>
              <a:t>LLaMie</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3</a:t>
            </a:r>
            <a:endParaRPr lang="en-US" sz="1050"/>
          </a:p>
        </p:txBody>
      </p:sp>
      <p:sp>
        <p:nvSpPr>
          <p:cNvPr id="7" name="Shape 5"/>
          <p:cNvSpPr/>
          <p:nvPr/>
        </p:nvSpPr>
        <p:spPr>
          <a:xfrm>
            <a:off x="566928" y="1691640"/>
            <a:ext cx="3474720" cy="2834640"/>
          </a:xfrm>
          <a:prstGeom prst="roundRect">
            <a:avLst>
              <a:gd name="adj" fmla="val 193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8" name="Shape 6"/>
          <p:cNvSpPr/>
          <p:nvPr/>
        </p:nvSpPr>
        <p:spPr>
          <a:xfrm>
            <a:off x="886968" y="2011680"/>
            <a:ext cx="566928" cy="566928"/>
          </a:xfrm>
          <a:prstGeom prst="ellipse">
            <a:avLst/>
          </a:prstGeom>
          <a:solidFill>
            <a:srgbClr val="A100FF"/>
          </a:solidFill>
          <a:ln w="12700">
            <a:solidFill>
              <a:srgbClr val="A100FF"/>
            </a:solidFill>
            <a:prstDash val="solid"/>
          </a:ln>
        </p:spPr>
        <p:txBody>
          <a:bodyPr/>
          <a:lstStyle/>
          <a:p>
            <a:endParaRPr lang="en-US"/>
          </a:p>
        </p:txBody>
      </p:sp>
      <p:sp>
        <p:nvSpPr>
          <p:cNvPr id="9" name="Text 7"/>
          <p:cNvSpPr/>
          <p:nvPr/>
        </p:nvSpPr>
        <p:spPr>
          <a:xfrm>
            <a:off x="886968" y="2103120"/>
            <a:ext cx="566928" cy="365760"/>
          </a:xfrm>
          <a:prstGeom prst="rect">
            <a:avLst/>
          </a:prstGeom>
          <a:noFill/>
          <a:ln/>
        </p:spPr>
        <p:txBody>
          <a:bodyPr wrap="square" lIns="0" tIns="0" rIns="0" bIns="0" rtlCol="0" anchor="ctr"/>
          <a:lstStyle/>
          <a:p>
            <a:pPr marL="0" indent="0" algn="ctr">
              <a:buNone/>
            </a:pPr>
            <a:r>
              <a:rPr lang="en-US" sz="1500" b="1">
                <a:solidFill>
                  <a:srgbClr val="FFFFFF"/>
                </a:solidFill>
                <a:latin typeface="Calibri" pitchFamily="34" charset="0"/>
                <a:ea typeface="Calibri" pitchFamily="34" charset="-122"/>
                <a:cs typeface="Calibri" pitchFamily="34" charset="-120"/>
              </a:rPr>
              <a:t>1</a:t>
            </a:r>
            <a:endParaRPr lang="en-US" sz="1500"/>
          </a:p>
        </p:txBody>
      </p:sp>
      <p:sp>
        <p:nvSpPr>
          <p:cNvPr id="10" name="Text 8"/>
          <p:cNvSpPr/>
          <p:nvPr/>
        </p:nvSpPr>
        <p:spPr>
          <a:xfrm>
            <a:off x="886968" y="2743200"/>
            <a:ext cx="2834640" cy="365760"/>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Weeks of manual review</a:t>
            </a:r>
            <a:endParaRPr lang="en-US" sz="1600"/>
          </a:p>
        </p:txBody>
      </p:sp>
      <p:sp>
        <p:nvSpPr>
          <p:cNvPr id="11" name="Text 9"/>
          <p:cNvSpPr/>
          <p:nvPr/>
        </p:nvSpPr>
        <p:spPr>
          <a:xfrm>
            <a:off x="886968" y="3200400"/>
            <a:ext cx="2834640" cy="1188720"/>
          </a:xfrm>
          <a:prstGeom prst="rect">
            <a:avLst/>
          </a:prstGeom>
          <a:noFill/>
          <a:ln/>
        </p:spPr>
        <p:txBody>
          <a:bodyPr wrap="square" lIns="0" tIns="0" rIns="0" bIns="0" rtlCol="0" anchor="t"/>
          <a:lstStyle/>
          <a:p>
            <a:pPr marL="0" indent="0">
              <a:lnSpc>
                <a:spcPts val="1600"/>
              </a:lnSpc>
              <a:buNone/>
            </a:pPr>
            <a:r>
              <a:rPr lang="en-US" sz="1200">
                <a:solidFill>
                  <a:srgbClr val="4B5563"/>
                </a:solidFill>
                <a:latin typeface="Calibri" pitchFamily="34" charset="0"/>
                <a:ea typeface="Calibri" pitchFamily="34" charset="-122"/>
                <a:cs typeface="Calibri" pitchFamily="34" charset="-120"/>
              </a:rPr>
              <a:t>Analysts post entries and reconcile P&amp;L, balance sheets and receipts by hand across disconnected files, causing a multi-day effort every cycle.</a:t>
            </a:r>
            <a:endParaRPr lang="en-US" sz="1200"/>
          </a:p>
        </p:txBody>
      </p:sp>
      <p:sp>
        <p:nvSpPr>
          <p:cNvPr id="12" name="Shape 10"/>
          <p:cNvSpPr/>
          <p:nvPr/>
        </p:nvSpPr>
        <p:spPr>
          <a:xfrm>
            <a:off x="4288536" y="1691640"/>
            <a:ext cx="3474720" cy="2834640"/>
          </a:xfrm>
          <a:prstGeom prst="roundRect">
            <a:avLst>
              <a:gd name="adj" fmla="val 193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3" name="Shape 11"/>
          <p:cNvSpPr/>
          <p:nvPr/>
        </p:nvSpPr>
        <p:spPr>
          <a:xfrm>
            <a:off x="4608576" y="2011680"/>
            <a:ext cx="566928" cy="566928"/>
          </a:xfrm>
          <a:prstGeom prst="ellipse">
            <a:avLst/>
          </a:prstGeom>
          <a:solidFill>
            <a:srgbClr val="0E7490"/>
          </a:solidFill>
          <a:ln w="12700">
            <a:solidFill>
              <a:srgbClr val="0E7490"/>
            </a:solidFill>
            <a:prstDash val="solid"/>
          </a:ln>
        </p:spPr>
        <p:txBody>
          <a:bodyPr/>
          <a:lstStyle/>
          <a:p>
            <a:endParaRPr lang="en-US"/>
          </a:p>
        </p:txBody>
      </p:sp>
      <p:sp>
        <p:nvSpPr>
          <p:cNvPr id="14" name="Text 12"/>
          <p:cNvSpPr/>
          <p:nvPr/>
        </p:nvSpPr>
        <p:spPr>
          <a:xfrm>
            <a:off x="4608576" y="2103120"/>
            <a:ext cx="566928" cy="365760"/>
          </a:xfrm>
          <a:prstGeom prst="rect">
            <a:avLst/>
          </a:prstGeom>
          <a:noFill/>
          <a:ln/>
        </p:spPr>
        <p:txBody>
          <a:bodyPr wrap="square" lIns="0" tIns="0" rIns="0" bIns="0" rtlCol="0" anchor="ctr"/>
          <a:lstStyle/>
          <a:p>
            <a:pPr marL="0" indent="0" algn="ctr">
              <a:buNone/>
            </a:pPr>
            <a:r>
              <a:rPr lang="en-US" sz="1500" b="1">
                <a:solidFill>
                  <a:srgbClr val="FFFFFF"/>
                </a:solidFill>
                <a:latin typeface="Calibri" pitchFamily="34" charset="0"/>
                <a:ea typeface="Calibri" pitchFamily="34" charset="-122"/>
                <a:cs typeface="Calibri" pitchFamily="34" charset="-120"/>
              </a:rPr>
              <a:t>2</a:t>
            </a:r>
            <a:endParaRPr lang="en-US" sz="1500"/>
          </a:p>
        </p:txBody>
      </p:sp>
      <p:sp>
        <p:nvSpPr>
          <p:cNvPr id="15" name="Text 13"/>
          <p:cNvSpPr/>
          <p:nvPr/>
        </p:nvSpPr>
        <p:spPr>
          <a:xfrm>
            <a:off x="4608576" y="2743200"/>
            <a:ext cx="2834640" cy="365760"/>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Errors slip through</a:t>
            </a:r>
            <a:endParaRPr lang="en-US" sz="1600"/>
          </a:p>
        </p:txBody>
      </p:sp>
      <p:sp>
        <p:nvSpPr>
          <p:cNvPr id="16" name="Text 14"/>
          <p:cNvSpPr/>
          <p:nvPr/>
        </p:nvSpPr>
        <p:spPr>
          <a:xfrm>
            <a:off x="4608576" y="3200400"/>
            <a:ext cx="2834640" cy="1188720"/>
          </a:xfrm>
          <a:prstGeom prst="rect">
            <a:avLst/>
          </a:prstGeom>
          <a:noFill/>
          <a:ln/>
        </p:spPr>
        <p:txBody>
          <a:bodyPr wrap="square" lIns="0" tIns="0" rIns="0" bIns="0" rtlCol="0" anchor="t"/>
          <a:lstStyle/>
          <a:p>
            <a:pPr marL="0" indent="0">
              <a:lnSpc>
                <a:spcPts val="1600"/>
              </a:lnSpc>
              <a:buNone/>
            </a:pPr>
            <a:r>
              <a:rPr lang="en-US" sz="1200">
                <a:solidFill>
                  <a:srgbClr val="4B5563"/>
                </a:solidFill>
                <a:latin typeface="Calibri" pitchFamily="34" charset="0"/>
                <a:ea typeface="Calibri" pitchFamily="34" charset="-122"/>
                <a:cs typeface="Calibri" pitchFamily="34" charset="-120"/>
              </a:rPr>
              <a:t>Misclassified entries, foot errors and unbalanced statements are caught late, if at all, creating audit and compliance risk.</a:t>
            </a:r>
            <a:endParaRPr lang="en-US" sz="1200"/>
          </a:p>
        </p:txBody>
      </p:sp>
      <p:sp>
        <p:nvSpPr>
          <p:cNvPr id="17" name="Shape 15"/>
          <p:cNvSpPr/>
          <p:nvPr/>
        </p:nvSpPr>
        <p:spPr>
          <a:xfrm>
            <a:off x="8010144" y="1691640"/>
            <a:ext cx="3474720" cy="2834640"/>
          </a:xfrm>
          <a:prstGeom prst="roundRect">
            <a:avLst>
              <a:gd name="adj" fmla="val 193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8" name="Shape 16"/>
          <p:cNvSpPr/>
          <p:nvPr/>
        </p:nvSpPr>
        <p:spPr>
          <a:xfrm>
            <a:off x="8330184" y="2011680"/>
            <a:ext cx="566928" cy="566928"/>
          </a:xfrm>
          <a:prstGeom prst="ellipse">
            <a:avLst/>
          </a:prstGeom>
          <a:solidFill>
            <a:srgbClr val="1F7A5A"/>
          </a:solidFill>
          <a:ln w="12700">
            <a:solidFill>
              <a:srgbClr val="1F7A5A"/>
            </a:solidFill>
            <a:prstDash val="solid"/>
          </a:ln>
        </p:spPr>
        <p:txBody>
          <a:bodyPr/>
          <a:lstStyle/>
          <a:p>
            <a:endParaRPr lang="en-US"/>
          </a:p>
        </p:txBody>
      </p:sp>
      <p:sp>
        <p:nvSpPr>
          <p:cNvPr id="19" name="Text 17"/>
          <p:cNvSpPr/>
          <p:nvPr/>
        </p:nvSpPr>
        <p:spPr>
          <a:xfrm>
            <a:off x="8330184" y="2103120"/>
            <a:ext cx="566928" cy="365760"/>
          </a:xfrm>
          <a:prstGeom prst="rect">
            <a:avLst/>
          </a:prstGeom>
          <a:noFill/>
          <a:ln/>
        </p:spPr>
        <p:txBody>
          <a:bodyPr wrap="square" lIns="0" tIns="0" rIns="0" bIns="0" rtlCol="0" anchor="ctr"/>
          <a:lstStyle/>
          <a:p>
            <a:pPr marL="0" indent="0" algn="ctr">
              <a:buNone/>
            </a:pPr>
            <a:r>
              <a:rPr lang="en-US" sz="1500" b="1">
                <a:solidFill>
                  <a:srgbClr val="FFFFFF"/>
                </a:solidFill>
                <a:latin typeface="Calibri" pitchFamily="34" charset="0"/>
                <a:ea typeface="Calibri" pitchFamily="34" charset="-122"/>
                <a:cs typeface="Calibri" pitchFamily="34" charset="-120"/>
              </a:rPr>
              <a:t>3</a:t>
            </a:r>
            <a:endParaRPr lang="en-US" sz="1500"/>
          </a:p>
        </p:txBody>
      </p:sp>
      <p:sp>
        <p:nvSpPr>
          <p:cNvPr id="20" name="Text 18"/>
          <p:cNvSpPr/>
          <p:nvPr/>
        </p:nvSpPr>
        <p:spPr>
          <a:xfrm>
            <a:off x="8330184" y="2743200"/>
            <a:ext cx="2834640" cy="365760"/>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No single audit picture</a:t>
            </a:r>
            <a:endParaRPr lang="en-US" sz="1600"/>
          </a:p>
        </p:txBody>
      </p:sp>
      <p:sp>
        <p:nvSpPr>
          <p:cNvPr id="21" name="Text 19"/>
          <p:cNvSpPr/>
          <p:nvPr/>
        </p:nvSpPr>
        <p:spPr>
          <a:xfrm>
            <a:off x="8330184" y="3200400"/>
            <a:ext cx="2834640" cy="1188720"/>
          </a:xfrm>
          <a:prstGeom prst="rect">
            <a:avLst/>
          </a:prstGeom>
          <a:noFill/>
          <a:ln/>
        </p:spPr>
        <p:txBody>
          <a:bodyPr wrap="square" lIns="0" tIns="0" rIns="0" bIns="0" rtlCol="0" anchor="t"/>
          <a:lstStyle/>
          <a:p>
            <a:pPr marL="0" indent="0">
              <a:lnSpc>
                <a:spcPts val="1600"/>
              </a:lnSpc>
              <a:buNone/>
            </a:pPr>
            <a:r>
              <a:rPr lang="en-US" sz="1200">
                <a:solidFill>
                  <a:srgbClr val="4B5563"/>
                </a:solidFill>
                <a:latin typeface="Calibri" pitchFamily="34" charset="0"/>
                <a:ea typeface="Calibri" pitchFamily="34" charset="-122"/>
                <a:cs typeface="Calibri" pitchFamily="34" charset="-120"/>
              </a:rPr>
              <a:t>Postings, statements and supporting documents live in different places, so nobody can see the whole chain from receipt to reported figure.</a:t>
            </a:r>
            <a:endParaRPr lang="en-US" sz="1200"/>
          </a:p>
        </p:txBody>
      </p:sp>
      <p:sp>
        <p:nvSpPr>
          <p:cNvPr id="22" name="Shape 20"/>
          <p:cNvSpPr/>
          <p:nvPr/>
        </p:nvSpPr>
        <p:spPr>
          <a:xfrm>
            <a:off x="566928" y="4846320"/>
            <a:ext cx="11064240" cy="914400"/>
          </a:xfrm>
          <a:prstGeom prst="roundRect">
            <a:avLst>
              <a:gd name="adj" fmla="val 6000"/>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23" name="Text 21"/>
          <p:cNvSpPr/>
          <p:nvPr/>
        </p:nvSpPr>
        <p:spPr>
          <a:xfrm>
            <a:off x="932688" y="4846320"/>
            <a:ext cx="10332720" cy="914400"/>
          </a:xfrm>
          <a:prstGeom prst="rect">
            <a:avLst/>
          </a:prstGeom>
          <a:noFill/>
          <a:ln/>
        </p:spPr>
        <p:txBody>
          <a:bodyPr wrap="square" lIns="0" tIns="0" rIns="0" bIns="0" rtlCol="0" anchor="ctr"/>
          <a:lstStyle/>
          <a:p>
            <a:pPr marL="0" indent="0">
              <a:buNone/>
            </a:pPr>
            <a:r>
              <a:rPr lang="en-US" sz="1500" i="1">
                <a:solidFill>
                  <a:srgbClr val="FFFFFF"/>
                </a:solidFill>
                <a:latin typeface="Bookman Old Style" pitchFamily="34" charset="0"/>
                <a:ea typeface="Bookman Old Style" pitchFamily="34" charset="-122"/>
                <a:cs typeface="Bookman Old Style" pitchFamily="34" charset="-120"/>
              </a:rPr>
              <a:t>The judgment is expert work. The posting, the totalling and the cross-checking are not, and that is exactly the part software should have taken over.</a:t>
            </a:r>
            <a:endParaRPr lang="en-US" sz="1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Our Solution</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Four specialist agents on the Strands Agent Framework: a virtual audit team that closes the books in minutes, not weeks.</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4</a:t>
            </a:r>
            <a:endParaRPr lang="en-US" sz="1050"/>
          </a:p>
        </p:txBody>
      </p:sp>
      <p:sp>
        <p:nvSpPr>
          <p:cNvPr id="7" name="Text 5"/>
          <p:cNvSpPr/>
          <p:nvPr/>
        </p:nvSpPr>
        <p:spPr>
          <a:xfrm>
            <a:off x="566928" y="1536192"/>
            <a:ext cx="36576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HOW IT WORKS</a:t>
            </a:r>
            <a:endParaRPr lang="en-US" sz="1050"/>
          </a:p>
        </p:txBody>
      </p:sp>
      <p:sp>
        <p:nvSpPr>
          <p:cNvPr id="8" name="Shape 6"/>
          <p:cNvSpPr/>
          <p:nvPr/>
        </p:nvSpPr>
        <p:spPr>
          <a:xfrm>
            <a:off x="566928" y="1920240"/>
            <a:ext cx="457200" cy="457200"/>
          </a:xfrm>
          <a:prstGeom prst="ellipse">
            <a:avLst/>
          </a:prstGeom>
          <a:solidFill>
            <a:srgbClr val="6B21A8"/>
          </a:solidFill>
          <a:ln w="12700">
            <a:solidFill>
              <a:srgbClr val="6B21A8"/>
            </a:solidFill>
            <a:prstDash val="solid"/>
          </a:ln>
        </p:spPr>
        <p:txBody>
          <a:bodyPr/>
          <a:lstStyle/>
          <a:p>
            <a:endParaRPr lang="en-US"/>
          </a:p>
        </p:txBody>
      </p:sp>
      <p:sp>
        <p:nvSpPr>
          <p:cNvPr id="9" name="Text 7"/>
          <p:cNvSpPr/>
          <p:nvPr/>
        </p:nvSpPr>
        <p:spPr>
          <a:xfrm>
            <a:off x="566928" y="1984248"/>
            <a:ext cx="45720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10" name="Text 8"/>
          <p:cNvSpPr/>
          <p:nvPr/>
        </p:nvSpPr>
        <p:spPr>
          <a:xfrm>
            <a:off x="1188720" y="1901952"/>
            <a:ext cx="3108960" cy="310896"/>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Ingest</a:t>
            </a:r>
            <a:endParaRPr lang="en-US" sz="1600"/>
          </a:p>
        </p:txBody>
      </p:sp>
      <p:sp>
        <p:nvSpPr>
          <p:cNvPr id="11" name="Text 9"/>
          <p:cNvSpPr/>
          <p:nvPr/>
        </p:nvSpPr>
        <p:spPr>
          <a:xfrm>
            <a:off x="1188720" y="2249424"/>
            <a:ext cx="3108960" cy="822960"/>
          </a:xfrm>
          <a:prstGeom prst="rect">
            <a:avLst/>
          </a:prstGeom>
          <a:noFill/>
          <a:ln/>
        </p:spPr>
        <p:txBody>
          <a:bodyPr wrap="square" lIns="0" tIns="0" rIns="0" bIns="0" rtlCol="0" anchor="t"/>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Documents are uploaded to S3. Textract extracts every figure; the upload itself starts the run.</a:t>
            </a:r>
            <a:endParaRPr lang="en-US" sz="1150"/>
          </a:p>
        </p:txBody>
      </p:sp>
      <p:sp>
        <p:nvSpPr>
          <p:cNvPr id="12" name="Shape 10"/>
          <p:cNvSpPr/>
          <p:nvPr/>
        </p:nvSpPr>
        <p:spPr>
          <a:xfrm>
            <a:off x="566928" y="3154680"/>
            <a:ext cx="457200" cy="457200"/>
          </a:xfrm>
          <a:prstGeom prst="ellipse">
            <a:avLst/>
          </a:prstGeom>
          <a:solidFill>
            <a:srgbClr val="6B21A8"/>
          </a:solidFill>
          <a:ln w="12700">
            <a:solidFill>
              <a:srgbClr val="6B21A8"/>
            </a:solidFill>
            <a:prstDash val="solid"/>
          </a:ln>
        </p:spPr>
        <p:txBody>
          <a:bodyPr/>
          <a:lstStyle/>
          <a:p>
            <a:endParaRPr lang="en-US"/>
          </a:p>
        </p:txBody>
      </p:sp>
      <p:sp>
        <p:nvSpPr>
          <p:cNvPr id="13" name="Text 11"/>
          <p:cNvSpPr/>
          <p:nvPr/>
        </p:nvSpPr>
        <p:spPr>
          <a:xfrm>
            <a:off x="566928" y="3218688"/>
            <a:ext cx="45720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4" name="Text 12"/>
          <p:cNvSpPr/>
          <p:nvPr/>
        </p:nvSpPr>
        <p:spPr>
          <a:xfrm>
            <a:off x="1188720" y="3136392"/>
            <a:ext cx="3108960" cy="310896"/>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Reason</a:t>
            </a:r>
            <a:endParaRPr lang="en-US" sz="1600"/>
          </a:p>
        </p:txBody>
      </p:sp>
      <p:sp>
        <p:nvSpPr>
          <p:cNvPr id="15" name="Text 13"/>
          <p:cNvSpPr/>
          <p:nvPr/>
        </p:nvSpPr>
        <p:spPr>
          <a:xfrm>
            <a:off x="1188720" y="3483864"/>
            <a:ext cx="3108960" cy="822960"/>
          </a:xfrm>
          <a:prstGeom prst="rect">
            <a:avLst/>
          </a:prstGeom>
          <a:noFill/>
          <a:ln/>
        </p:spPr>
        <p:txBody>
          <a:bodyPr wrap="square" lIns="0" tIns="0" rIns="0" bIns="0" rtlCol="0" anchor="t"/>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Each agent is a Strands agent (a model, a prompt and its own tools) running in its own Lambda.</a:t>
            </a:r>
            <a:endParaRPr lang="en-US" sz="1150"/>
          </a:p>
        </p:txBody>
      </p:sp>
      <p:sp>
        <p:nvSpPr>
          <p:cNvPr id="16" name="Shape 14"/>
          <p:cNvSpPr/>
          <p:nvPr/>
        </p:nvSpPr>
        <p:spPr>
          <a:xfrm>
            <a:off x="566928" y="4389120"/>
            <a:ext cx="457200" cy="457200"/>
          </a:xfrm>
          <a:prstGeom prst="ellipse">
            <a:avLst/>
          </a:prstGeom>
          <a:solidFill>
            <a:srgbClr val="6B21A8"/>
          </a:solidFill>
          <a:ln w="12700">
            <a:solidFill>
              <a:srgbClr val="6B21A8"/>
            </a:solidFill>
            <a:prstDash val="solid"/>
          </a:ln>
        </p:spPr>
        <p:txBody>
          <a:bodyPr/>
          <a:lstStyle/>
          <a:p>
            <a:endParaRPr lang="en-US"/>
          </a:p>
        </p:txBody>
      </p:sp>
      <p:sp>
        <p:nvSpPr>
          <p:cNvPr id="17" name="Text 15"/>
          <p:cNvSpPr/>
          <p:nvPr/>
        </p:nvSpPr>
        <p:spPr>
          <a:xfrm>
            <a:off x="566928" y="4453128"/>
            <a:ext cx="45720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p:nvPr/>
        </p:nvSpPr>
        <p:spPr>
          <a:xfrm>
            <a:off x="1188720" y="4370832"/>
            <a:ext cx="3108960" cy="310896"/>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Report</a:t>
            </a:r>
            <a:endParaRPr lang="en-US" sz="1600"/>
          </a:p>
        </p:txBody>
      </p:sp>
      <p:sp>
        <p:nvSpPr>
          <p:cNvPr id="19" name="Text 17"/>
          <p:cNvSpPr/>
          <p:nvPr/>
        </p:nvSpPr>
        <p:spPr>
          <a:xfrm>
            <a:off x="1188720" y="4718304"/>
            <a:ext cx="3108960" cy="822960"/>
          </a:xfrm>
          <a:prstGeom prst="rect">
            <a:avLst/>
          </a:prstGeom>
          <a:noFill/>
          <a:ln/>
        </p:spPr>
        <p:txBody>
          <a:bodyPr wrap="square" lIns="0" tIns="0" rIns="0" bIns="0" rtlCol="0" anchor="t"/>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Every agent writes its result to DynamoDB, and the dashboard shows the whole chain in one place.</a:t>
            </a:r>
            <a:endParaRPr lang="en-US" sz="1150"/>
          </a:p>
        </p:txBody>
      </p:sp>
      <p:sp>
        <p:nvSpPr>
          <p:cNvPr id="20" name="Text 18"/>
          <p:cNvSpPr/>
          <p:nvPr/>
        </p:nvSpPr>
        <p:spPr>
          <a:xfrm>
            <a:off x="4846320" y="1536192"/>
            <a:ext cx="36576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THE AGENT TEAM</a:t>
            </a:r>
            <a:endParaRPr lang="en-US" sz="1050"/>
          </a:p>
        </p:txBody>
      </p:sp>
      <p:sp>
        <p:nvSpPr>
          <p:cNvPr id="21" name="Shape 19"/>
          <p:cNvSpPr/>
          <p:nvPr/>
        </p:nvSpPr>
        <p:spPr>
          <a:xfrm>
            <a:off x="4846320" y="1874520"/>
            <a:ext cx="6766560" cy="566928"/>
          </a:xfrm>
          <a:prstGeom prst="roundRect">
            <a:avLst>
              <a:gd name="adj" fmla="val 9677"/>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22" name="Text 20"/>
          <p:cNvSpPr/>
          <p:nvPr/>
        </p:nvSpPr>
        <p:spPr>
          <a:xfrm>
            <a:off x="5074920" y="1874520"/>
            <a:ext cx="6309360" cy="566928"/>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Four Strands agents  ·  AWS Lambda + Amazon Bedrock (Claude)  ·  one shared results store</a:t>
            </a:r>
            <a:endParaRPr lang="en-US" sz="1200"/>
          </a:p>
        </p:txBody>
      </p:sp>
      <p:sp>
        <p:nvSpPr>
          <p:cNvPr id="23" name="Shape 21"/>
          <p:cNvSpPr/>
          <p:nvPr/>
        </p:nvSpPr>
        <p:spPr>
          <a:xfrm>
            <a:off x="4846320" y="2670048"/>
            <a:ext cx="329184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4" name="Shape 22"/>
          <p:cNvSpPr/>
          <p:nvPr/>
        </p:nvSpPr>
        <p:spPr>
          <a:xfrm>
            <a:off x="5120640" y="2944368"/>
            <a:ext cx="502920" cy="502920"/>
          </a:xfrm>
          <a:prstGeom prst="ellipse">
            <a:avLst/>
          </a:prstGeom>
          <a:solidFill>
            <a:srgbClr val="A100FF"/>
          </a:solidFill>
          <a:ln w="12700">
            <a:solidFill>
              <a:srgbClr val="A100FF"/>
            </a:solidFill>
            <a:prstDash val="solid"/>
          </a:ln>
        </p:spPr>
        <p:txBody>
          <a:bodyPr/>
          <a:lstStyle/>
          <a:p>
            <a:endParaRPr lang="en-US"/>
          </a:p>
        </p:txBody>
      </p:sp>
      <p:sp>
        <p:nvSpPr>
          <p:cNvPr id="25" name="Text 23"/>
          <p:cNvSpPr/>
          <p:nvPr/>
        </p:nvSpPr>
        <p:spPr>
          <a:xfrm>
            <a:off x="5120640" y="3026664"/>
            <a:ext cx="50292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26" name="Text 24"/>
          <p:cNvSpPr/>
          <p:nvPr/>
        </p:nvSpPr>
        <p:spPr>
          <a:xfrm>
            <a:off x="5760720" y="2944368"/>
            <a:ext cx="2194560" cy="329184"/>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Ledger</a:t>
            </a:r>
            <a:endParaRPr lang="en-US" sz="1350"/>
          </a:p>
        </p:txBody>
      </p:sp>
      <p:sp>
        <p:nvSpPr>
          <p:cNvPr id="27" name="Text 25"/>
          <p:cNvSpPr/>
          <p:nvPr/>
        </p:nvSpPr>
        <p:spPr>
          <a:xfrm>
            <a:off x="5760720" y="3310128"/>
            <a:ext cx="2194560" cy="54864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Double-entry posting → trial balance</a:t>
            </a:r>
            <a:endParaRPr lang="en-US" sz="1100"/>
          </a:p>
        </p:txBody>
      </p:sp>
      <p:sp>
        <p:nvSpPr>
          <p:cNvPr id="28" name="Shape 26"/>
          <p:cNvSpPr/>
          <p:nvPr/>
        </p:nvSpPr>
        <p:spPr>
          <a:xfrm>
            <a:off x="8321040" y="2670048"/>
            <a:ext cx="329184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9" name="Shape 27"/>
          <p:cNvSpPr/>
          <p:nvPr/>
        </p:nvSpPr>
        <p:spPr>
          <a:xfrm>
            <a:off x="8595360" y="2944368"/>
            <a:ext cx="502920" cy="502920"/>
          </a:xfrm>
          <a:prstGeom prst="ellipse">
            <a:avLst/>
          </a:prstGeom>
          <a:solidFill>
            <a:srgbClr val="0E7490"/>
          </a:solidFill>
          <a:ln w="12700">
            <a:solidFill>
              <a:srgbClr val="0E7490"/>
            </a:solidFill>
            <a:prstDash val="solid"/>
          </a:ln>
        </p:spPr>
        <p:txBody>
          <a:bodyPr/>
          <a:lstStyle/>
          <a:p>
            <a:endParaRPr lang="en-US"/>
          </a:p>
        </p:txBody>
      </p:sp>
      <p:sp>
        <p:nvSpPr>
          <p:cNvPr id="30" name="Text 28"/>
          <p:cNvSpPr/>
          <p:nvPr/>
        </p:nvSpPr>
        <p:spPr>
          <a:xfrm>
            <a:off x="8595360" y="3026664"/>
            <a:ext cx="50292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31" name="Text 29"/>
          <p:cNvSpPr/>
          <p:nvPr/>
        </p:nvSpPr>
        <p:spPr>
          <a:xfrm>
            <a:off x="9235440" y="2944368"/>
            <a:ext cx="2194560" cy="329184"/>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P&amp;L Analysis</a:t>
            </a:r>
            <a:endParaRPr lang="en-US" sz="1350"/>
          </a:p>
        </p:txBody>
      </p:sp>
      <p:sp>
        <p:nvSpPr>
          <p:cNvPr id="32" name="Text 30"/>
          <p:cNvSpPr/>
          <p:nvPr/>
        </p:nvSpPr>
        <p:spPr>
          <a:xfrm>
            <a:off x="9235440" y="3310128"/>
            <a:ext cx="2194560" cy="54864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Margins, trends &amp; anomaly flags</a:t>
            </a:r>
            <a:endParaRPr lang="en-US" sz="1100"/>
          </a:p>
        </p:txBody>
      </p:sp>
      <p:sp>
        <p:nvSpPr>
          <p:cNvPr id="33" name="Shape 31"/>
          <p:cNvSpPr/>
          <p:nvPr/>
        </p:nvSpPr>
        <p:spPr>
          <a:xfrm>
            <a:off x="4846320" y="4242816"/>
            <a:ext cx="329184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4" name="Shape 32"/>
          <p:cNvSpPr/>
          <p:nvPr/>
        </p:nvSpPr>
        <p:spPr>
          <a:xfrm>
            <a:off x="5120640" y="4517136"/>
            <a:ext cx="502920" cy="502920"/>
          </a:xfrm>
          <a:prstGeom prst="ellipse">
            <a:avLst/>
          </a:prstGeom>
          <a:solidFill>
            <a:srgbClr val="FF9900"/>
          </a:solidFill>
          <a:ln w="12700">
            <a:solidFill>
              <a:srgbClr val="FF9900"/>
            </a:solidFill>
            <a:prstDash val="solid"/>
          </a:ln>
        </p:spPr>
        <p:txBody>
          <a:bodyPr/>
          <a:lstStyle/>
          <a:p>
            <a:endParaRPr lang="en-US"/>
          </a:p>
        </p:txBody>
      </p:sp>
      <p:sp>
        <p:nvSpPr>
          <p:cNvPr id="35" name="Text 33"/>
          <p:cNvSpPr/>
          <p:nvPr/>
        </p:nvSpPr>
        <p:spPr>
          <a:xfrm>
            <a:off x="5120640" y="4599432"/>
            <a:ext cx="502920" cy="329184"/>
          </a:xfrm>
          <a:prstGeom prst="rect">
            <a:avLst/>
          </a:prstGeom>
          <a:noFill/>
          <a:ln/>
        </p:spPr>
        <p:txBody>
          <a:bodyPr wrap="square" lIns="0" tIns="0" rIns="0" bIns="0" rtlCol="0" anchor="ctr"/>
          <a:lstStyle/>
          <a:p>
            <a:pPr marL="0" indent="0" algn="ctr">
              <a:buNone/>
            </a:pPr>
            <a:r>
              <a:rPr lang="en-US" sz="1300" b="1">
                <a:solidFill>
                  <a:schemeClr val="bg1"/>
                </a:solidFill>
                <a:latin typeface="Calibri" pitchFamily="34" charset="0"/>
                <a:ea typeface="Calibri" pitchFamily="34" charset="-122"/>
                <a:cs typeface="Calibri" pitchFamily="34" charset="-120"/>
              </a:rPr>
              <a:t>3</a:t>
            </a:r>
            <a:endParaRPr lang="en-US" sz="1300">
              <a:solidFill>
                <a:schemeClr val="bg1"/>
              </a:solidFill>
            </a:endParaRPr>
          </a:p>
        </p:txBody>
      </p:sp>
      <p:sp>
        <p:nvSpPr>
          <p:cNvPr id="36" name="Text 34"/>
          <p:cNvSpPr/>
          <p:nvPr/>
        </p:nvSpPr>
        <p:spPr>
          <a:xfrm>
            <a:off x="5760720" y="4517136"/>
            <a:ext cx="2194560" cy="329184"/>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Balance Sheet</a:t>
            </a:r>
            <a:endParaRPr lang="en-US" sz="1350"/>
          </a:p>
        </p:txBody>
      </p:sp>
      <p:sp>
        <p:nvSpPr>
          <p:cNvPr id="37" name="Text 35"/>
          <p:cNvSpPr/>
          <p:nvPr/>
        </p:nvSpPr>
        <p:spPr>
          <a:xfrm>
            <a:off x="5760720" y="4882896"/>
            <a:ext cx="2194560" cy="54864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Assets = Liabilities + Equity checks</a:t>
            </a:r>
            <a:endParaRPr lang="en-US" sz="1100"/>
          </a:p>
        </p:txBody>
      </p:sp>
      <p:sp>
        <p:nvSpPr>
          <p:cNvPr id="38" name="Shape 36"/>
          <p:cNvSpPr/>
          <p:nvPr/>
        </p:nvSpPr>
        <p:spPr>
          <a:xfrm>
            <a:off x="8321040" y="4242816"/>
            <a:ext cx="329184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9" name="Shape 37"/>
          <p:cNvSpPr/>
          <p:nvPr/>
        </p:nvSpPr>
        <p:spPr>
          <a:xfrm>
            <a:off x="8595360" y="4517136"/>
            <a:ext cx="502920" cy="502920"/>
          </a:xfrm>
          <a:prstGeom prst="ellipse">
            <a:avLst/>
          </a:prstGeom>
          <a:solidFill>
            <a:srgbClr val="1F7A5A"/>
          </a:solidFill>
          <a:ln w="12700">
            <a:solidFill>
              <a:srgbClr val="1F7A5A"/>
            </a:solidFill>
            <a:prstDash val="solid"/>
          </a:ln>
        </p:spPr>
        <p:txBody>
          <a:bodyPr/>
          <a:lstStyle/>
          <a:p>
            <a:endParaRPr lang="en-US"/>
          </a:p>
        </p:txBody>
      </p:sp>
      <p:sp>
        <p:nvSpPr>
          <p:cNvPr id="40" name="Text 38"/>
          <p:cNvSpPr/>
          <p:nvPr/>
        </p:nvSpPr>
        <p:spPr>
          <a:xfrm>
            <a:off x="8595360" y="4599432"/>
            <a:ext cx="50292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4</a:t>
            </a:r>
            <a:endParaRPr lang="en-US" sz="1300"/>
          </a:p>
        </p:txBody>
      </p:sp>
      <p:sp>
        <p:nvSpPr>
          <p:cNvPr id="41" name="Text 39"/>
          <p:cNvSpPr/>
          <p:nvPr/>
        </p:nvSpPr>
        <p:spPr>
          <a:xfrm>
            <a:off x="9235440" y="4517136"/>
            <a:ext cx="2194560" cy="329184"/>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Reconciliation</a:t>
            </a:r>
            <a:endParaRPr lang="en-US" sz="1350"/>
          </a:p>
        </p:txBody>
      </p:sp>
      <p:sp>
        <p:nvSpPr>
          <p:cNvPr id="42" name="Text 40"/>
          <p:cNvSpPr/>
          <p:nvPr/>
        </p:nvSpPr>
        <p:spPr>
          <a:xfrm>
            <a:off x="9235440" y="4882896"/>
            <a:ext cx="2194560" cy="54864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Ties records together, unifies findings</a:t>
            </a:r>
            <a:endParaRPr lang="en-US" sz="1100"/>
          </a:p>
        </p:txBody>
      </p:sp>
      <p:sp>
        <p:nvSpPr>
          <p:cNvPr id="43" name="Text 41"/>
          <p:cNvSpPr/>
          <p:nvPr/>
        </p:nvSpPr>
        <p:spPr>
          <a:xfrm>
            <a:off x="566928" y="5760720"/>
            <a:ext cx="10515600" cy="320040"/>
          </a:xfrm>
          <a:prstGeom prst="rect">
            <a:avLst/>
          </a:prstGeom>
          <a:noFill/>
          <a:ln/>
        </p:spPr>
        <p:txBody>
          <a:bodyPr wrap="square" lIns="0" tIns="0" rIns="0" bIns="0" rtlCol="0" anchor="ctr"/>
          <a:lstStyle/>
          <a:p>
            <a:pPr marL="0" indent="0">
              <a:buNone/>
            </a:pPr>
            <a:r>
              <a:rPr lang="en-US" sz="1200" i="1">
                <a:solidFill>
                  <a:srgbClr val="7C8493"/>
                </a:solidFill>
                <a:latin typeface="Calibri" pitchFamily="34" charset="0"/>
                <a:ea typeface="Calibri" pitchFamily="34" charset="-122"/>
                <a:cs typeface="Calibri" pitchFamily="34" charset="-120"/>
              </a:rPr>
              <a:t>Each agent returns an independent, traceable finding. No black-box verdict.</a:t>
            </a:r>
            <a:endParaRPr lang="en-US" sz="1200"/>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How It Works — The Audit Pipeline</a:t>
            </a:r>
            <a:endParaRPr lang="en-US" sz="29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5</a:t>
            </a:r>
            <a:endParaRPr lang="en-US" sz="1050"/>
          </a:p>
        </p:txBody>
      </p:sp>
      <p:sp>
        <p:nvSpPr>
          <p:cNvPr id="7" name="Shape 5"/>
          <p:cNvSpPr/>
          <p:nvPr/>
        </p:nvSpPr>
        <p:spPr>
          <a:xfrm>
            <a:off x="566928" y="1211580"/>
            <a:ext cx="11064240" cy="411480"/>
          </a:xfrm>
          <a:prstGeom prst="roundRect">
            <a:avLst>
              <a:gd name="adj" fmla="val 13333"/>
            </a:avLst>
          </a:prstGeom>
          <a:solidFill>
            <a:srgbClr val="EEF7F9"/>
          </a:solidFill>
          <a:ln w="12700">
            <a:solidFill>
              <a:srgbClr val="BFDDE4"/>
            </a:solidFill>
            <a:prstDash val="solid"/>
          </a:ln>
        </p:spPr>
        <p:txBody>
          <a:bodyPr/>
          <a:lstStyle/>
          <a:p>
            <a:endParaRPr lang="en-US"/>
          </a:p>
        </p:txBody>
      </p:sp>
      <p:sp>
        <p:nvSpPr>
          <p:cNvPr id="8" name="Text 6"/>
          <p:cNvSpPr/>
          <p:nvPr/>
        </p:nvSpPr>
        <p:spPr>
          <a:xfrm>
            <a:off x="566928" y="1200103"/>
            <a:ext cx="11064240" cy="411480"/>
          </a:xfrm>
          <a:prstGeom prst="rect">
            <a:avLst/>
          </a:prstGeom>
          <a:noFill/>
          <a:ln/>
        </p:spPr>
        <p:txBody>
          <a:bodyPr wrap="square" lIns="0" tIns="0" rIns="0" bIns="0" rtlCol="0" anchor="ctr"/>
          <a:lstStyle/>
          <a:p>
            <a:pPr marL="0" indent="0" algn="ctr">
              <a:buNone/>
            </a:pPr>
            <a:r>
              <a:rPr lang="en-US" sz="1150" b="1">
                <a:solidFill>
                  <a:srgbClr val="0E7490"/>
                </a:solidFill>
                <a:latin typeface="Calibri" pitchFamily="34" charset="0"/>
                <a:ea typeface="Calibri" pitchFamily="34" charset="-122"/>
                <a:cs typeface="Calibri" pitchFamily="34" charset="-120"/>
              </a:rPr>
              <a:t>FinSightOps front end   —   analysts upload P&amp;L, balance sheet and receipts</a:t>
            </a:r>
            <a:endParaRPr lang="en-US" sz="1150"/>
          </a:p>
        </p:txBody>
      </p:sp>
      <p:sp>
        <p:nvSpPr>
          <p:cNvPr id="9" name="Shape 7"/>
          <p:cNvSpPr/>
          <p:nvPr/>
        </p:nvSpPr>
        <p:spPr>
          <a:xfrm>
            <a:off x="566928" y="2148840"/>
            <a:ext cx="2542032" cy="1188720"/>
          </a:xfrm>
          <a:prstGeom prst="roundRect">
            <a:avLst>
              <a:gd name="adj" fmla="val 5385"/>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10" name="Shape 8"/>
          <p:cNvSpPr/>
          <p:nvPr/>
        </p:nvSpPr>
        <p:spPr>
          <a:xfrm>
            <a:off x="1682496" y="2267712"/>
            <a:ext cx="310896" cy="310896"/>
          </a:xfrm>
          <a:prstGeom prst="ellipse">
            <a:avLst/>
          </a:prstGeom>
          <a:solidFill>
            <a:srgbClr val="1F7A5A"/>
          </a:solidFill>
          <a:ln w="12700">
            <a:solidFill>
              <a:srgbClr val="1F7A5A"/>
            </a:solidFill>
            <a:prstDash val="solid"/>
          </a:ln>
        </p:spPr>
        <p:txBody>
          <a:bodyPr/>
          <a:lstStyle/>
          <a:p>
            <a:endParaRPr lang="en-US"/>
          </a:p>
        </p:txBody>
      </p:sp>
      <p:sp>
        <p:nvSpPr>
          <p:cNvPr id="11" name="Text 9"/>
          <p:cNvSpPr/>
          <p:nvPr/>
        </p:nvSpPr>
        <p:spPr>
          <a:xfrm>
            <a:off x="640080" y="2633472"/>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S3 — Ingest &amp; Extract</a:t>
            </a:r>
            <a:endParaRPr lang="en-US" sz="1150"/>
          </a:p>
        </p:txBody>
      </p:sp>
      <p:sp>
        <p:nvSpPr>
          <p:cNvPr id="12" name="Text 10"/>
          <p:cNvSpPr/>
          <p:nvPr/>
        </p:nvSpPr>
        <p:spPr>
          <a:xfrm>
            <a:off x="640080" y="2907792"/>
            <a:ext cx="2395728" cy="365760"/>
          </a:xfrm>
          <a:prstGeom prst="rect">
            <a:avLst/>
          </a:prstGeom>
          <a:noFill/>
          <a:ln/>
        </p:spPr>
        <p:txBody>
          <a:bodyPr wrap="square" lIns="0" tIns="0" rIns="0" bIns="0" rtlCol="0" anchor="ctr"/>
          <a:lstStyle/>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upload event starts the run</a:t>
            </a:r>
            <a:endParaRPr lang="en-US" sz="900"/>
          </a:p>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Textract OCR → figures</a:t>
            </a:r>
            <a:endParaRPr lang="en-US" sz="900"/>
          </a:p>
        </p:txBody>
      </p:sp>
      <p:sp>
        <p:nvSpPr>
          <p:cNvPr id="13" name="Shape 11"/>
          <p:cNvSpPr/>
          <p:nvPr/>
        </p:nvSpPr>
        <p:spPr>
          <a:xfrm>
            <a:off x="3145536" y="2633472"/>
            <a:ext cx="228600" cy="219456"/>
          </a:xfrm>
          <a:prstGeom prst="rightArrow">
            <a:avLst/>
          </a:prstGeom>
          <a:solidFill>
            <a:srgbClr val="A100FF"/>
          </a:solidFill>
          <a:ln w="12700">
            <a:solidFill>
              <a:srgbClr val="A100FF"/>
            </a:solidFill>
            <a:prstDash val="solid"/>
          </a:ln>
        </p:spPr>
        <p:txBody>
          <a:bodyPr/>
          <a:lstStyle/>
          <a:p>
            <a:endParaRPr lang="en-US"/>
          </a:p>
        </p:txBody>
      </p:sp>
      <p:sp>
        <p:nvSpPr>
          <p:cNvPr id="14" name="Shape 12"/>
          <p:cNvSpPr/>
          <p:nvPr/>
        </p:nvSpPr>
        <p:spPr>
          <a:xfrm>
            <a:off x="3410712" y="2148840"/>
            <a:ext cx="2542032" cy="1188720"/>
          </a:xfrm>
          <a:prstGeom prst="roundRect">
            <a:avLst>
              <a:gd name="adj" fmla="val 5385"/>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15" name="Shape 13"/>
          <p:cNvSpPr/>
          <p:nvPr/>
        </p:nvSpPr>
        <p:spPr>
          <a:xfrm>
            <a:off x="4526280" y="2267712"/>
            <a:ext cx="310896" cy="310896"/>
          </a:xfrm>
          <a:prstGeom prst="ellipse">
            <a:avLst/>
          </a:prstGeom>
          <a:solidFill>
            <a:srgbClr val="A100FF"/>
          </a:solidFill>
          <a:ln w="12700">
            <a:solidFill>
              <a:srgbClr val="A100FF"/>
            </a:solidFill>
            <a:prstDash val="solid"/>
          </a:ln>
        </p:spPr>
        <p:txBody>
          <a:bodyPr/>
          <a:lstStyle/>
          <a:p>
            <a:endParaRPr lang="en-US"/>
          </a:p>
        </p:txBody>
      </p:sp>
      <p:sp>
        <p:nvSpPr>
          <p:cNvPr id="16" name="Text 14"/>
          <p:cNvSpPr/>
          <p:nvPr/>
        </p:nvSpPr>
        <p:spPr>
          <a:xfrm>
            <a:off x="4526280" y="2290572"/>
            <a:ext cx="310896"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1</a:t>
            </a:r>
            <a:endParaRPr lang="en-US" sz="1100"/>
          </a:p>
        </p:txBody>
      </p:sp>
      <p:sp>
        <p:nvSpPr>
          <p:cNvPr id="17" name="Text 15"/>
          <p:cNvSpPr/>
          <p:nvPr/>
        </p:nvSpPr>
        <p:spPr>
          <a:xfrm>
            <a:off x="3483864" y="2633472"/>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Ledger Agent</a:t>
            </a:r>
            <a:endParaRPr lang="en-US" sz="1150"/>
          </a:p>
        </p:txBody>
      </p:sp>
      <p:sp>
        <p:nvSpPr>
          <p:cNvPr id="18" name="Text 16"/>
          <p:cNvSpPr/>
          <p:nvPr/>
        </p:nvSpPr>
        <p:spPr>
          <a:xfrm>
            <a:off x="3483864" y="2907792"/>
            <a:ext cx="2395728" cy="365760"/>
          </a:xfrm>
          <a:prstGeom prst="rect">
            <a:avLst/>
          </a:prstGeom>
          <a:noFill/>
          <a:ln/>
        </p:spPr>
        <p:txBody>
          <a:bodyPr wrap="square" lIns="0" tIns="0" rIns="0" bIns="0" rtlCol="0" anchor="ctr"/>
          <a:lstStyle/>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double entry → trial balance</a:t>
            </a:r>
            <a:endParaRPr lang="en-US" sz="900"/>
          </a:p>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nothing written unless it balances</a:t>
            </a:r>
            <a:endParaRPr lang="en-US" sz="900"/>
          </a:p>
        </p:txBody>
      </p:sp>
      <p:sp>
        <p:nvSpPr>
          <p:cNvPr id="19" name="Shape 17"/>
          <p:cNvSpPr/>
          <p:nvPr/>
        </p:nvSpPr>
        <p:spPr>
          <a:xfrm>
            <a:off x="5989320" y="2633472"/>
            <a:ext cx="228600" cy="219456"/>
          </a:xfrm>
          <a:prstGeom prst="rightArrow">
            <a:avLst/>
          </a:prstGeom>
          <a:solidFill>
            <a:srgbClr val="A100FF"/>
          </a:solidFill>
          <a:ln w="12700">
            <a:solidFill>
              <a:srgbClr val="A100FF"/>
            </a:solidFill>
            <a:prstDash val="solid"/>
          </a:ln>
        </p:spPr>
        <p:txBody>
          <a:bodyPr/>
          <a:lstStyle/>
          <a:p>
            <a:endParaRPr lang="en-US"/>
          </a:p>
        </p:txBody>
      </p:sp>
      <p:sp>
        <p:nvSpPr>
          <p:cNvPr id="20" name="Shape 18"/>
          <p:cNvSpPr/>
          <p:nvPr/>
        </p:nvSpPr>
        <p:spPr>
          <a:xfrm>
            <a:off x="6254496" y="1847088"/>
            <a:ext cx="2542032" cy="786384"/>
          </a:xfrm>
          <a:prstGeom prst="roundRect">
            <a:avLst>
              <a:gd name="adj" fmla="val 8140"/>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21" name="Shape 19"/>
          <p:cNvSpPr/>
          <p:nvPr/>
        </p:nvSpPr>
        <p:spPr>
          <a:xfrm>
            <a:off x="7370064" y="1965960"/>
            <a:ext cx="310896" cy="310896"/>
          </a:xfrm>
          <a:prstGeom prst="ellipse">
            <a:avLst/>
          </a:prstGeom>
          <a:solidFill>
            <a:srgbClr val="0E7490"/>
          </a:solidFill>
          <a:ln w="12700">
            <a:solidFill>
              <a:srgbClr val="0E7490"/>
            </a:solidFill>
            <a:prstDash val="solid"/>
          </a:ln>
        </p:spPr>
        <p:txBody>
          <a:bodyPr/>
          <a:lstStyle/>
          <a:p>
            <a:endParaRPr lang="en-US"/>
          </a:p>
        </p:txBody>
      </p:sp>
      <p:sp>
        <p:nvSpPr>
          <p:cNvPr id="22" name="Text 20"/>
          <p:cNvSpPr/>
          <p:nvPr/>
        </p:nvSpPr>
        <p:spPr>
          <a:xfrm>
            <a:off x="7370064" y="1988820"/>
            <a:ext cx="310896"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a:t>
            </a:r>
            <a:endParaRPr lang="en-US" sz="1100"/>
          </a:p>
        </p:txBody>
      </p:sp>
      <p:sp>
        <p:nvSpPr>
          <p:cNvPr id="23" name="Text 21"/>
          <p:cNvSpPr/>
          <p:nvPr/>
        </p:nvSpPr>
        <p:spPr>
          <a:xfrm>
            <a:off x="6327648" y="2331720"/>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P&amp;L Agent</a:t>
            </a:r>
            <a:endParaRPr lang="en-US" sz="1150"/>
          </a:p>
        </p:txBody>
      </p:sp>
      <p:sp>
        <p:nvSpPr>
          <p:cNvPr id="24" name="Shape 22"/>
          <p:cNvSpPr/>
          <p:nvPr/>
        </p:nvSpPr>
        <p:spPr>
          <a:xfrm>
            <a:off x="6254496" y="2852928"/>
            <a:ext cx="2542032" cy="786384"/>
          </a:xfrm>
          <a:prstGeom prst="roundRect">
            <a:avLst>
              <a:gd name="adj" fmla="val 8140"/>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25" name="Shape 23"/>
          <p:cNvSpPr/>
          <p:nvPr/>
        </p:nvSpPr>
        <p:spPr>
          <a:xfrm>
            <a:off x="7370064" y="2971800"/>
            <a:ext cx="310896" cy="310896"/>
          </a:xfrm>
          <a:prstGeom prst="ellipse">
            <a:avLst/>
          </a:prstGeom>
          <a:solidFill>
            <a:srgbClr val="FF9900"/>
          </a:solidFill>
          <a:ln w="12700">
            <a:solidFill>
              <a:srgbClr val="FF9900"/>
            </a:solidFill>
            <a:prstDash val="solid"/>
          </a:ln>
        </p:spPr>
        <p:txBody>
          <a:bodyPr/>
          <a:lstStyle/>
          <a:p>
            <a:endParaRPr lang="en-US"/>
          </a:p>
        </p:txBody>
      </p:sp>
      <p:sp>
        <p:nvSpPr>
          <p:cNvPr id="26" name="Text 24"/>
          <p:cNvSpPr/>
          <p:nvPr/>
        </p:nvSpPr>
        <p:spPr>
          <a:xfrm>
            <a:off x="7370064" y="2994660"/>
            <a:ext cx="310896" cy="256032"/>
          </a:xfrm>
          <a:prstGeom prst="rect">
            <a:avLst/>
          </a:prstGeom>
          <a:noFill/>
          <a:ln/>
        </p:spPr>
        <p:txBody>
          <a:bodyPr wrap="square" lIns="0" tIns="0" rIns="0" bIns="0" rtlCol="0" anchor="ctr"/>
          <a:lstStyle/>
          <a:p>
            <a:pPr marL="0" indent="0" algn="ctr">
              <a:buNone/>
            </a:pPr>
            <a:r>
              <a:rPr lang="en-US" sz="1100" b="1">
                <a:solidFill>
                  <a:schemeClr val="bg1"/>
                </a:solidFill>
                <a:latin typeface="Calibri" pitchFamily="34" charset="0"/>
                <a:ea typeface="Calibri" pitchFamily="34" charset="-122"/>
                <a:cs typeface="Calibri" pitchFamily="34" charset="-120"/>
              </a:rPr>
              <a:t>3</a:t>
            </a:r>
            <a:endParaRPr lang="en-US" sz="1100">
              <a:solidFill>
                <a:schemeClr val="bg1"/>
              </a:solidFill>
            </a:endParaRPr>
          </a:p>
        </p:txBody>
      </p:sp>
      <p:sp>
        <p:nvSpPr>
          <p:cNvPr id="27" name="Text 25"/>
          <p:cNvSpPr/>
          <p:nvPr/>
        </p:nvSpPr>
        <p:spPr>
          <a:xfrm>
            <a:off x="6327648" y="3337560"/>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Balance Sheet Agent</a:t>
            </a:r>
            <a:endParaRPr lang="en-US" sz="1150"/>
          </a:p>
        </p:txBody>
      </p:sp>
      <p:sp>
        <p:nvSpPr>
          <p:cNvPr id="28" name="Text 26"/>
          <p:cNvSpPr/>
          <p:nvPr/>
        </p:nvSpPr>
        <p:spPr>
          <a:xfrm>
            <a:off x="6254496" y="2651760"/>
            <a:ext cx="2542032" cy="201168"/>
          </a:xfrm>
          <a:prstGeom prst="rect">
            <a:avLst/>
          </a:prstGeom>
          <a:noFill/>
          <a:ln/>
        </p:spPr>
        <p:txBody>
          <a:bodyPr wrap="square" lIns="0" tIns="0" rIns="0" bIns="0" rtlCol="0" anchor="ctr"/>
          <a:lstStyle/>
          <a:p>
            <a:pPr marL="0" indent="0" algn="ctr">
              <a:buNone/>
            </a:pPr>
            <a:r>
              <a:rPr lang="en-US" sz="850" i="1">
                <a:solidFill>
                  <a:srgbClr val="7C8493"/>
                </a:solidFill>
                <a:latin typeface="Calibri" pitchFamily="34" charset="0"/>
                <a:ea typeface="Calibri" pitchFamily="34" charset="-122"/>
                <a:cs typeface="Calibri" pitchFamily="34" charset="-120"/>
              </a:rPr>
              <a:t>in parallel, off the same trial balance</a:t>
            </a:r>
            <a:endParaRPr lang="en-US" sz="850"/>
          </a:p>
        </p:txBody>
      </p:sp>
      <p:sp>
        <p:nvSpPr>
          <p:cNvPr id="29" name="Shape 27"/>
          <p:cNvSpPr/>
          <p:nvPr/>
        </p:nvSpPr>
        <p:spPr>
          <a:xfrm>
            <a:off x="8833104" y="2633472"/>
            <a:ext cx="228600" cy="219456"/>
          </a:xfrm>
          <a:prstGeom prst="rightArrow">
            <a:avLst/>
          </a:prstGeom>
          <a:solidFill>
            <a:srgbClr val="A100FF"/>
          </a:solidFill>
          <a:ln w="12700">
            <a:solidFill>
              <a:srgbClr val="A100FF"/>
            </a:solidFill>
            <a:prstDash val="solid"/>
          </a:ln>
        </p:spPr>
        <p:txBody>
          <a:bodyPr/>
          <a:lstStyle/>
          <a:p>
            <a:endParaRPr lang="en-US"/>
          </a:p>
        </p:txBody>
      </p:sp>
      <p:sp>
        <p:nvSpPr>
          <p:cNvPr id="30" name="Shape 28"/>
          <p:cNvSpPr/>
          <p:nvPr/>
        </p:nvSpPr>
        <p:spPr>
          <a:xfrm>
            <a:off x="9098280" y="2148840"/>
            <a:ext cx="2542032" cy="1188720"/>
          </a:xfrm>
          <a:prstGeom prst="roundRect">
            <a:avLst>
              <a:gd name="adj" fmla="val 5385"/>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31" name="Shape 29"/>
          <p:cNvSpPr/>
          <p:nvPr/>
        </p:nvSpPr>
        <p:spPr>
          <a:xfrm>
            <a:off x="10213848" y="2267712"/>
            <a:ext cx="310896" cy="310896"/>
          </a:xfrm>
          <a:prstGeom prst="ellipse">
            <a:avLst/>
          </a:prstGeom>
          <a:solidFill>
            <a:srgbClr val="1F7A5A"/>
          </a:solidFill>
          <a:ln w="12700">
            <a:solidFill>
              <a:srgbClr val="1F7A5A"/>
            </a:solidFill>
            <a:prstDash val="solid"/>
          </a:ln>
        </p:spPr>
        <p:txBody>
          <a:bodyPr/>
          <a:lstStyle/>
          <a:p>
            <a:endParaRPr lang="en-US"/>
          </a:p>
        </p:txBody>
      </p:sp>
      <p:sp>
        <p:nvSpPr>
          <p:cNvPr id="32" name="Text 30"/>
          <p:cNvSpPr/>
          <p:nvPr/>
        </p:nvSpPr>
        <p:spPr>
          <a:xfrm>
            <a:off x="10213848" y="2290572"/>
            <a:ext cx="310896"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4</a:t>
            </a:r>
            <a:endParaRPr lang="en-US" sz="1100"/>
          </a:p>
        </p:txBody>
      </p:sp>
      <p:sp>
        <p:nvSpPr>
          <p:cNvPr id="33" name="Text 31"/>
          <p:cNvSpPr/>
          <p:nvPr/>
        </p:nvSpPr>
        <p:spPr>
          <a:xfrm>
            <a:off x="9171432" y="2633472"/>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Reconciliation Agent</a:t>
            </a:r>
            <a:endParaRPr lang="en-US" sz="1150"/>
          </a:p>
        </p:txBody>
      </p:sp>
      <p:sp>
        <p:nvSpPr>
          <p:cNvPr id="34" name="Text 32"/>
          <p:cNvSpPr/>
          <p:nvPr/>
        </p:nvSpPr>
        <p:spPr>
          <a:xfrm>
            <a:off x="9171432" y="2907792"/>
            <a:ext cx="2395728" cy="365760"/>
          </a:xfrm>
          <a:prstGeom prst="rect">
            <a:avLst/>
          </a:prstGeom>
          <a:noFill/>
          <a:ln/>
        </p:spPr>
        <p:txBody>
          <a:bodyPr wrap="square" lIns="0" tIns="0" rIns="0" bIns="0" rtlCol="0" anchor="ctr"/>
          <a:lstStyle/>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ties the records together</a:t>
            </a:r>
            <a:endParaRPr lang="en-US" sz="900"/>
          </a:p>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and explains differences</a:t>
            </a:r>
            <a:endParaRPr lang="en-US" sz="900"/>
          </a:p>
        </p:txBody>
      </p:sp>
      <p:sp>
        <p:nvSpPr>
          <p:cNvPr id="35" name="Shape 33"/>
          <p:cNvSpPr/>
          <p:nvPr/>
        </p:nvSpPr>
        <p:spPr>
          <a:xfrm>
            <a:off x="4581144" y="3401568"/>
            <a:ext cx="185929" cy="448056"/>
          </a:xfrm>
          <a:prstGeom prst="downArrow">
            <a:avLst/>
          </a:prstGeom>
          <a:solidFill>
            <a:srgbClr val="B9AFCF"/>
          </a:solidFill>
          <a:ln w="12700">
            <a:solidFill>
              <a:srgbClr val="B9AFCF"/>
            </a:solidFill>
            <a:prstDash val="solid"/>
          </a:ln>
        </p:spPr>
        <p:txBody>
          <a:bodyPr/>
          <a:lstStyle/>
          <a:p>
            <a:endParaRPr lang="en-US"/>
          </a:p>
        </p:txBody>
      </p:sp>
      <p:sp>
        <p:nvSpPr>
          <p:cNvPr id="36" name="Shape 34"/>
          <p:cNvSpPr/>
          <p:nvPr/>
        </p:nvSpPr>
        <p:spPr>
          <a:xfrm>
            <a:off x="7424928" y="3685032"/>
            <a:ext cx="201168" cy="164592"/>
          </a:xfrm>
          <a:prstGeom prst="downArrow">
            <a:avLst/>
          </a:prstGeom>
          <a:solidFill>
            <a:srgbClr val="B9AFCF"/>
          </a:solidFill>
          <a:ln w="12700">
            <a:solidFill>
              <a:srgbClr val="B9AFCF"/>
            </a:solidFill>
            <a:prstDash val="solid"/>
          </a:ln>
        </p:spPr>
        <p:txBody>
          <a:bodyPr/>
          <a:lstStyle/>
          <a:p>
            <a:endParaRPr lang="en-US"/>
          </a:p>
        </p:txBody>
      </p:sp>
      <p:sp>
        <p:nvSpPr>
          <p:cNvPr id="37" name="Shape 35"/>
          <p:cNvSpPr/>
          <p:nvPr/>
        </p:nvSpPr>
        <p:spPr>
          <a:xfrm>
            <a:off x="10268712" y="3401568"/>
            <a:ext cx="201168" cy="448056"/>
          </a:xfrm>
          <a:prstGeom prst="downArrow">
            <a:avLst/>
          </a:prstGeom>
          <a:solidFill>
            <a:srgbClr val="B9AFCF"/>
          </a:solidFill>
          <a:ln w="12700">
            <a:solidFill>
              <a:srgbClr val="B9AFCF"/>
            </a:solidFill>
            <a:prstDash val="solid"/>
          </a:ln>
        </p:spPr>
        <p:txBody>
          <a:bodyPr/>
          <a:lstStyle/>
          <a:p>
            <a:endParaRPr lang="en-US"/>
          </a:p>
        </p:txBody>
      </p:sp>
      <p:sp>
        <p:nvSpPr>
          <p:cNvPr id="38" name="Shape 36"/>
          <p:cNvSpPr/>
          <p:nvPr/>
        </p:nvSpPr>
        <p:spPr>
          <a:xfrm>
            <a:off x="3410712" y="3950208"/>
            <a:ext cx="8229600" cy="713232"/>
          </a:xfrm>
          <a:prstGeom prst="roundRect">
            <a:avLst>
              <a:gd name="adj" fmla="val 8974"/>
            </a:avLst>
          </a:prstGeom>
          <a:solidFill>
            <a:srgbClr val="FCEEFD"/>
          </a:solidFill>
          <a:ln w="15875">
            <a:solidFill>
              <a:srgbClr val="C925D1"/>
            </a:solidFill>
            <a:prstDash val="solid"/>
          </a:ln>
          <a:effectLst>
            <a:outerShdw blurRad="127000" dist="12700" dir="5400000" algn="bl" rotWithShape="0">
              <a:srgbClr val="1A1033">
                <a:alpha val="10000"/>
              </a:srgbClr>
            </a:outerShdw>
          </a:effectLst>
        </p:spPr>
        <p:txBody>
          <a:bodyPr/>
          <a:lstStyle/>
          <a:p>
            <a:endParaRPr lang="en-US"/>
          </a:p>
        </p:txBody>
      </p:sp>
      <p:sp>
        <p:nvSpPr>
          <p:cNvPr id="39" name="Shape 37"/>
          <p:cNvSpPr/>
          <p:nvPr/>
        </p:nvSpPr>
        <p:spPr>
          <a:xfrm>
            <a:off x="3630168" y="4160520"/>
            <a:ext cx="292608" cy="292608"/>
          </a:xfrm>
          <a:prstGeom prst="ellipse">
            <a:avLst/>
          </a:prstGeom>
          <a:solidFill>
            <a:srgbClr val="C925D1"/>
          </a:solidFill>
          <a:ln w="12700">
            <a:solidFill>
              <a:srgbClr val="C925D1"/>
            </a:solidFill>
            <a:prstDash val="solid"/>
          </a:ln>
        </p:spPr>
        <p:txBody>
          <a:bodyPr/>
          <a:lstStyle/>
          <a:p>
            <a:endParaRPr lang="en-US"/>
          </a:p>
        </p:txBody>
      </p:sp>
      <p:sp>
        <p:nvSpPr>
          <p:cNvPr id="40" name="Text 38"/>
          <p:cNvSpPr/>
          <p:nvPr/>
        </p:nvSpPr>
        <p:spPr>
          <a:xfrm>
            <a:off x="4050792" y="3950208"/>
            <a:ext cx="7406640" cy="713232"/>
          </a:xfrm>
          <a:prstGeom prst="rect">
            <a:avLst/>
          </a:prstGeom>
          <a:noFill/>
          <a:ln/>
        </p:spPr>
        <p:txBody>
          <a:bodyPr wrap="square" lIns="0" tIns="0" rIns="0" bIns="0" rtlCol="0" anchor="ctr"/>
          <a:lstStyle/>
          <a:p>
            <a:pPr marL="0" indent="0">
              <a:lnSpc>
                <a:spcPts val="1400"/>
              </a:lnSpc>
              <a:buNone/>
            </a:pPr>
            <a:r>
              <a:rPr lang="en-US" sz="1100" b="1">
                <a:solidFill>
                  <a:srgbClr val="8E1A96"/>
                </a:solidFill>
                <a:latin typeface="Calibri" pitchFamily="34" charset="0"/>
                <a:ea typeface="Calibri" pitchFamily="34" charset="-122"/>
                <a:cs typeface="Calibri" pitchFamily="34" charset="-120"/>
              </a:rPr>
              <a:t>Amazon DynamoDB — results store    </a:t>
            </a:r>
            <a:r>
              <a:rPr lang="en-US" sz="1100">
                <a:solidFill>
                  <a:srgbClr val="4B5563"/>
                </a:solidFill>
                <a:latin typeface="Calibri" pitchFamily="34" charset="0"/>
                <a:ea typeface="Calibri" pitchFamily="34" charset="-122"/>
                <a:cs typeface="Calibri" pitchFamily="34" charset="-120"/>
              </a:rPr>
              <a:t>trial balance  ·  P&amp;L  ·  balance sheet  ·  reconciliation, each written with its evidence</a:t>
            </a:r>
            <a:endParaRPr lang="en-US" sz="1100"/>
          </a:p>
        </p:txBody>
      </p:sp>
      <p:sp>
        <p:nvSpPr>
          <p:cNvPr id="41" name="Shape 39"/>
          <p:cNvSpPr/>
          <p:nvPr/>
        </p:nvSpPr>
        <p:spPr>
          <a:xfrm>
            <a:off x="7424928" y="4736592"/>
            <a:ext cx="201168" cy="164592"/>
          </a:xfrm>
          <a:prstGeom prst="downArrow">
            <a:avLst/>
          </a:prstGeom>
          <a:solidFill>
            <a:srgbClr val="B9AFCF"/>
          </a:solidFill>
          <a:ln w="12700">
            <a:solidFill>
              <a:srgbClr val="B9AFCF"/>
            </a:solidFill>
            <a:prstDash val="solid"/>
          </a:ln>
        </p:spPr>
        <p:txBody>
          <a:bodyPr/>
          <a:lstStyle/>
          <a:p>
            <a:endParaRPr lang="en-US"/>
          </a:p>
        </p:txBody>
      </p:sp>
      <p:sp>
        <p:nvSpPr>
          <p:cNvPr id="42" name="Shape 40"/>
          <p:cNvSpPr/>
          <p:nvPr/>
        </p:nvSpPr>
        <p:spPr>
          <a:xfrm>
            <a:off x="3410712" y="4983480"/>
            <a:ext cx="8229600" cy="685800"/>
          </a:xfrm>
          <a:prstGeom prst="roundRect">
            <a:avLst>
              <a:gd name="adj" fmla="val 9333"/>
            </a:avLst>
          </a:prstGeom>
          <a:solidFill>
            <a:srgbClr val="A100FF"/>
          </a:solidFill>
          <a:ln w="12700">
            <a:solidFill>
              <a:srgbClr val="A100FF"/>
            </a:solidFill>
            <a:prstDash val="solid"/>
          </a:ln>
          <a:effectLst>
            <a:outerShdw blurRad="127000" dist="12700" dir="5400000" algn="bl" rotWithShape="0">
              <a:srgbClr val="1A1033">
                <a:alpha val="10000"/>
              </a:srgbClr>
            </a:outerShdw>
          </a:effectLst>
        </p:spPr>
        <p:txBody>
          <a:bodyPr/>
          <a:lstStyle/>
          <a:p>
            <a:endParaRPr lang="en-US"/>
          </a:p>
        </p:txBody>
      </p:sp>
      <p:sp>
        <p:nvSpPr>
          <p:cNvPr id="43" name="Text 41"/>
          <p:cNvSpPr/>
          <p:nvPr/>
        </p:nvSpPr>
        <p:spPr>
          <a:xfrm>
            <a:off x="3410712" y="4983480"/>
            <a:ext cx="8229600"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Dashboard — the front end reads every result straight from DynamoDB</a:t>
            </a:r>
            <a:endParaRPr lang="en-US" sz="1200"/>
          </a:p>
        </p:txBody>
      </p:sp>
      <p:sp>
        <p:nvSpPr>
          <p:cNvPr id="44" name="Text 42"/>
          <p:cNvSpPr/>
          <p:nvPr/>
        </p:nvSpPr>
        <p:spPr>
          <a:xfrm>
            <a:off x="566928" y="5852160"/>
            <a:ext cx="11064240" cy="320040"/>
          </a:xfrm>
          <a:prstGeom prst="rect">
            <a:avLst/>
          </a:prstGeom>
          <a:noFill/>
          <a:ln/>
        </p:spPr>
        <p:txBody>
          <a:bodyPr wrap="square" lIns="0" tIns="0" rIns="0" bIns="0" rtlCol="0" anchor="ctr"/>
          <a:lstStyle/>
          <a:p>
            <a:pPr marL="0" indent="0">
              <a:buNone/>
            </a:pPr>
            <a:r>
              <a:rPr lang="en-US" sz="1050" i="1">
                <a:solidFill>
                  <a:srgbClr val="7C8493"/>
                </a:solidFill>
                <a:latin typeface="Calibri" pitchFamily="34" charset="0"/>
                <a:ea typeface="Calibri" pitchFamily="34" charset="-122"/>
                <a:cs typeface="Calibri" pitchFamily="34" charset="-120"/>
              </a:rPr>
              <a:t>Every agent is a Strands agent in its own Lambda, reasoning through Bedrock. All arithmetic is Python. The model classifies and explains, it never adds up a column.</a:t>
            </a:r>
            <a:endParaRPr lang="en-US" sz="10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9888" y="-73152"/>
            <a:ext cx="9509760" cy="658368"/>
          </a:xfrm>
          <a:prstGeom prst="rect">
            <a:avLst/>
          </a:prstGeom>
          <a:noFill/>
          <a:ln/>
        </p:spPr>
        <p:txBody>
          <a:bodyPr wrap="square" lIns="0" tIns="0" rIns="0" bIns="0" rtlCol="0" anchor="ctr"/>
          <a:lstStyle/>
          <a:p>
            <a:pPr marL="0" indent="0">
              <a:buNone/>
            </a:pPr>
            <a:r>
              <a:rPr lang="en-US" sz="2900" b="1" dirty="0">
                <a:solidFill>
                  <a:srgbClr val="12101F"/>
                </a:solidFill>
                <a:latin typeface="Bookman Old Style" pitchFamily="34" charset="0"/>
                <a:ea typeface="Bookman Old Style" pitchFamily="34" charset="-122"/>
                <a:cs typeface="Bookman Old Style" pitchFamily="34" charset="-120"/>
              </a:rPr>
              <a:t>System Architecture</a:t>
            </a:r>
            <a:endParaRPr lang="en-US" sz="2900" dirty="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6</a:t>
            </a:r>
            <a:endParaRPr lang="en-US" sz="1050"/>
          </a:p>
        </p:txBody>
      </p:sp>
      <p:sp>
        <p:nvSpPr>
          <p:cNvPr id="7" name="Shape 5"/>
          <p:cNvSpPr/>
          <p:nvPr/>
        </p:nvSpPr>
        <p:spPr>
          <a:xfrm>
            <a:off x="566928" y="1042415"/>
            <a:ext cx="11064240" cy="5153111"/>
          </a:xfrm>
          <a:prstGeom prst="roundRect">
            <a:avLst>
              <a:gd name="adj" fmla="val 1304"/>
            </a:avLst>
          </a:prstGeom>
          <a:solidFill>
            <a:srgbClr val="FCFBFE"/>
          </a:solidFill>
          <a:ln w="12700">
            <a:solidFill>
              <a:srgbClr val="E4DCF5"/>
            </a:solidFill>
            <a:prstDash val="solid"/>
          </a:ln>
        </p:spPr>
        <p:txBody>
          <a:bodyPr/>
          <a:lstStyle/>
          <a:p>
            <a:endParaRPr lang="en-US"/>
          </a:p>
        </p:txBody>
      </p:sp>
      <p:pic>
        <p:nvPicPr>
          <p:cNvPr id="11" name="Picture 10">
            <a:extLst>
              <a:ext uri="{FF2B5EF4-FFF2-40B4-BE49-F238E27FC236}">
                <a16:creationId xmlns:a16="http://schemas.microsoft.com/office/drawing/2014/main" id="{F27F0807-FE86-F948-7CA8-39B47AC7F955}"/>
              </a:ext>
            </a:extLst>
          </p:cNvPr>
          <p:cNvPicPr>
            <a:picLocks noChangeAspect="1"/>
          </p:cNvPicPr>
          <p:nvPr/>
        </p:nvPicPr>
        <p:blipFill>
          <a:blip r:embed="rId4"/>
          <a:stretch>
            <a:fillRect/>
          </a:stretch>
        </p:blipFill>
        <p:spPr>
          <a:xfrm>
            <a:off x="2079752" y="365421"/>
            <a:ext cx="9354820" cy="6236547"/>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Sequence — A Single Audit Run</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Who calls whom, in order, from upload to a dashboard full of results.</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7</a:t>
            </a:r>
            <a:endParaRPr lang="en-US" sz="1050"/>
          </a:p>
        </p:txBody>
      </p:sp>
      <p:sp>
        <p:nvSpPr>
          <p:cNvPr id="7" name="Shape 5"/>
          <p:cNvSpPr/>
          <p:nvPr/>
        </p:nvSpPr>
        <p:spPr>
          <a:xfrm>
            <a:off x="566928" y="1691640"/>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8" name="Shape 6"/>
          <p:cNvSpPr/>
          <p:nvPr/>
        </p:nvSpPr>
        <p:spPr>
          <a:xfrm>
            <a:off x="822960" y="1929384"/>
            <a:ext cx="402336" cy="402336"/>
          </a:xfrm>
          <a:prstGeom prst="ellipse">
            <a:avLst/>
          </a:prstGeom>
          <a:solidFill>
            <a:srgbClr val="6B21A8"/>
          </a:solidFill>
          <a:ln w="12700">
            <a:solidFill>
              <a:srgbClr val="6B21A8"/>
            </a:solidFill>
            <a:prstDash val="solid"/>
          </a:ln>
        </p:spPr>
        <p:txBody>
          <a:bodyPr/>
          <a:lstStyle/>
          <a:p>
            <a:endParaRPr lang="en-US"/>
          </a:p>
        </p:txBody>
      </p:sp>
      <p:sp>
        <p:nvSpPr>
          <p:cNvPr id="9" name="Text 7"/>
          <p:cNvSpPr/>
          <p:nvPr/>
        </p:nvSpPr>
        <p:spPr>
          <a:xfrm>
            <a:off x="822960" y="1993392"/>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a:t>
            </a:r>
            <a:endParaRPr lang="en-US" sz="1200"/>
          </a:p>
        </p:txBody>
      </p:sp>
      <p:sp>
        <p:nvSpPr>
          <p:cNvPr id="10" name="Text 8"/>
          <p:cNvSpPr/>
          <p:nvPr/>
        </p:nvSpPr>
        <p:spPr>
          <a:xfrm>
            <a:off x="822960" y="2404872"/>
            <a:ext cx="2139696" cy="237744"/>
          </a:xfrm>
          <a:prstGeom prst="rect">
            <a:avLst/>
          </a:prstGeom>
          <a:noFill/>
          <a:ln/>
        </p:spPr>
        <p:txBody>
          <a:bodyPr wrap="square" lIns="0" tIns="0" rIns="0" bIns="0" rtlCol="0" anchor="ctr"/>
          <a:lstStyle/>
          <a:p>
            <a:pPr marL="0" indent="0">
              <a:buNone/>
            </a:pPr>
            <a:r>
              <a:rPr lang="en-US" sz="800" b="1" kern="0" spc="60">
                <a:solidFill>
                  <a:srgbClr val="6B21A8"/>
                </a:solidFill>
                <a:latin typeface="Calibri" pitchFamily="34" charset="0"/>
                <a:ea typeface="Calibri" pitchFamily="34" charset="-122"/>
                <a:cs typeface="Calibri" pitchFamily="34" charset="-120"/>
              </a:rPr>
              <a:t>ANALYST → S3</a:t>
            </a:r>
            <a:endParaRPr lang="en-US" sz="800"/>
          </a:p>
        </p:txBody>
      </p:sp>
      <p:sp>
        <p:nvSpPr>
          <p:cNvPr id="11" name="Text 9"/>
          <p:cNvSpPr/>
          <p:nvPr/>
        </p:nvSpPr>
        <p:spPr>
          <a:xfrm>
            <a:off x="822960" y="2624328"/>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Upload P&amp;L, balance sheet and receipts</a:t>
            </a:r>
            <a:endParaRPr lang="en-US" sz="1050"/>
          </a:p>
        </p:txBody>
      </p:sp>
      <p:sp>
        <p:nvSpPr>
          <p:cNvPr id="12" name="Shape 10"/>
          <p:cNvSpPr/>
          <p:nvPr/>
        </p:nvSpPr>
        <p:spPr>
          <a:xfrm>
            <a:off x="3355848" y="1691640"/>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3" name="Shape 11"/>
          <p:cNvSpPr/>
          <p:nvPr/>
        </p:nvSpPr>
        <p:spPr>
          <a:xfrm>
            <a:off x="3611880" y="1929384"/>
            <a:ext cx="402336" cy="402336"/>
          </a:xfrm>
          <a:prstGeom prst="ellipse">
            <a:avLst/>
          </a:prstGeom>
          <a:solidFill>
            <a:srgbClr val="0E7490"/>
          </a:solidFill>
          <a:ln w="12700">
            <a:solidFill>
              <a:srgbClr val="0E7490"/>
            </a:solidFill>
            <a:prstDash val="solid"/>
          </a:ln>
        </p:spPr>
        <p:txBody>
          <a:bodyPr/>
          <a:lstStyle/>
          <a:p>
            <a:endParaRPr lang="en-US"/>
          </a:p>
        </p:txBody>
      </p:sp>
      <p:sp>
        <p:nvSpPr>
          <p:cNvPr id="14" name="Text 12"/>
          <p:cNvSpPr/>
          <p:nvPr/>
        </p:nvSpPr>
        <p:spPr>
          <a:xfrm>
            <a:off x="3611880" y="1993392"/>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a:t>
            </a:r>
            <a:endParaRPr lang="en-US" sz="1200"/>
          </a:p>
        </p:txBody>
      </p:sp>
      <p:sp>
        <p:nvSpPr>
          <p:cNvPr id="15" name="Text 13"/>
          <p:cNvSpPr/>
          <p:nvPr/>
        </p:nvSpPr>
        <p:spPr>
          <a:xfrm>
            <a:off x="3611880" y="2404872"/>
            <a:ext cx="2139696" cy="237744"/>
          </a:xfrm>
          <a:prstGeom prst="rect">
            <a:avLst/>
          </a:prstGeom>
          <a:noFill/>
          <a:ln/>
        </p:spPr>
        <p:txBody>
          <a:bodyPr wrap="square" lIns="0" tIns="0" rIns="0" bIns="0" rtlCol="0" anchor="ctr"/>
          <a:lstStyle/>
          <a:p>
            <a:pPr marL="0" indent="0">
              <a:buNone/>
            </a:pPr>
            <a:r>
              <a:rPr lang="en-US" sz="800" b="1" kern="0" spc="60">
                <a:solidFill>
                  <a:srgbClr val="0E7490"/>
                </a:solidFill>
                <a:latin typeface="Calibri" pitchFamily="34" charset="0"/>
                <a:ea typeface="Calibri" pitchFamily="34" charset="-122"/>
                <a:cs typeface="Calibri" pitchFamily="34" charset="-120"/>
              </a:rPr>
              <a:t>S3 → EXTRACTION</a:t>
            </a:r>
            <a:endParaRPr lang="en-US" sz="800"/>
          </a:p>
        </p:txBody>
      </p:sp>
      <p:sp>
        <p:nvSpPr>
          <p:cNvPr id="16" name="Text 14"/>
          <p:cNvSpPr/>
          <p:nvPr/>
        </p:nvSpPr>
        <p:spPr>
          <a:xfrm>
            <a:off x="3611880" y="2624328"/>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Upload event fires · Textract OCR → figures</a:t>
            </a:r>
            <a:endParaRPr lang="en-US" sz="1050"/>
          </a:p>
        </p:txBody>
      </p:sp>
      <p:sp>
        <p:nvSpPr>
          <p:cNvPr id="17" name="Shape 15"/>
          <p:cNvSpPr/>
          <p:nvPr/>
        </p:nvSpPr>
        <p:spPr>
          <a:xfrm>
            <a:off x="6144768" y="1691640"/>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8" name="Shape 16"/>
          <p:cNvSpPr/>
          <p:nvPr/>
        </p:nvSpPr>
        <p:spPr>
          <a:xfrm>
            <a:off x="6400800" y="1929384"/>
            <a:ext cx="402336" cy="402336"/>
          </a:xfrm>
          <a:prstGeom prst="ellipse">
            <a:avLst/>
          </a:prstGeom>
          <a:solidFill>
            <a:srgbClr val="A100FF"/>
          </a:solidFill>
          <a:ln w="12700">
            <a:solidFill>
              <a:srgbClr val="A100FF"/>
            </a:solidFill>
            <a:prstDash val="solid"/>
          </a:ln>
        </p:spPr>
        <p:txBody>
          <a:bodyPr/>
          <a:lstStyle/>
          <a:p>
            <a:endParaRPr lang="en-US"/>
          </a:p>
        </p:txBody>
      </p:sp>
      <p:sp>
        <p:nvSpPr>
          <p:cNvPr id="19" name="Text 17"/>
          <p:cNvSpPr/>
          <p:nvPr/>
        </p:nvSpPr>
        <p:spPr>
          <a:xfrm>
            <a:off x="6400800" y="1993392"/>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3</a:t>
            </a:r>
            <a:endParaRPr lang="en-US" sz="1200"/>
          </a:p>
        </p:txBody>
      </p:sp>
      <p:sp>
        <p:nvSpPr>
          <p:cNvPr id="20" name="Text 18"/>
          <p:cNvSpPr/>
          <p:nvPr/>
        </p:nvSpPr>
        <p:spPr>
          <a:xfrm>
            <a:off x="6400800" y="2404872"/>
            <a:ext cx="2139696" cy="237744"/>
          </a:xfrm>
          <a:prstGeom prst="rect">
            <a:avLst/>
          </a:prstGeom>
          <a:noFill/>
          <a:ln/>
        </p:spPr>
        <p:txBody>
          <a:bodyPr wrap="square" lIns="0" tIns="0" rIns="0" bIns="0" rtlCol="0" anchor="ctr"/>
          <a:lstStyle/>
          <a:p>
            <a:pPr marL="0" indent="0">
              <a:buNone/>
            </a:pPr>
            <a:r>
              <a:rPr lang="en-US" sz="800" b="1" kern="0" spc="60">
                <a:solidFill>
                  <a:srgbClr val="A100FF"/>
                </a:solidFill>
                <a:latin typeface="Calibri" pitchFamily="34" charset="0"/>
                <a:ea typeface="Calibri" pitchFamily="34" charset="-122"/>
                <a:cs typeface="Calibri" pitchFamily="34" charset="-120"/>
              </a:rPr>
              <a:t>→ LEDGER AGENT</a:t>
            </a:r>
            <a:endParaRPr lang="en-US" sz="800"/>
          </a:p>
        </p:txBody>
      </p:sp>
      <p:sp>
        <p:nvSpPr>
          <p:cNvPr id="21" name="Text 19"/>
          <p:cNvSpPr/>
          <p:nvPr/>
        </p:nvSpPr>
        <p:spPr>
          <a:xfrm>
            <a:off x="6400800" y="2624328"/>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Post double-entry · trial balance must balance</a:t>
            </a:r>
            <a:endParaRPr lang="en-US" sz="1050"/>
          </a:p>
        </p:txBody>
      </p:sp>
      <p:sp>
        <p:nvSpPr>
          <p:cNvPr id="22" name="Shape 20"/>
          <p:cNvSpPr/>
          <p:nvPr/>
        </p:nvSpPr>
        <p:spPr>
          <a:xfrm>
            <a:off x="8933688" y="1691640"/>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3" name="Shape 21"/>
          <p:cNvSpPr/>
          <p:nvPr/>
        </p:nvSpPr>
        <p:spPr>
          <a:xfrm>
            <a:off x="9189720" y="1929384"/>
            <a:ext cx="402336" cy="402336"/>
          </a:xfrm>
          <a:prstGeom prst="ellipse">
            <a:avLst/>
          </a:prstGeom>
          <a:solidFill>
            <a:srgbClr val="C925D1"/>
          </a:solidFill>
          <a:ln w="12700">
            <a:solidFill>
              <a:srgbClr val="C925D1"/>
            </a:solidFill>
            <a:prstDash val="solid"/>
          </a:ln>
        </p:spPr>
        <p:txBody>
          <a:bodyPr/>
          <a:lstStyle/>
          <a:p>
            <a:endParaRPr lang="en-US"/>
          </a:p>
        </p:txBody>
      </p:sp>
      <p:sp>
        <p:nvSpPr>
          <p:cNvPr id="24" name="Text 22"/>
          <p:cNvSpPr/>
          <p:nvPr/>
        </p:nvSpPr>
        <p:spPr>
          <a:xfrm>
            <a:off x="9189720" y="1993392"/>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4</a:t>
            </a:r>
            <a:endParaRPr lang="en-US" sz="1200"/>
          </a:p>
        </p:txBody>
      </p:sp>
      <p:sp>
        <p:nvSpPr>
          <p:cNvPr id="25" name="Text 23"/>
          <p:cNvSpPr/>
          <p:nvPr/>
        </p:nvSpPr>
        <p:spPr>
          <a:xfrm>
            <a:off x="9189720" y="2404872"/>
            <a:ext cx="2139696" cy="237744"/>
          </a:xfrm>
          <a:prstGeom prst="rect">
            <a:avLst/>
          </a:prstGeom>
          <a:noFill/>
          <a:ln/>
        </p:spPr>
        <p:txBody>
          <a:bodyPr wrap="square" lIns="0" tIns="0" rIns="0" bIns="0" rtlCol="0" anchor="ctr"/>
          <a:lstStyle/>
          <a:p>
            <a:pPr marL="0" indent="0">
              <a:buNone/>
            </a:pPr>
            <a:r>
              <a:rPr lang="en-US" sz="800" b="1" kern="0" spc="60">
                <a:solidFill>
                  <a:srgbClr val="C925D1"/>
                </a:solidFill>
                <a:latin typeface="Calibri" pitchFamily="34" charset="0"/>
                <a:ea typeface="Calibri" pitchFamily="34" charset="-122"/>
                <a:cs typeface="Calibri" pitchFamily="34" charset="-120"/>
              </a:rPr>
              <a:t>LEDGER → DYNAMODB</a:t>
            </a:r>
            <a:endParaRPr lang="en-US" sz="800"/>
          </a:p>
        </p:txBody>
      </p:sp>
      <p:sp>
        <p:nvSpPr>
          <p:cNvPr id="26" name="Text 24"/>
          <p:cNvSpPr/>
          <p:nvPr/>
        </p:nvSpPr>
        <p:spPr>
          <a:xfrm>
            <a:off x="9189720" y="2624328"/>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Trial balance persisted with its postings</a:t>
            </a:r>
            <a:endParaRPr lang="en-US" sz="1050"/>
          </a:p>
        </p:txBody>
      </p:sp>
      <p:sp>
        <p:nvSpPr>
          <p:cNvPr id="27" name="Shape 25"/>
          <p:cNvSpPr/>
          <p:nvPr/>
        </p:nvSpPr>
        <p:spPr>
          <a:xfrm>
            <a:off x="566928" y="3264408"/>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8" name="Shape 26"/>
          <p:cNvSpPr/>
          <p:nvPr/>
        </p:nvSpPr>
        <p:spPr>
          <a:xfrm>
            <a:off x="822960" y="3502152"/>
            <a:ext cx="402336" cy="402336"/>
          </a:xfrm>
          <a:prstGeom prst="ellipse">
            <a:avLst/>
          </a:prstGeom>
          <a:solidFill>
            <a:srgbClr val="FF9900"/>
          </a:solidFill>
          <a:ln w="12700">
            <a:solidFill>
              <a:srgbClr val="FF9900"/>
            </a:solidFill>
            <a:prstDash val="solid"/>
          </a:ln>
        </p:spPr>
        <p:txBody>
          <a:bodyPr/>
          <a:lstStyle/>
          <a:p>
            <a:endParaRPr lang="en-US">
              <a:solidFill>
                <a:schemeClr val="bg1"/>
              </a:solidFill>
            </a:endParaRPr>
          </a:p>
        </p:txBody>
      </p:sp>
      <p:sp>
        <p:nvSpPr>
          <p:cNvPr id="29" name="Text 27"/>
          <p:cNvSpPr/>
          <p:nvPr/>
        </p:nvSpPr>
        <p:spPr>
          <a:xfrm>
            <a:off x="822960" y="3566160"/>
            <a:ext cx="402336" cy="292608"/>
          </a:xfrm>
          <a:prstGeom prst="rect">
            <a:avLst/>
          </a:prstGeom>
          <a:noFill/>
          <a:ln/>
        </p:spPr>
        <p:txBody>
          <a:bodyPr wrap="square" lIns="0" tIns="0" rIns="0" bIns="0" rtlCol="0" anchor="ctr"/>
          <a:lstStyle/>
          <a:p>
            <a:pPr marL="0" indent="0" algn="ctr">
              <a:buNone/>
            </a:pPr>
            <a:r>
              <a:rPr lang="en-US" sz="1200" b="1">
                <a:solidFill>
                  <a:schemeClr val="bg1"/>
                </a:solidFill>
                <a:latin typeface="Calibri" pitchFamily="34" charset="0"/>
                <a:ea typeface="Calibri" pitchFamily="34" charset="-122"/>
                <a:cs typeface="Calibri" pitchFamily="34" charset="-120"/>
              </a:rPr>
              <a:t>5</a:t>
            </a:r>
            <a:endParaRPr lang="en-US" sz="1200">
              <a:solidFill>
                <a:schemeClr val="bg1"/>
              </a:solidFill>
            </a:endParaRPr>
          </a:p>
        </p:txBody>
      </p:sp>
      <p:sp>
        <p:nvSpPr>
          <p:cNvPr id="30" name="Text 28"/>
          <p:cNvSpPr/>
          <p:nvPr/>
        </p:nvSpPr>
        <p:spPr>
          <a:xfrm>
            <a:off x="822960" y="3977640"/>
            <a:ext cx="2139696" cy="237744"/>
          </a:xfrm>
          <a:prstGeom prst="rect">
            <a:avLst/>
          </a:prstGeom>
          <a:noFill/>
          <a:ln/>
        </p:spPr>
        <p:txBody>
          <a:bodyPr wrap="square" lIns="0" tIns="0" rIns="0" bIns="0" rtlCol="0" anchor="ctr"/>
          <a:lstStyle/>
          <a:p>
            <a:pPr marL="0" indent="0">
              <a:buNone/>
            </a:pPr>
            <a:r>
              <a:rPr lang="en-US" sz="800" b="1" kern="0" spc="60">
                <a:solidFill>
                  <a:srgbClr val="FF9900"/>
                </a:solidFill>
                <a:latin typeface="Calibri" pitchFamily="34" charset="0"/>
                <a:ea typeface="Calibri" pitchFamily="34" charset="-122"/>
                <a:cs typeface="Calibri" pitchFamily="34" charset="-120"/>
              </a:rPr>
              <a:t>→ P&amp;L + BALANCE SHEET</a:t>
            </a:r>
            <a:endParaRPr lang="en-US" sz="800"/>
          </a:p>
        </p:txBody>
      </p:sp>
      <p:sp>
        <p:nvSpPr>
          <p:cNvPr id="31" name="Text 29"/>
          <p:cNvSpPr/>
          <p:nvPr/>
        </p:nvSpPr>
        <p:spPr>
          <a:xfrm>
            <a:off x="822960" y="4197096"/>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Both statements computed off it, in parallel</a:t>
            </a:r>
            <a:endParaRPr lang="en-US" sz="1050"/>
          </a:p>
        </p:txBody>
      </p:sp>
      <p:sp>
        <p:nvSpPr>
          <p:cNvPr id="32" name="Shape 30"/>
          <p:cNvSpPr/>
          <p:nvPr/>
        </p:nvSpPr>
        <p:spPr>
          <a:xfrm>
            <a:off x="3355848" y="3264408"/>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3" name="Shape 31"/>
          <p:cNvSpPr/>
          <p:nvPr/>
        </p:nvSpPr>
        <p:spPr>
          <a:xfrm>
            <a:off x="3611880" y="3502152"/>
            <a:ext cx="402336" cy="402336"/>
          </a:xfrm>
          <a:prstGeom prst="ellipse">
            <a:avLst/>
          </a:prstGeom>
          <a:solidFill>
            <a:srgbClr val="C925D1"/>
          </a:solidFill>
          <a:ln w="12700">
            <a:solidFill>
              <a:srgbClr val="C925D1"/>
            </a:solidFill>
            <a:prstDash val="solid"/>
          </a:ln>
        </p:spPr>
        <p:txBody>
          <a:bodyPr/>
          <a:lstStyle/>
          <a:p>
            <a:endParaRPr lang="en-US"/>
          </a:p>
        </p:txBody>
      </p:sp>
      <p:sp>
        <p:nvSpPr>
          <p:cNvPr id="34" name="Text 32"/>
          <p:cNvSpPr/>
          <p:nvPr/>
        </p:nvSpPr>
        <p:spPr>
          <a:xfrm>
            <a:off x="3611880" y="3566160"/>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6</a:t>
            </a:r>
            <a:endParaRPr lang="en-US" sz="1200"/>
          </a:p>
        </p:txBody>
      </p:sp>
      <p:sp>
        <p:nvSpPr>
          <p:cNvPr id="35" name="Text 33"/>
          <p:cNvSpPr/>
          <p:nvPr/>
        </p:nvSpPr>
        <p:spPr>
          <a:xfrm>
            <a:off x="3611880" y="3977640"/>
            <a:ext cx="2139696" cy="237744"/>
          </a:xfrm>
          <a:prstGeom prst="rect">
            <a:avLst/>
          </a:prstGeom>
          <a:noFill/>
          <a:ln/>
        </p:spPr>
        <p:txBody>
          <a:bodyPr wrap="square" lIns="0" tIns="0" rIns="0" bIns="0" rtlCol="0" anchor="ctr"/>
          <a:lstStyle/>
          <a:p>
            <a:pPr marL="0" indent="0">
              <a:buNone/>
            </a:pPr>
            <a:r>
              <a:rPr lang="en-US" sz="800" b="1" kern="0" spc="60">
                <a:solidFill>
                  <a:srgbClr val="C925D1"/>
                </a:solidFill>
                <a:latin typeface="Calibri" pitchFamily="34" charset="0"/>
                <a:ea typeface="Calibri" pitchFamily="34" charset="-122"/>
                <a:cs typeface="Calibri" pitchFamily="34" charset="-120"/>
              </a:rPr>
              <a:t>AGENTS → DYNAMODB</a:t>
            </a:r>
            <a:endParaRPr lang="en-US" sz="800"/>
          </a:p>
        </p:txBody>
      </p:sp>
      <p:sp>
        <p:nvSpPr>
          <p:cNvPr id="36" name="Text 34"/>
          <p:cNvSpPr/>
          <p:nvPr/>
        </p:nvSpPr>
        <p:spPr>
          <a:xfrm>
            <a:off x="3611880" y="4197096"/>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Each statement persisted with its evidence</a:t>
            </a:r>
            <a:endParaRPr lang="en-US" sz="1050"/>
          </a:p>
        </p:txBody>
      </p:sp>
      <p:sp>
        <p:nvSpPr>
          <p:cNvPr id="37" name="Shape 35"/>
          <p:cNvSpPr/>
          <p:nvPr/>
        </p:nvSpPr>
        <p:spPr>
          <a:xfrm>
            <a:off x="6144768" y="3264408"/>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8" name="Shape 36"/>
          <p:cNvSpPr/>
          <p:nvPr/>
        </p:nvSpPr>
        <p:spPr>
          <a:xfrm>
            <a:off x="6400800" y="3502152"/>
            <a:ext cx="402336" cy="402336"/>
          </a:xfrm>
          <a:prstGeom prst="ellipse">
            <a:avLst/>
          </a:prstGeom>
          <a:solidFill>
            <a:srgbClr val="0E7490"/>
          </a:solidFill>
          <a:ln w="12700">
            <a:solidFill>
              <a:srgbClr val="0E7490"/>
            </a:solidFill>
            <a:prstDash val="solid"/>
          </a:ln>
        </p:spPr>
        <p:txBody>
          <a:bodyPr/>
          <a:lstStyle/>
          <a:p>
            <a:endParaRPr lang="en-US"/>
          </a:p>
        </p:txBody>
      </p:sp>
      <p:sp>
        <p:nvSpPr>
          <p:cNvPr id="39" name="Text 37"/>
          <p:cNvSpPr/>
          <p:nvPr/>
        </p:nvSpPr>
        <p:spPr>
          <a:xfrm>
            <a:off x="6400800" y="3566160"/>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7</a:t>
            </a:r>
            <a:endParaRPr lang="en-US" sz="1200"/>
          </a:p>
        </p:txBody>
      </p:sp>
      <p:sp>
        <p:nvSpPr>
          <p:cNvPr id="40" name="Text 38"/>
          <p:cNvSpPr/>
          <p:nvPr/>
        </p:nvSpPr>
        <p:spPr>
          <a:xfrm>
            <a:off x="6400800" y="3977640"/>
            <a:ext cx="2139696" cy="237744"/>
          </a:xfrm>
          <a:prstGeom prst="rect">
            <a:avLst/>
          </a:prstGeom>
          <a:noFill/>
          <a:ln/>
        </p:spPr>
        <p:txBody>
          <a:bodyPr wrap="square" lIns="0" tIns="0" rIns="0" bIns="0" rtlCol="0" anchor="ctr"/>
          <a:lstStyle/>
          <a:p>
            <a:pPr marL="0" indent="0">
              <a:buNone/>
            </a:pPr>
            <a:r>
              <a:rPr lang="en-US" sz="800" b="1" kern="0" spc="60">
                <a:solidFill>
                  <a:srgbClr val="0E7490"/>
                </a:solidFill>
                <a:latin typeface="Calibri" pitchFamily="34" charset="0"/>
                <a:ea typeface="Calibri" pitchFamily="34" charset="-122"/>
                <a:cs typeface="Calibri" pitchFamily="34" charset="-120"/>
              </a:rPr>
              <a:t>→ RECONCILIATION AGENT</a:t>
            </a:r>
            <a:endParaRPr lang="en-US" sz="800"/>
          </a:p>
        </p:txBody>
      </p:sp>
      <p:sp>
        <p:nvSpPr>
          <p:cNvPr id="41" name="Text 39"/>
          <p:cNvSpPr/>
          <p:nvPr/>
        </p:nvSpPr>
        <p:spPr>
          <a:xfrm>
            <a:off x="6400800" y="4197096"/>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Reads both, ties out, explains differences</a:t>
            </a:r>
            <a:endParaRPr lang="en-US" sz="1050"/>
          </a:p>
        </p:txBody>
      </p:sp>
      <p:sp>
        <p:nvSpPr>
          <p:cNvPr id="42" name="Shape 40"/>
          <p:cNvSpPr/>
          <p:nvPr/>
        </p:nvSpPr>
        <p:spPr>
          <a:xfrm>
            <a:off x="8933688" y="3264408"/>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43" name="Shape 41"/>
          <p:cNvSpPr/>
          <p:nvPr/>
        </p:nvSpPr>
        <p:spPr>
          <a:xfrm>
            <a:off x="9189720" y="3502152"/>
            <a:ext cx="402336" cy="402336"/>
          </a:xfrm>
          <a:prstGeom prst="ellipse">
            <a:avLst/>
          </a:prstGeom>
          <a:solidFill>
            <a:srgbClr val="1F7A5A"/>
          </a:solidFill>
          <a:ln w="12700">
            <a:solidFill>
              <a:srgbClr val="1F7A5A"/>
            </a:solidFill>
            <a:prstDash val="solid"/>
          </a:ln>
        </p:spPr>
        <p:txBody>
          <a:bodyPr/>
          <a:lstStyle/>
          <a:p>
            <a:endParaRPr lang="en-US"/>
          </a:p>
        </p:txBody>
      </p:sp>
      <p:sp>
        <p:nvSpPr>
          <p:cNvPr id="44" name="Text 42"/>
          <p:cNvSpPr/>
          <p:nvPr/>
        </p:nvSpPr>
        <p:spPr>
          <a:xfrm>
            <a:off x="9189720" y="3566160"/>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8</a:t>
            </a:r>
            <a:endParaRPr lang="en-US" sz="1200"/>
          </a:p>
        </p:txBody>
      </p:sp>
      <p:sp>
        <p:nvSpPr>
          <p:cNvPr id="45" name="Text 43"/>
          <p:cNvSpPr/>
          <p:nvPr/>
        </p:nvSpPr>
        <p:spPr>
          <a:xfrm>
            <a:off x="9189720" y="3977640"/>
            <a:ext cx="2139696" cy="237744"/>
          </a:xfrm>
          <a:prstGeom prst="rect">
            <a:avLst/>
          </a:prstGeom>
          <a:noFill/>
          <a:ln/>
        </p:spPr>
        <p:txBody>
          <a:bodyPr wrap="square" lIns="0" tIns="0" rIns="0" bIns="0" rtlCol="0" anchor="ctr"/>
          <a:lstStyle/>
          <a:p>
            <a:pPr marL="0" indent="0">
              <a:buNone/>
            </a:pPr>
            <a:r>
              <a:rPr lang="en-US" sz="800" b="1" kern="0" spc="60">
                <a:solidFill>
                  <a:srgbClr val="1F7A5A"/>
                </a:solidFill>
                <a:latin typeface="Calibri" pitchFamily="34" charset="0"/>
                <a:ea typeface="Calibri" pitchFamily="34" charset="-122"/>
                <a:cs typeface="Calibri" pitchFamily="34" charset="-120"/>
              </a:rPr>
              <a:t>→ DYNAMODB → DASHBOARD</a:t>
            </a:r>
            <a:endParaRPr lang="en-US" sz="800"/>
          </a:p>
        </p:txBody>
      </p:sp>
      <p:sp>
        <p:nvSpPr>
          <p:cNvPr id="46" name="Text 44"/>
          <p:cNvSpPr/>
          <p:nvPr/>
        </p:nvSpPr>
        <p:spPr>
          <a:xfrm>
            <a:off x="9189720" y="4197096"/>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Result persisted; front end shows every stage</a:t>
            </a:r>
            <a:endParaRPr lang="en-US" sz="1050"/>
          </a:p>
        </p:txBody>
      </p:sp>
      <p:sp>
        <p:nvSpPr>
          <p:cNvPr id="47" name="Shape 45"/>
          <p:cNvSpPr/>
          <p:nvPr/>
        </p:nvSpPr>
        <p:spPr>
          <a:xfrm>
            <a:off x="566928" y="4892040"/>
            <a:ext cx="11064240" cy="822960"/>
          </a:xfrm>
          <a:prstGeom prst="roundRect">
            <a:avLst>
              <a:gd name="adj" fmla="val 666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48" name="Text 46"/>
          <p:cNvSpPr/>
          <p:nvPr/>
        </p:nvSpPr>
        <p:spPr>
          <a:xfrm>
            <a:off x="841248" y="4892040"/>
            <a:ext cx="10515600" cy="822960"/>
          </a:xfrm>
          <a:prstGeom prst="rect">
            <a:avLst/>
          </a:prstGeom>
          <a:noFill/>
          <a:ln/>
        </p:spPr>
        <p:txBody>
          <a:bodyPr wrap="square" lIns="0" tIns="0" rIns="0" bIns="0" rtlCol="0" anchor="ctr"/>
          <a:lstStyle/>
          <a:p>
            <a:pPr marL="0" indent="0">
              <a:lnSpc>
                <a:spcPts val="1600"/>
              </a:lnSpc>
              <a:buNone/>
            </a:pPr>
            <a:r>
              <a:rPr lang="en-US" sz="1200" b="1">
                <a:solidFill>
                  <a:srgbClr val="6B21A8"/>
                </a:solidFill>
                <a:latin typeface="Calibri" pitchFamily="34" charset="0"/>
                <a:ea typeface="Calibri" pitchFamily="34" charset="-122"/>
                <a:cs typeface="Calibri" pitchFamily="34" charset="-120"/>
              </a:rPr>
              <a:t>Step 3 is the gate; steps 4, 6 and 8 are why the dashboard can be trusted.  </a:t>
            </a:r>
            <a:r>
              <a:rPr lang="en-US" sz="1200">
                <a:solidFill>
                  <a:srgbClr val="4B5563"/>
                </a:solidFill>
                <a:latin typeface="Calibri" pitchFamily="34" charset="0"/>
                <a:ea typeface="Calibri" pitchFamily="34" charset="-122"/>
                <a:cs typeface="Calibri" pitchFamily="34" charset="-120"/>
              </a:rPr>
              <a:t>Nothing downstream runs against a trial balance that doesn't balance, and every stage persists its own result, so what you see on screen is stored output, not a summary generated at render time.</a:t>
            </a:r>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01</a:t>
            </a:r>
            <a:endParaRPr lang="en-US" sz="1400" dirty="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dirty="0">
                <a:solidFill>
                  <a:srgbClr val="7EC8E3"/>
                </a:solidFill>
                <a:latin typeface="Calibri" pitchFamily="34" charset="0"/>
                <a:ea typeface="Calibri" pitchFamily="34" charset="-122"/>
                <a:cs typeface="Calibri" pitchFamily="34" charset="-120"/>
              </a:rPr>
              <a:t>UPLOAD AGENT</a:t>
            </a:r>
            <a:endParaRPr lang="en-US" sz="1100" dirty="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Upload Agent</a:t>
            </a:r>
            <a:endParaRPr lang="en-US" sz="3600" dirty="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dirty="0">
                <a:solidFill>
                  <a:srgbClr val="7A94B0"/>
                </a:solidFill>
                <a:latin typeface="Calibri" pitchFamily="34" charset="0"/>
                <a:ea typeface="Calibri" pitchFamily="34" charset="-122"/>
                <a:cs typeface="Calibri" pitchFamily="34" charset="-120"/>
              </a:rPr>
              <a:t>Entry point — accepts raw financial documents from the frontend and stores them in S3</a:t>
            </a:r>
            <a:endParaRPr lang="en-US" sz="1500" dirty="0"/>
          </a:p>
        </p:txBody>
      </p:sp>
      <p:sp>
        <p:nvSpPr>
          <p:cNvPr id="8" name="Shape 6"/>
          <p:cNvSpPr/>
          <p:nvPr/>
        </p:nvSpPr>
        <p:spPr>
          <a:xfrm>
            <a:off x="411480" y="1901952"/>
            <a:ext cx="5303520" cy="2084832"/>
          </a:xfrm>
          <a:prstGeom prst="roundRect">
            <a:avLst>
              <a:gd name="adj" fmla="val 3509"/>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65960"/>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PURPOSE &amp; LOGIC</a:t>
            </a:r>
            <a:endParaRPr lang="en-US" sz="900" dirty="0"/>
          </a:p>
        </p:txBody>
      </p:sp>
      <p:sp>
        <p:nvSpPr>
          <p:cNvPr id="10" name="Text 8"/>
          <p:cNvSpPr/>
          <p:nvPr/>
        </p:nvSpPr>
        <p:spPr>
          <a:xfrm>
            <a:off x="566928" y="2249424"/>
            <a:ext cx="5010912"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Receives multipart/form-data from Next.js via Amplify → API Gateway → Lambda</a:t>
            </a:r>
            <a:endParaRPr lang="en-US" sz="1150" dirty="0"/>
          </a:p>
        </p:txBody>
      </p:sp>
      <p:sp>
        <p:nvSpPr>
          <p:cNvPr id="11" name="Text 9"/>
          <p:cNvSpPr/>
          <p:nvPr/>
        </p:nvSpPr>
        <p:spPr>
          <a:xfrm>
            <a:off x="566928" y="2542032"/>
            <a:ext cx="5010912"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Validates doc type (invoice | balance_sheet | bank_statement | receipt) and MIME type</a:t>
            </a:r>
            <a:endParaRPr lang="en-US" sz="1150" dirty="0"/>
          </a:p>
        </p:txBody>
      </p:sp>
      <p:sp>
        <p:nvSpPr>
          <p:cNvPr id="12" name="Text 10"/>
          <p:cNvSpPr/>
          <p:nvPr/>
        </p:nvSpPr>
        <p:spPr>
          <a:xfrm>
            <a:off x="566928" y="2834640"/>
            <a:ext cx="5010912"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Derives financial year &amp; quarter from documentDate using calendar-year buckets</a:t>
            </a:r>
            <a:endParaRPr lang="en-US" sz="1150" dirty="0"/>
          </a:p>
        </p:txBody>
      </p:sp>
      <p:sp>
        <p:nvSpPr>
          <p:cNvPr id="13" name="Text 11"/>
          <p:cNvSpPr/>
          <p:nvPr/>
        </p:nvSpPr>
        <p:spPr>
          <a:xfrm>
            <a:off x="566928" y="3127248"/>
            <a:ext cx="5010912"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Stores raw file in S3 under documents/{year}/{quarter}/{filename}</a:t>
            </a:r>
            <a:endParaRPr lang="en-US" sz="1150" dirty="0"/>
          </a:p>
        </p:txBody>
      </p:sp>
      <p:sp>
        <p:nvSpPr>
          <p:cNvPr id="14" name="Text 12"/>
          <p:cNvSpPr/>
          <p:nvPr/>
        </p:nvSpPr>
        <p:spPr>
          <a:xfrm>
            <a:off x="566928" y="3419856"/>
            <a:ext cx="5010912"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Writes upload metadata record to DynamoDB (auditai-upload)</a:t>
            </a:r>
            <a:endParaRPr lang="en-US" sz="1150" dirty="0"/>
          </a:p>
        </p:txBody>
      </p:sp>
      <p:sp>
        <p:nvSpPr>
          <p:cNvPr id="15" name="Shape 13"/>
          <p:cNvSpPr/>
          <p:nvPr/>
        </p:nvSpPr>
        <p:spPr>
          <a:xfrm>
            <a:off x="411480" y="4069080"/>
            <a:ext cx="5303520" cy="1261872"/>
          </a:xfrm>
          <a:prstGeom prst="roundRect">
            <a:avLst>
              <a:gd name="adj" fmla="val 5797"/>
            </a:avLst>
          </a:prstGeom>
          <a:solidFill>
            <a:srgbClr val="1B2E45"/>
          </a:solidFill>
          <a:ln w="12700">
            <a:solidFill>
              <a:srgbClr val="243B55"/>
            </a:solidFill>
            <a:prstDash val="solid"/>
          </a:ln>
        </p:spPr>
        <p:txBody>
          <a:bodyPr/>
          <a:lstStyle/>
          <a:p>
            <a:endParaRPr lang="en-US"/>
          </a:p>
        </p:txBody>
      </p:sp>
      <p:sp>
        <p:nvSpPr>
          <p:cNvPr id="16" name="Text 14"/>
          <p:cNvSpPr/>
          <p:nvPr/>
        </p:nvSpPr>
        <p:spPr>
          <a:xfrm>
            <a:off x="566928" y="4133088"/>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INPUT  /  OUTPUT</a:t>
            </a:r>
            <a:endParaRPr lang="en-US" sz="900" dirty="0"/>
          </a:p>
        </p:txBody>
      </p:sp>
      <p:sp>
        <p:nvSpPr>
          <p:cNvPr id="17" name="Shape 15"/>
          <p:cNvSpPr/>
          <p:nvPr/>
        </p:nvSpPr>
        <p:spPr>
          <a:xfrm>
            <a:off x="566928" y="4443984"/>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18" name="Text 16"/>
          <p:cNvSpPr/>
          <p:nvPr/>
        </p:nvSpPr>
        <p:spPr>
          <a:xfrm>
            <a:off x="566928" y="4443984"/>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INPUT</a:t>
            </a:r>
            <a:endParaRPr lang="en-US" sz="850" dirty="0"/>
          </a:p>
        </p:txBody>
      </p:sp>
      <p:sp>
        <p:nvSpPr>
          <p:cNvPr id="19" name="Text 17"/>
          <p:cNvSpPr/>
          <p:nvPr/>
        </p:nvSpPr>
        <p:spPr>
          <a:xfrm>
            <a:off x="1298448" y="4407408"/>
            <a:ext cx="4270248"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HTTP POST multipart: file (PDF/JPEG/PNG/WEBP ≤ 4 MB), fileName, contentType, documentType, documentDate</a:t>
            </a:r>
            <a:endParaRPr lang="en-US" sz="1100" dirty="0"/>
          </a:p>
        </p:txBody>
      </p:sp>
      <p:sp>
        <p:nvSpPr>
          <p:cNvPr id="20" name="Shape 18"/>
          <p:cNvSpPr/>
          <p:nvPr/>
        </p:nvSpPr>
        <p:spPr>
          <a:xfrm>
            <a:off x="566928" y="4791456"/>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21" name="Text 19"/>
          <p:cNvSpPr/>
          <p:nvPr/>
        </p:nvSpPr>
        <p:spPr>
          <a:xfrm>
            <a:off x="566928" y="4791456"/>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22" name="Text 20"/>
          <p:cNvSpPr/>
          <p:nvPr/>
        </p:nvSpPr>
        <p:spPr>
          <a:xfrm>
            <a:off x="1298448" y="4754880"/>
            <a:ext cx="4270248"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HTTP 200 → { uploadId, fileId, s3Key, financialYear, quarter, fileSizeBytes }</a:t>
            </a:r>
            <a:endParaRPr lang="en-US" sz="1100" dirty="0"/>
          </a:p>
        </p:txBody>
      </p:sp>
      <p:sp>
        <p:nvSpPr>
          <p:cNvPr id="23" name="Shape 21"/>
          <p:cNvSpPr/>
          <p:nvPr/>
        </p:nvSpPr>
        <p:spPr>
          <a:xfrm>
            <a:off x="5943600" y="1901952"/>
            <a:ext cx="5852160" cy="2084832"/>
          </a:xfrm>
          <a:prstGeom prst="roundRect">
            <a:avLst>
              <a:gd name="adj" fmla="val 3509"/>
            </a:avLst>
          </a:prstGeom>
          <a:solidFill>
            <a:srgbClr val="1B2E45"/>
          </a:solidFill>
          <a:ln w="12700">
            <a:solidFill>
              <a:srgbClr val="243B55"/>
            </a:solidFill>
            <a:prstDash val="solid"/>
          </a:ln>
        </p:spPr>
        <p:txBody>
          <a:bodyPr/>
          <a:lstStyle/>
          <a:p>
            <a:endParaRPr lang="en-US"/>
          </a:p>
        </p:txBody>
      </p:sp>
      <p:sp>
        <p:nvSpPr>
          <p:cNvPr id="24" name="Text 22"/>
          <p:cNvSpPr/>
          <p:nvPr/>
        </p:nvSpPr>
        <p:spPr>
          <a:xfrm>
            <a:off x="6108192" y="1965960"/>
            <a:ext cx="4572000" cy="256032"/>
          </a:xfrm>
          <a:prstGeom prst="rect">
            <a:avLst/>
          </a:prstGeom>
          <a:noFill/>
          <a:ln/>
        </p:spPr>
        <p:txBody>
          <a:bodyPr wrap="square" lIns="0" tIns="0" rIns="0" bIns="0"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QUARTER DERIVATION LOGIC</a:t>
            </a:r>
            <a:endParaRPr lang="en-US" sz="900" dirty="0"/>
          </a:p>
        </p:txBody>
      </p:sp>
      <p:sp>
        <p:nvSpPr>
          <p:cNvPr id="25" name="Shape 23"/>
          <p:cNvSpPr/>
          <p:nvPr/>
        </p:nvSpPr>
        <p:spPr>
          <a:xfrm>
            <a:off x="6108192" y="2212848"/>
            <a:ext cx="5559552" cy="1719072"/>
          </a:xfrm>
          <a:prstGeom prst="roundRect">
            <a:avLst>
              <a:gd name="adj" fmla="val 4255"/>
            </a:avLst>
          </a:prstGeom>
          <a:solidFill>
            <a:srgbClr val="162032"/>
          </a:solidFill>
          <a:ln w="12700">
            <a:solidFill>
              <a:srgbClr val="243B55"/>
            </a:solidFill>
            <a:prstDash val="solid"/>
          </a:ln>
        </p:spPr>
        <p:txBody>
          <a:bodyPr/>
          <a:lstStyle/>
          <a:p>
            <a:endParaRPr lang="en-US"/>
          </a:p>
        </p:txBody>
      </p:sp>
      <p:sp>
        <p:nvSpPr>
          <p:cNvPr id="26" name="Shape 24"/>
          <p:cNvSpPr/>
          <p:nvPr/>
        </p:nvSpPr>
        <p:spPr>
          <a:xfrm>
            <a:off x="6108192" y="2212848"/>
            <a:ext cx="45720" cy="1719072"/>
          </a:xfrm>
          <a:prstGeom prst="rect">
            <a:avLst/>
          </a:prstGeom>
          <a:solidFill>
            <a:srgbClr val="F5A623"/>
          </a:solidFill>
          <a:ln w="12700">
            <a:solidFill>
              <a:srgbClr val="F5A623"/>
            </a:solidFill>
            <a:prstDash val="solid"/>
          </a:ln>
        </p:spPr>
        <p:txBody>
          <a:bodyPr/>
          <a:lstStyle/>
          <a:p>
            <a:endParaRPr lang="en-US"/>
          </a:p>
        </p:txBody>
      </p:sp>
      <p:sp>
        <p:nvSpPr>
          <p:cNvPr id="27" name="Text 25"/>
          <p:cNvSpPr/>
          <p:nvPr/>
        </p:nvSpPr>
        <p:spPr>
          <a:xfrm>
            <a:off x="6272784" y="2304288"/>
            <a:ext cx="5330952" cy="256032"/>
          </a:xfrm>
          <a:prstGeom prst="rect">
            <a:avLst/>
          </a:prstGeom>
          <a:noFill/>
          <a:ln/>
        </p:spPr>
        <p:txBody>
          <a:bodyPr wrap="square" lIns="0" tIns="0" rIns="0" bIns="0" rtlCol="0" anchor="ctr"/>
          <a:lstStyle/>
          <a:p>
            <a:pPr marL="0" indent="0">
              <a:buNone/>
            </a:pPr>
            <a:r>
              <a:rPr lang="en-US" sz="1100" b="1" dirty="0">
                <a:solidFill>
                  <a:srgbClr val="F5A623"/>
                </a:solidFill>
                <a:latin typeface="Courier New" pitchFamily="34" charset="0"/>
                <a:ea typeface="Courier New" pitchFamily="34" charset="-122"/>
                <a:cs typeface="Courier New" pitchFamily="34" charset="-120"/>
              </a:rPr>
              <a:t>month = documentDate.month</a:t>
            </a:r>
            <a:endParaRPr lang="en-US" sz="1100" dirty="0"/>
          </a:p>
        </p:txBody>
      </p:sp>
      <p:sp>
        <p:nvSpPr>
          <p:cNvPr id="28" name="Text 26"/>
          <p:cNvSpPr/>
          <p:nvPr/>
        </p:nvSpPr>
        <p:spPr>
          <a:xfrm>
            <a:off x="6272784" y="2578608"/>
            <a:ext cx="5330952" cy="256032"/>
          </a:xfrm>
          <a:prstGeom prst="rect">
            <a:avLst/>
          </a:prstGeom>
          <a:noFill/>
          <a:ln/>
        </p:spPr>
        <p:txBody>
          <a:bodyPr wrap="square" lIns="0" tIns="0" rIns="0" bIns="0" rtlCol="0" anchor="ctr"/>
          <a:lstStyle/>
          <a:p>
            <a:pPr marL="0" indent="0">
              <a:buNone/>
            </a:pPr>
            <a:r>
              <a:rPr lang="en-US" sz="1100" dirty="0">
                <a:solidFill>
                  <a:srgbClr val="D6E4F0"/>
                </a:solidFill>
                <a:latin typeface="Courier New" pitchFamily="34" charset="0"/>
                <a:ea typeface="Courier New" pitchFamily="34" charset="-122"/>
                <a:cs typeface="Courier New" pitchFamily="34" charset="-120"/>
              </a:rPr>
              <a:t>if   month &lt;= 3  →  Q1</a:t>
            </a:r>
            <a:endParaRPr lang="en-US" sz="1100" dirty="0"/>
          </a:p>
        </p:txBody>
      </p:sp>
      <p:sp>
        <p:nvSpPr>
          <p:cNvPr id="29" name="Text 27"/>
          <p:cNvSpPr/>
          <p:nvPr/>
        </p:nvSpPr>
        <p:spPr>
          <a:xfrm>
            <a:off x="6272784" y="2852928"/>
            <a:ext cx="5330952" cy="256032"/>
          </a:xfrm>
          <a:prstGeom prst="rect">
            <a:avLst/>
          </a:prstGeom>
          <a:noFill/>
          <a:ln/>
        </p:spPr>
        <p:txBody>
          <a:bodyPr wrap="square" lIns="0" tIns="0" rIns="0" bIns="0" rtlCol="0" anchor="ctr"/>
          <a:lstStyle/>
          <a:p>
            <a:pPr marL="0" indent="0">
              <a:buNone/>
            </a:pPr>
            <a:r>
              <a:rPr lang="en-US" sz="1100" dirty="0">
                <a:solidFill>
                  <a:srgbClr val="D6E4F0"/>
                </a:solidFill>
                <a:latin typeface="Courier New" pitchFamily="34" charset="0"/>
                <a:ea typeface="Courier New" pitchFamily="34" charset="-122"/>
                <a:cs typeface="Courier New" pitchFamily="34" charset="-120"/>
              </a:rPr>
              <a:t>elif month &lt;= 6  →  Q2</a:t>
            </a:r>
            <a:endParaRPr lang="en-US" sz="1100" dirty="0"/>
          </a:p>
        </p:txBody>
      </p:sp>
      <p:sp>
        <p:nvSpPr>
          <p:cNvPr id="30" name="Text 28"/>
          <p:cNvSpPr/>
          <p:nvPr/>
        </p:nvSpPr>
        <p:spPr>
          <a:xfrm>
            <a:off x="6272784" y="3127248"/>
            <a:ext cx="5330952" cy="256032"/>
          </a:xfrm>
          <a:prstGeom prst="rect">
            <a:avLst/>
          </a:prstGeom>
          <a:noFill/>
          <a:ln/>
        </p:spPr>
        <p:txBody>
          <a:bodyPr wrap="square" lIns="0" tIns="0" rIns="0" bIns="0" rtlCol="0" anchor="ctr"/>
          <a:lstStyle/>
          <a:p>
            <a:pPr marL="0" indent="0">
              <a:buNone/>
            </a:pPr>
            <a:r>
              <a:rPr lang="en-US" sz="1100" dirty="0">
                <a:solidFill>
                  <a:srgbClr val="D6E4F0"/>
                </a:solidFill>
                <a:latin typeface="Courier New" pitchFamily="34" charset="0"/>
                <a:ea typeface="Courier New" pitchFamily="34" charset="-122"/>
                <a:cs typeface="Courier New" pitchFamily="34" charset="-120"/>
              </a:rPr>
              <a:t>elif month &lt;= 9  →  Q3</a:t>
            </a:r>
            <a:endParaRPr lang="en-US" sz="1100" dirty="0"/>
          </a:p>
        </p:txBody>
      </p:sp>
      <p:sp>
        <p:nvSpPr>
          <p:cNvPr id="31" name="Text 29"/>
          <p:cNvSpPr/>
          <p:nvPr/>
        </p:nvSpPr>
        <p:spPr>
          <a:xfrm>
            <a:off x="6272784" y="3401568"/>
            <a:ext cx="5330952" cy="256032"/>
          </a:xfrm>
          <a:prstGeom prst="rect">
            <a:avLst/>
          </a:prstGeom>
          <a:noFill/>
          <a:ln/>
        </p:spPr>
        <p:txBody>
          <a:bodyPr wrap="square" lIns="0" tIns="0" rIns="0" bIns="0" rtlCol="0" anchor="ctr"/>
          <a:lstStyle/>
          <a:p>
            <a:pPr marL="0" indent="0">
              <a:buNone/>
            </a:pPr>
            <a:r>
              <a:rPr lang="en-US" sz="1100" dirty="0">
                <a:solidFill>
                  <a:srgbClr val="D6E4F0"/>
                </a:solidFill>
                <a:latin typeface="Courier New" pitchFamily="34" charset="0"/>
                <a:ea typeface="Courier New" pitchFamily="34" charset="-122"/>
                <a:cs typeface="Courier New" pitchFamily="34" charset="-120"/>
              </a:rPr>
              <a:t>else             →  Q4</a:t>
            </a:r>
            <a:endParaRPr lang="en-US" sz="1100" dirty="0"/>
          </a:p>
        </p:txBody>
      </p:sp>
      <p:sp>
        <p:nvSpPr>
          <p:cNvPr id="32" name="Text 30"/>
          <p:cNvSpPr/>
          <p:nvPr/>
        </p:nvSpPr>
        <p:spPr>
          <a:xfrm>
            <a:off x="6272784" y="3675888"/>
            <a:ext cx="5330952" cy="256032"/>
          </a:xfrm>
          <a:prstGeom prst="rect">
            <a:avLst/>
          </a:prstGeom>
          <a:noFill/>
          <a:ln/>
        </p:spPr>
        <p:txBody>
          <a:bodyPr wrap="square" lIns="0" tIns="0" rIns="0" bIns="0" rtlCol="0" anchor="ctr"/>
          <a:lstStyle/>
          <a:p>
            <a:pPr marL="0" indent="0">
              <a:buNone/>
            </a:pPr>
            <a:r>
              <a:rPr lang="en-US" sz="1100" dirty="0">
                <a:solidFill>
                  <a:srgbClr val="7EC8E3"/>
                </a:solidFill>
                <a:latin typeface="Courier New" pitchFamily="34" charset="0"/>
                <a:ea typeface="Courier New" pitchFamily="34" charset="-122"/>
                <a:cs typeface="Courier New" pitchFamily="34" charset="-120"/>
              </a:rPr>
              <a:t>s3_key = documents/{year}/{Q}/{filename}</a:t>
            </a:r>
            <a:endParaRPr lang="en-US" sz="1100" dirty="0"/>
          </a:p>
        </p:txBody>
      </p:sp>
      <p:sp>
        <p:nvSpPr>
          <p:cNvPr id="33" name="Shape 31"/>
          <p:cNvSpPr/>
          <p:nvPr/>
        </p:nvSpPr>
        <p:spPr>
          <a:xfrm>
            <a:off x="5943600" y="4069080"/>
            <a:ext cx="5852160" cy="1261872"/>
          </a:xfrm>
          <a:prstGeom prst="roundRect">
            <a:avLst>
              <a:gd name="adj" fmla="val 5797"/>
            </a:avLst>
          </a:prstGeom>
          <a:solidFill>
            <a:srgbClr val="1B2E45"/>
          </a:solidFill>
          <a:ln w="12700">
            <a:solidFill>
              <a:srgbClr val="243B55"/>
            </a:solidFill>
            <a:prstDash val="solid"/>
          </a:ln>
        </p:spPr>
        <p:txBody>
          <a:bodyPr/>
          <a:lstStyle/>
          <a:p>
            <a:endParaRPr lang="en-US"/>
          </a:p>
        </p:txBody>
      </p:sp>
      <p:sp>
        <p:nvSpPr>
          <p:cNvPr id="34" name="Text 32"/>
          <p:cNvSpPr/>
          <p:nvPr/>
        </p:nvSpPr>
        <p:spPr>
          <a:xfrm>
            <a:off x="6108192" y="4133088"/>
            <a:ext cx="4572000" cy="256032"/>
          </a:xfrm>
          <a:prstGeom prst="rect">
            <a:avLst/>
          </a:prstGeom>
          <a:noFill/>
          <a:ln/>
        </p:spPr>
        <p:txBody>
          <a:bodyPr wrap="square" lIns="0" tIns="0" rIns="0" bIns="0" rtlCol="0" anchor="ctr"/>
          <a:lstStyle/>
          <a:p>
            <a:pPr marL="0" indent="0">
              <a:buNone/>
            </a:pPr>
            <a:r>
              <a:rPr lang="en-US" sz="900" b="1" kern="0" spc="300" dirty="0">
                <a:solidFill>
                  <a:srgbClr val="00C9A7"/>
                </a:solidFill>
                <a:latin typeface="Calibri" pitchFamily="34" charset="0"/>
                <a:ea typeface="Calibri" pitchFamily="34" charset="-122"/>
                <a:cs typeface="Calibri" pitchFamily="34" charset="-120"/>
              </a:rPr>
              <a:t>AWS SERVICES</a:t>
            </a:r>
            <a:endParaRPr lang="en-US" sz="900" dirty="0"/>
          </a:p>
        </p:txBody>
      </p:sp>
      <p:sp>
        <p:nvSpPr>
          <p:cNvPr id="35" name="Text 33"/>
          <p:cNvSpPr/>
          <p:nvPr/>
        </p:nvSpPr>
        <p:spPr>
          <a:xfrm>
            <a:off x="6108192" y="4407408"/>
            <a:ext cx="5559552" cy="256032"/>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  S3 (upload-bucket-raw) — raw document store</a:t>
            </a:r>
            <a:endParaRPr lang="en-US" sz="1100" dirty="0"/>
          </a:p>
        </p:txBody>
      </p:sp>
      <p:sp>
        <p:nvSpPr>
          <p:cNvPr id="36" name="Text 34"/>
          <p:cNvSpPr/>
          <p:nvPr/>
        </p:nvSpPr>
        <p:spPr>
          <a:xfrm>
            <a:off x="6108192" y="4663440"/>
            <a:ext cx="5559552" cy="256032"/>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  DynamoDB (auditai-upload) — upload metadata</a:t>
            </a:r>
            <a:endParaRPr lang="en-US" sz="1100" dirty="0"/>
          </a:p>
        </p:txBody>
      </p:sp>
      <p:sp>
        <p:nvSpPr>
          <p:cNvPr id="37" name="Text 35"/>
          <p:cNvSpPr/>
          <p:nvPr/>
        </p:nvSpPr>
        <p:spPr>
          <a:xfrm>
            <a:off x="6108192" y="4919472"/>
            <a:ext cx="5559552" cy="256032"/>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  API Gateway — HTTP routing from frontend</a:t>
            </a:r>
            <a:endParaRPr lang="en-US" sz="1100" dirty="0"/>
          </a:p>
        </p:txBody>
      </p:sp>
      <p:sp>
        <p:nvSpPr>
          <p:cNvPr id="38" name="Text 36"/>
          <p:cNvSpPr/>
          <p:nvPr/>
        </p:nvSpPr>
        <p:spPr>
          <a:xfrm>
            <a:off x="6108192" y="5175504"/>
            <a:ext cx="5559552" cy="256032"/>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  AWS Amplify — Next.js hosting + auth</a:t>
            </a:r>
            <a:endParaRPr lang="en-US" sz="1100" dirty="0"/>
          </a:p>
        </p:txBody>
      </p:sp>
      <p:sp>
        <p:nvSpPr>
          <p:cNvPr id="39" name="Text 37"/>
          <p:cNvSpPr/>
          <p:nvPr/>
        </p:nvSpPr>
        <p:spPr>
          <a:xfrm>
            <a:off x="411480" y="6355080"/>
            <a:ext cx="11338560" cy="256032"/>
          </a:xfrm>
          <a:prstGeom prst="rect">
            <a:avLst/>
          </a:prstGeom>
          <a:noFill/>
          <a:ln/>
        </p:spPr>
        <p:txBody>
          <a:bodyPr wrap="square" rtlCol="0" anchor="ctr"/>
          <a:lstStyle/>
          <a:p>
            <a:pPr marL="0" indent="0">
              <a:buNone/>
            </a:pPr>
            <a:r>
              <a:rPr lang="en-US" sz="1000" dirty="0">
                <a:solidFill>
                  <a:srgbClr val="7A94B0"/>
                </a:solidFill>
                <a:latin typeface="Calibri" pitchFamily="34" charset="0"/>
                <a:ea typeface="Calibri" pitchFamily="34" charset="-122"/>
                <a:cs typeface="Calibri" pitchFamily="34" charset="-120"/>
              </a:rPr>
              <a:t>Max file size: 4 MB  ·  Supported types: PDF · JPEG · PNG · WEBP  ·  Base currency: MYR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02</a:t>
            </a:r>
            <a:endParaRPr lang="en-US" sz="1400" dirty="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dirty="0">
                <a:solidFill>
                  <a:srgbClr val="7EC8E3"/>
                </a:solidFill>
                <a:latin typeface="Calibri" pitchFamily="34" charset="0"/>
                <a:ea typeface="Calibri" pitchFamily="34" charset="-122"/>
                <a:cs typeface="Calibri" pitchFamily="34" charset="-120"/>
              </a:rPr>
              <a:t>RUNNER AGENT</a:t>
            </a:r>
            <a:endParaRPr lang="en-US" sz="1100" dirty="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Runner Agent</a:t>
            </a:r>
            <a:endParaRPr lang="en-US" sz="3600" dirty="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dirty="0">
                <a:solidFill>
                  <a:srgbClr val="7A94B0"/>
                </a:solidFill>
                <a:latin typeface="Calibri" pitchFamily="34" charset="0"/>
                <a:ea typeface="Calibri" pitchFamily="34" charset="-122"/>
                <a:cs typeface="Calibri" pitchFamily="34" charset="-120"/>
              </a:rPr>
              <a:t>Orchestrator — chains all downstream agents in strict sequence via synchronous Lambda invocations</a:t>
            </a:r>
            <a:endParaRPr lang="en-US" sz="1500" dirty="0"/>
          </a:p>
        </p:txBody>
      </p:sp>
      <p:sp>
        <p:nvSpPr>
          <p:cNvPr id="8" name="Shape 6"/>
          <p:cNvSpPr/>
          <p:nvPr/>
        </p:nvSpPr>
        <p:spPr>
          <a:xfrm>
            <a:off x="411480" y="1901952"/>
            <a:ext cx="11356848" cy="804672"/>
          </a:xfrm>
          <a:prstGeom prst="roundRect">
            <a:avLst>
              <a:gd name="adj" fmla="val 9091"/>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TWO INVOCATION MODES</a:t>
            </a:r>
            <a:endParaRPr lang="en-US" sz="900" dirty="0"/>
          </a:p>
        </p:txBody>
      </p:sp>
      <p:sp>
        <p:nvSpPr>
          <p:cNvPr id="10" name="Text 8"/>
          <p:cNvSpPr/>
          <p:nvPr/>
        </p:nvSpPr>
        <p:spPr>
          <a:xfrm>
            <a:off x="566928" y="2231136"/>
            <a:ext cx="11064240" cy="402336"/>
          </a:xfrm>
          <a:prstGeom prst="rect">
            <a:avLst/>
          </a:prstGeom>
          <a:noFill/>
          <a:ln/>
        </p:spPr>
        <p:txBody>
          <a:bodyPr wrap="square" lIns="0" tIns="0" rIns="0" bIns="0" rtlCol="0" anchor="ctr"/>
          <a:lstStyle/>
          <a:p>
            <a:pPr marL="0" indent="0">
              <a:buNone/>
            </a:pPr>
            <a:r>
              <a:rPr lang="en-US" sz="1150" b="1" dirty="0">
                <a:solidFill>
                  <a:srgbClr val="F26B5B"/>
                </a:solidFill>
                <a:latin typeface="Calibri" pitchFamily="34" charset="0"/>
                <a:ea typeface="Calibri" pitchFamily="34" charset="-122"/>
                <a:cs typeface="Calibri" pitchFamily="34" charset="-120"/>
              </a:rPr>
              <a:t>NEW DOCUMENT  </a:t>
            </a:r>
            <a:r>
              <a:rPr lang="en-US" sz="1150" dirty="0">
                <a:solidFill>
                  <a:srgbClr val="D6E4F0"/>
                </a:solidFill>
                <a:latin typeface="Calibri" pitchFamily="34" charset="0"/>
                <a:ea typeface="Calibri" pitchFamily="34" charset="-122"/>
                <a:cs typeface="Calibri" pitchFamily="34" charset="-120"/>
              </a:rPr>
              <a:t>{ run_id, doc_type, bucket, s3_key }  →  full pipeline from S3 fetch to reconciliation     </a:t>
            </a:r>
            <a:r>
              <a:rPr lang="en-US" sz="1150" b="1" dirty="0">
                <a:solidFill>
                  <a:srgbClr val="00C9A7"/>
                </a:solidFill>
                <a:latin typeface="Calibri" pitchFamily="34" charset="0"/>
                <a:ea typeface="Calibri" pitchFamily="34" charset="-122"/>
                <a:cs typeface="Calibri" pitchFamily="34" charset="-120"/>
              </a:rPr>
              <a:t>RESUME  </a:t>
            </a:r>
            <a:r>
              <a:rPr lang="en-US" sz="1150" dirty="0">
                <a:solidFill>
                  <a:srgbClr val="D6E4F0"/>
                </a:solidFill>
                <a:latin typeface="Calibri" pitchFamily="34" charset="0"/>
                <a:ea typeface="Calibri" pitchFamily="34" charset="-122"/>
                <a:cs typeface="Calibri" pitchFamily="34" charset="-120"/>
              </a:rPr>
              <a:t>{ resume: true, run_id, doc_type, doc_id }  →  skips extraction, resumes from Ledger after human approval</a:t>
            </a:r>
            <a:endParaRPr lang="en-US" sz="1150" dirty="0"/>
          </a:p>
        </p:txBody>
      </p:sp>
      <p:sp>
        <p:nvSpPr>
          <p:cNvPr id="11" name="Shape 9"/>
          <p:cNvSpPr/>
          <p:nvPr/>
        </p:nvSpPr>
        <p:spPr>
          <a:xfrm>
            <a:off x="4114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12" name="Shape 10"/>
          <p:cNvSpPr/>
          <p:nvPr/>
        </p:nvSpPr>
        <p:spPr>
          <a:xfrm>
            <a:off x="859536" y="2871216"/>
            <a:ext cx="402336" cy="402336"/>
          </a:xfrm>
          <a:prstGeom prst="ellipse">
            <a:avLst/>
          </a:prstGeom>
          <a:solidFill>
            <a:srgbClr val="7EC8E3"/>
          </a:solidFill>
          <a:ln w="12700">
            <a:solidFill>
              <a:srgbClr val="7EC8E3"/>
            </a:solidFill>
            <a:prstDash val="solid"/>
          </a:ln>
        </p:spPr>
        <p:txBody>
          <a:bodyPr/>
          <a:lstStyle/>
          <a:p>
            <a:endParaRPr lang="en-US"/>
          </a:p>
        </p:txBody>
      </p:sp>
      <p:sp>
        <p:nvSpPr>
          <p:cNvPr id="13" name="Text 11"/>
          <p:cNvSpPr/>
          <p:nvPr/>
        </p:nvSpPr>
        <p:spPr>
          <a:xfrm>
            <a:off x="859536" y="2871216"/>
            <a:ext cx="402336" cy="402336"/>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0</a:t>
            </a:r>
            <a:endParaRPr lang="en-US" sz="1100" dirty="0"/>
          </a:p>
        </p:txBody>
      </p:sp>
      <p:sp>
        <p:nvSpPr>
          <p:cNvPr id="14" name="Text 12"/>
          <p:cNvSpPr/>
          <p:nvPr/>
        </p:nvSpPr>
        <p:spPr>
          <a:xfrm>
            <a:off x="466344" y="3310128"/>
            <a:ext cx="11887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Fetch S3</a:t>
            </a:r>
            <a:endParaRPr lang="en-US" sz="1000" dirty="0"/>
          </a:p>
        </p:txBody>
      </p:sp>
      <p:sp>
        <p:nvSpPr>
          <p:cNvPr id="15" name="Text 13"/>
          <p:cNvSpPr/>
          <p:nvPr/>
        </p:nvSpPr>
        <p:spPr>
          <a:xfrm>
            <a:off x="466344" y="3566160"/>
            <a:ext cx="1188720" cy="420624"/>
          </a:xfrm>
          <a:prstGeom prst="rect">
            <a:avLst/>
          </a:prstGeom>
          <a:noFill/>
          <a:ln/>
        </p:spPr>
        <p:txBody>
          <a:bodyPr wrap="square" lIns="0" tIns="0" rIns="0" bIns="0" rtlCol="0" anchor="ctr"/>
          <a:lstStyle/>
          <a:p>
            <a:pPr marL="0" indent="0" algn="ctr">
              <a:buNone/>
            </a:pPr>
            <a:r>
              <a:rPr lang="en-US" sz="900" dirty="0">
                <a:solidFill>
                  <a:srgbClr val="7A94B0"/>
                </a:solidFill>
                <a:latin typeface="Calibri" pitchFamily="34" charset="0"/>
                <a:ea typeface="Calibri" pitchFamily="34" charset="-122"/>
                <a:cs typeface="Calibri" pitchFamily="34" charset="-120"/>
              </a:rPr>
              <a:t>Pull raw bytes</a:t>
            </a:r>
            <a:endParaRPr lang="en-US" sz="900" dirty="0"/>
          </a:p>
          <a:p>
            <a:pPr marL="0" indent="0" algn="ctr">
              <a:buNone/>
            </a:pPr>
            <a:r>
              <a:rPr lang="en-US" sz="900" dirty="0">
                <a:solidFill>
                  <a:srgbClr val="7A94B0"/>
                </a:solidFill>
                <a:latin typeface="Calibri" pitchFamily="34" charset="0"/>
                <a:ea typeface="Calibri" pitchFamily="34" charset="-122"/>
                <a:cs typeface="Calibri" pitchFamily="34" charset="-120"/>
              </a:rPr>
              <a:t>from bucket</a:t>
            </a:r>
            <a:endParaRPr lang="en-US" sz="900" dirty="0"/>
          </a:p>
        </p:txBody>
      </p:sp>
      <p:sp>
        <p:nvSpPr>
          <p:cNvPr id="16" name="Shape 14"/>
          <p:cNvSpPr/>
          <p:nvPr/>
        </p:nvSpPr>
        <p:spPr>
          <a:xfrm>
            <a:off x="17190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17" name="Shape 15"/>
          <p:cNvSpPr/>
          <p:nvPr/>
        </p:nvSpPr>
        <p:spPr>
          <a:xfrm>
            <a:off x="17830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18" name="Shape 16"/>
          <p:cNvSpPr/>
          <p:nvPr/>
        </p:nvSpPr>
        <p:spPr>
          <a:xfrm>
            <a:off x="2231136" y="2871216"/>
            <a:ext cx="402336" cy="402336"/>
          </a:xfrm>
          <a:prstGeom prst="ellipse">
            <a:avLst/>
          </a:prstGeom>
          <a:solidFill>
            <a:srgbClr val="F26B5B"/>
          </a:solidFill>
          <a:ln w="12700">
            <a:solidFill>
              <a:srgbClr val="F26B5B"/>
            </a:solidFill>
            <a:prstDash val="solid"/>
          </a:ln>
        </p:spPr>
        <p:txBody>
          <a:bodyPr/>
          <a:lstStyle/>
          <a:p>
            <a:endParaRPr lang="en-US"/>
          </a:p>
        </p:txBody>
      </p:sp>
      <p:sp>
        <p:nvSpPr>
          <p:cNvPr id="19" name="Text 17"/>
          <p:cNvSpPr/>
          <p:nvPr/>
        </p:nvSpPr>
        <p:spPr>
          <a:xfrm>
            <a:off x="2231136" y="2871216"/>
            <a:ext cx="402336" cy="402336"/>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1</a:t>
            </a:r>
            <a:endParaRPr lang="en-US" sz="1100" dirty="0"/>
          </a:p>
        </p:txBody>
      </p:sp>
      <p:sp>
        <p:nvSpPr>
          <p:cNvPr id="20" name="Text 18"/>
          <p:cNvSpPr/>
          <p:nvPr/>
        </p:nvSpPr>
        <p:spPr>
          <a:xfrm>
            <a:off x="1837944" y="3310128"/>
            <a:ext cx="11887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Extraction</a:t>
            </a:r>
            <a:endParaRPr lang="en-US" sz="1000" dirty="0"/>
          </a:p>
        </p:txBody>
      </p:sp>
      <p:sp>
        <p:nvSpPr>
          <p:cNvPr id="21" name="Text 19"/>
          <p:cNvSpPr/>
          <p:nvPr/>
        </p:nvSpPr>
        <p:spPr>
          <a:xfrm>
            <a:off x="1837944" y="3566160"/>
            <a:ext cx="1188720" cy="420624"/>
          </a:xfrm>
          <a:prstGeom prst="rect">
            <a:avLst/>
          </a:prstGeom>
          <a:noFill/>
          <a:ln/>
        </p:spPr>
        <p:txBody>
          <a:bodyPr wrap="square" lIns="0" tIns="0" rIns="0" bIns="0" rtlCol="0" anchor="ctr"/>
          <a:lstStyle/>
          <a:p>
            <a:pPr marL="0" indent="0" algn="ctr">
              <a:buNone/>
            </a:pPr>
            <a:r>
              <a:rPr lang="en-US" sz="900" dirty="0">
                <a:solidFill>
                  <a:srgbClr val="7A94B0"/>
                </a:solidFill>
                <a:latin typeface="Calibri" pitchFamily="34" charset="0"/>
                <a:ea typeface="Calibri" pitchFamily="34" charset="-122"/>
                <a:cs typeface="Calibri" pitchFamily="34" charset="-120"/>
              </a:rPr>
              <a:t>Textract + Claude</a:t>
            </a:r>
            <a:endParaRPr lang="en-US" sz="900" dirty="0"/>
          </a:p>
          <a:p>
            <a:pPr marL="0" indent="0" algn="ctr">
              <a:buNone/>
            </a:pPr>
            <a:r>
              <a:rPr lang="en-US" sz="900" dirty="0">
                <a:solidFill>
                  <a:srgbClr val="7A94B0"/>
                </a:solidFill>
                <a:latin typeface="Calibri" pitchFamily="34" charset="0"/>
                <a:ea typeface="Calibri" pitchFamily="34" charset="-122"/>
                <a:cs typeface="Calibri" pitchFamily="34" charset="-120"/>
              </a:rPr>
              <a:t>normalise</a:t>
            </a:r>
            <a:endParaRPr lang="en-US" sz="900" dirty="0"/>
          </a:p>
        </p:txBody>
      </p:sp>
      <p:sp>
        <p:nvSpPr>
          <p:cNvPr id="22" name="Shape 20"/>
          <p:cNvSpPr/>
          <p:nvPr/>
        </p:nvSpPr>
        <p:spPr>
          <a:xfrm>
            <a:off x="30906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23" name="Shape 21"/>
          <p:cNvSpPr/>
          <p:nvPr/>
        </p:nvSpPr>
        <p:spPr>
          <a:xfrm>
            <a:off x="31546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24" name="Shape 22"/>
          <p:cNvSpPr/>
          <p:nvPr/>
        </p:nvSpPr>
        <p:spPr>
          <a:xfrm>
            <a:off x="3602736" y="2871216"/>
            <a:ext cx="402336" cy="402336"/>
          </a:xfrm>
          <a:prstGeom prst="ellipse">
            <a:avLst/>
          </a:prstGeom>
          <a:solidFill>
            <a:srgbClr val="F5A623"/>
          </a:solidFill>
          <a:ln w="12700">
            <a:solidFill>
              <a:srgbClr val="F5A623"/>
            </a:solidFill>
            <a:prstDash val="solid"/>
          </a:ln>
        </p:spPr>
        <p:txBody>
          <a:bodyPr/>
          <a:lstStyle/>
          <a:p>
            <a:endParaRPr lang="en-US"/>
          </a:p>
        </p:txBody>
      </p:sp>
      <p:sp>
        <p:nvSpPr>
          <p:cNvPr id="25" name="Text 23"/>
          <p:cNvSpPr/>
          <p:nvPr/>
        </p:nvSpPr>
        <p:spPr>
          <a:xfrm>
            <a:off x="3602736" y="2871216"/>
            <a:ext cx="402336" cy="402336"/>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a:t>
            </a:r>
            <a:endParaRPr lang="en-US" sz="1100" dirty="0"/>
          </a:p>
        </p:txBody>
      </p:sp>
      <p:sp>
        <p:nvSpPr>
          <p:cNvPr id="26" name="Text 24"/>
          <p:cNvSpPr/>
          <p:nvPr/>
        </p:nvSpPr>
        <p:spPr>
          <a:xfrm>
            <a:off x="3209544" y="3310128"/>
            <a:ext cx="11887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Review Gate</a:t>
            </a:r>
            <a:endParaRPr lang="en-US" sz="1000" dirty="0"/>
          </a:p>
        </p:txBody>
      </p:sp>
      <p:sp>
        <p:nvSpPr>
          <p:cNvPr id="27" name="Text 25"/>
          <p:cNvSpPr/>
          <p:nvPr/>
        </p:nvSpPr>
        <p:spPr>
          <a:xfrm>
            <a:off x="3209544" y="3566160"/>
            <a:ext cx="1188720" cy="420624"/>
          </a:xfrm>
          <a:prstGeom prst="rect">
            <a:avLst/>
          </a:prstGeom>
          <a:noFill/>
          <a:ln/>
        </p:spPr>
        <p:txBody>
          <a:bodyPr wrap="square" lIns="0" tIns="0" rIns="0" bIns="0" rtlCol="0" anchor="ctr"/>
          <a:lstStyle/>
          <a:p>
            <a:pPr marL="0" indent="0" algn="ctr">
              <a:buNone/>
            </a:pPr>
            <a:r>
              <a:rPr lang="en-US" sz="900" dirty="0">
                <a:solidFill>
                  <a:srgbClr val="7A94B0"/>
                </a:solidFill>
                <a:latin typeface="Calibri" pitchFamily="34" charset="0"/>
                <a:ea typeface="Calibri" pitchFamily="34" charset="-122"/>
                <a:cs typeface="Calibri" pitchFamily="34" charset="-120"/>
              </a:rPr>
              <a:t>pending_review?</a:t>
            </a:r>
            <a:endParaRPr lang="en-US" sz="900" dirty="0"/>
          </a:p>
          <a:p>
            <a:pPr marL="0" indent="0" algn="ctr">
              <a:buNone/>
            </a:pPr>
            <a:r>
              <a:rPr lang="en-US" sz="900" dirty="0">
                <a:solidFill>
                  <a:srgbClr val="7A94B0"/>
                </a:solidFill>
                <a:latin typeface="Calibri" pitchFamily="34" charset="0"/>
                <a:ea typeface="Calibri" pitchFamily="34" charset="-122"/>
                <a:cs typeface="Calibri" pitchFamily="34" charset="-120"/>
              </a:rPr>
              <a:t>Stop here</a:t>
            </a:r>
            <a:endParaRPr lang="en-US" sz="900" dirty="0"/>
          </a:p>
        </p:txBody>
      </p:sp>
      <p:sp>
        <p:nvSpPr>
          <p:cNvPr id="28" name="Shape 26"/>
          <p:cNvSpPr/>
          <p:nvPr/>
        </p:nvSpPr>
        <p:spPr>
          <a:xfrm>
            <a:off x="44622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29" name="Shape 27"/>
          <p:cNvSpPr/>
          <p:nvPr/>
        </p:nvSpPr>
        <p:spPr>
          <a:xfrm>
            <a:off x="45262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30" name="Shape 28"/>
          <p:cNvSpPr/>
          <p:nvPr/>
        </p:nvSpPr>
        <p:spPr>
          <a:xfrm>
            <a:off x="4974336" y="2871216"/>
            <a:ext cx="402336" cy="402336"/>
          </a:xfrm>
          <a:prstGeom prst="ellipse">
            <a:avLst/>
          </a:prstGeom>
          <a:solidFill>
            <a:srgbClr val="7EC8E3"/>
          </a:solidFill>
          <a:ln w="12700">
            <a:solidFill>
              <a:srgbClr val="7EC8E3"/>
            </a:solidFill>
            <a:prstDash val="solid"/>
          </a:ln>
        </p:spPr>
        <p:txBody>
          <a:bodyPr/>
          <a:lstStyle/>
          <a:p>
            <a:endParaRPr lang="en-US"/>
          </a:p>
        </p:txBody>
      </p:sp>
      <p:sp>
        <p:nvSpPr>
          <p:cNvPr id="31" name="Text 29"/>
          <p:cNvSpPr/>
          <p:nvPr/>
        </p:nvSpPr>
        <p:spPr>
          <a:xfrm>
            <a:off x="4974336" y="2871216"/>
            <a:ext cx="402336" cy="402336"/>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2</a:t>
            </a:r>
            <a:endParaRPr lang="en-US" sz="1100" dirty="0"/>
          </a:p>
        </p:txBody>
      </p:sp>
      <p:sp>
        <p:nvSpPr>
          <p:cNvPr id="32" name="Text 30"/>
          <p:cNvSpPr/>
          <p:nvPr/>
        </p:nvSpPr>
        <p:spPr>
          <a:xfrm>
            <a:off x="4581144" y="3310128"/>
            <a:ext cx="11887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Read DynamoDB</a:t>
            </a:r>
            <a:endParaRPr lang="en-US" sz="1000" dirty="0"/>
          </a:p>
        </p:txBody>
      </p:sp>
      <p:sp>
        <p:nvSpPr>
          <p:cNvPr id="33" name="Text 31"/>
          <p:cNvSpPr/>
          <p:nvPr/>
        </p:nvSpPr>
        <p:spPr>
          <a:xfrm>
            <a:off x="4581144" y="3566160"/>
            <a:ext cx="1188720" cy="420624"/>
          </a:xfrm>
          <a:prstGeom prst="rect">
            <a:avLst/>
          </a:prstGeom>
          <a:noFill/>
          <a:ln/>
        </p:spPr>
        <p:txBody>
          <a:bodyPr wrap="square" lIns="0" tIns="0" rIns="0" bIns="0" rtlCol="0" anchor="ctr"/>
          <a:lstStyle/>
          <a:p>
            <a:pPr marL="0" indent="0" algn="ctr">
              <a:buNone/>
            </a:pPr>
            <a:r>
              <a:rPr lang="en-US" sz="900" dirty="0">
                <a:solidFill>
                  <a:srgbClr val="7A94B0"/>
                </a:solidFill>
                <a:latin typeface="Calibri" pitchFamily="34" charset="0"/>
                <a:ea typeface="Calibri" pitchFamily="34" charset="-122"/>
                <a:cs typeface="Calibri" pitchFamily="34" charset="-120"/>
              </a:rPr>
              <a:t>Fetch full doc</a:t>
            </a:r>
            <a:endParaRPr lang="en-US" sz="900" dirty="0"/>
          </a:p>
          <a:p>
            <a:pPr marL="0" indent="0" algn="ctr">
              <a:buNone/>
            </a:pPr>
            <a:r>
              <a:rPr lang="en-US" sz="900" dirty="0">
                <a:solidFill>
                  <a:srgbClr val="7A94B0"/>
                </a:solidFill>
                <a:latin typeface="Calibri" pitchFamily="34" charset="0"/>
                <a:ea typeface="Calibri" pitchFamily="34" charset="-122"/>
                <a:cs typeface="Calibri" pitchFamily="34" charset="-120"/>
              </a:rPr>
              <a:t>from auditai-docs</a:t>
            </a:r>
            <a:endParaRPr lang="en-US" sz="900" dirty="0"/>
          </a:p>
        </p:txBody>
      </p:sp>
      <p:sp>
        <p:nvSpPr>
          <p:cNvPr id="34" name="Shape 32"/>
          <p:cNvSpPr/>
          <p:nvPr/>
        </p:nvSpPr>
        <p:spPr>
          <a:xfrm>
            <a:off x="58338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35" name="Shape 33"/>
          <p:cNvSpPr/>
          <p:nvPr/>
        </p:nvSpPr>
        <p:spPr>
          <a:xfrm>
            <a:off x="58978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36" name="Shape 34"/>
          <p:cNvSpPr/>
          <p:nvPr/>
        </p:nvSpPr>
        <p:spPr>
          <a:xfrm>
            <a:off x="6345936" y="2871216"/>
            <a:ext cx="402336" cy="402336"/>
          </a:xfrm>
          <a:prstGeom prst="ellipse">
            <a:avLst/>
          </a:prstGeom>
          <a:solidFill>
            <a:srgbClr val="7B61FF"/>
          </a:solidFill>
          <a:ln w="12700">
            <a:solidFill>
              <a:srgbClr val="7B61FF"/>
            </a:solidFill>
            <a:prstDash val="solid"/>
          </a:ln>
        </p:spPr>
        <p:txBody>
          <a:bodyPr/>
          <a:lstStyle/>
          <a:p>
            <a:endParaRPr lang="en-US"/>
          </a:p>
        </p:txBody>
      </p:sp>
      <p:sp>
        <p:nvSpPr>
          <p:cNvPr id="37" name="Text 35"/>
          <p:cNvSpPr/>
          <p:nvPr/>
        </p:nvSpPr>
        <p:spPr>
          <a:xfrm>
            <a:off x="6345936" y="2871216"/>
            <a:ext cx="402336" cy="402336"/>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3</a:t>
            </a:r>
            <a:endParaRPr lang="en-US" sz="1100" dirty="0"/>
          </a:p>
        </p:txBody>
      </p:sp>
      <p:sp>
        <p:nvSpPr>
          <p:cNvPr id="38" name="Text 36"/>
          <p:cNvSpPr/>
          <p:nvPr/>
        </p:nvSpPr>
        <p:spPr>
          <a:xfrm>
            <a:off x="5952744" y="3310128"/>
            <a:ext cx="11887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Ledger</a:t>
            </a:r>
            <a:endParaRPr lang="en-US" sz="1000" dirty="0"/>
          </a:p>
        </p:txBody>
      </p:sp>
      <p:sp>
        <p:nvSpPr>
          <p:cNvPr id="39" name="Text 37"/>
          <p:cNvSpPr/>
          <p:nvPr/>
        </p:nvSpPr>
        <p:spPr>
          <a:xfrm>
            <a:off x="5952744" y="3566160"/>
            <a:ext cx="1188720" cy="420624"/>
          </a:xfrm>
          <a:prstGeom prst="rect">
            <a:avLst/>
          </a:prstGeom>
          <a:noFill/>
          <a:ln/>
        </p:spPr>
        <p:txBody>
          <a:bodyPr wrap="square" lIns="0" tIns="0" rIns="0" bIns="0" rtlCol="0" anchor="ctr"/>
          <a:lstStyle/>
          <a:p>
            <a:pPr marL="0" indent="0" algn="ctr">
              <a:buNone/>
            </a:pPr>
            <a:r>
              <a:rPr lang="en-US" sz="900" dirty="0">
                <a:solidFill>
                  <a:srgbClr val="7A94B0"/>
                </a:solidFill>
                <a:latin typeface="Calibri" pitchFamily="34" charset="0"/>
                <a:ea typeface="Calibri" pitchFamily="34" charset="-122"/>
                <a:cs typeface="Calibri" pitchFamily="34" charset="-120"/>
              </a:rPr>
              <a:t>Post journal</a:t>
            </a:r>
            <a:endParaRPr lang="en-US" sz="900" dirty="0"/>
          </a:p>
          <a:p>
            <a:pPr marL="0" indent="0" algn="ctr">
              <a:buNone/>
            </a:pPr>
            <a:r>
              <a:rPr lang="en-US" sz="900" dirty="0">
                <a:solidFill>
                  <a:srgbClr val="7A94B0"/>
                </a:solidFill>
                <a:latin typeface="Calibri" pitchFamily="34" charset="0"/>
                <a:ea typeface="Calibri" pitchFamily="34" charset="-122"/>
                <a:cs typeface="Calibri" pitchFamily="34" charset="-120"/>
              </a:rPr>
              <a:t>entries</a:t>
            </a:r>
            <a:endParaRPr lang="en-US" sz="900" dirty="0"/>
          </a:p>
        </p:txBody>
      </p:sp>
      <p:sp>
        <p:nvSpPr>
          <p:cNvPr id="40" name="Shape 38"/>
          <p:cNvSpPr/>
          <p:nvPr/>
        </p:nvSpPr>
        <p:spPr>
          <a:xfrm>
            <a:off x="72054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41" name="Shape 39"/>
          <p:cNvSpPr/>
          <p:nvPr/>
        </p:nvSpPr>
        <p:spPr>
          <a:xfrm>
            <a:off x="72694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42" name="Shape 40"/>
          <p:cNvSpPr/>
          <p:nvPr/>
        </p:nvSpPr>
        <p:spPr>
          <a:xfrm>
            <a:off x="7717536" y="2871216"/>
            <a:ext cx="402336" cy="402336"/>
          </a:xfrm>
          <a:prstGeom prst="ellipse">
            <a:avLst/>
          </a:prstGeom>
          <a:solidFill>
            <a:srgbClr val="00C9A7"/>
          </a:solidFill>
          <a:ln w="12700">
            <a:solidFill>
              <a:srgbClr val="00C9A7"/>
            </a:solidFill>
            <a:prstDash val="solid"/>
          </a:ln>
        </p:spPr>
        <p:txBody>
          <a:bodyPr/>
          <a:lstStyle/>
          <a:p>
            <a:endParaRPr lang="en-US"/>
          </a:p>
        </p:txBody>
      </p:sp>
      <p:sp>
        <p:nvSpPr>
          <p:cNvPr id="43" name="Text 41"/>
          <p:cNvSpPr/>
          <p:nvPr/>
        </p:nvSpPr>
        <p:spPr>
          <a:xfrm>
            <a:off x="7717536" y="2871216"/>
            <a:ext cx="402336" cy="402336"/>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4</a:t>
            </a:r>
            <a:endParaRPr lang="en-US" sz="1100" dirty="0"/>
          </a:p>
        </p:txBody>
      </p:sp>
      <p:sp>
        <p:nvSpPr>
          <p:cNvPr id="44" name="Text 42"/>
          <p:cNvSpPr/>
          <p:nvPr/>
        </p:nvSpPr>
        <p:spPr>
          <a:xfrm>
            <a:off x="7324344" y="3310128"/>
            <a:ext cx="11887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P&amp;L</a:t>
            </a:r>
            <a:endParaRPr lang="en-US" sz="1000" dirty="0"/>
          </a:p>
        </p:txBody>
      </p:sp>
      <p:sp>
        <p:nvSpPr>
          <p:cNvPr id="45" name="Text 43"/>
          <p:cNvSpPr/>
          <p:nvPr/>
        </p:nvSpPr>
        <p:spPr>
          <a:xfrm>
            <a:off x="7324344" y="3566160"/>
            <a:ext cx="1188720" cy="420624"/>
          </a:xfrm>
          <a:prstGeom prst="rect">
            <a:avLst/>
          </a:prstGeom>
          <a:noFill/>
          <a:ln/>
        </p:spPr>
        <p:txBody>
          <a:bodyPr wrap="square" lIns="0" tIns="0" rIns="0" bIns="0" rtlCol="0" anchor="ctr"/>
          <a:lstStyle/>
          <a:p>
            <a:pPr marL="0" indent="0" algn="ctr">
              <a:buNone/>
            </a:pPr>
            <a:r>
              <a:rPr lang="en-US" sz="900" dirty="0">
                <a:solidFill>
                  <a:srgbClr val="7A94B0"/>
                </a:solidFill>
                <a:latin typeface="Calibri" pitchFamily="34" charset="0"/>
                <a:ea typeface="Calibri" pitchFamily="34" charset="-122"/>
                <a:cs typeface="Calibri" pitchFamily="34" charset="-120"/>
              </a:rPr>
              <a:t>Revenue −</a:t>
            </a:r>
            <a:endParaRPr lang="en-US" sz="900" dirty="0"/>
          </a:p>
          <a:p>
            <a:pPr marL="0" indent="0" algn="ctr">
              <a:buNone/>
            </a:pPr>
            <a:r>
              <a:rPr lang="en-US" sz="900" dirty="0">
                <a:solidFill>
                  <a:srgbClr val="7A94B0"/>
                </a:solidFill>
                <a:latin typeface="Calibri" pitchFamily="34" charset="0"/>
                <a:ea typeface="Calibri" pitchFamily="34" charset="-122"/>
                <a:cs typeface="Calibri" pitchFamily="34" charset="-120"/>
              </a:rPr>
              <a:t>COGS − Expenses</a:t>
            </a:r>
            <a:endParaRPr lang="en-US" sz="900" dirty="0"/>
          </a:p>
        </p:txBody>
      </p:sp>
      <p:sp>
        <p:nvSpPr>
          <p:cNvPr id="46" name="Shape 44"/>
          <p:cNvSpPr/>
          <p:nvPr/>
        </p:nvSpPr>
        <p:spPr>
          <a:xfrm>
            <a:off x="85770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47" name="Shape 45"/>
          <p:cNvSpPr/>
          <p:nvPr/>
        </p:nvSpPr>
        <p:spPr>
          <a:xfrm>
            <a:off x="86410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48" name="Shape 46"/>
          <p:cNvSpPr/>
          <p:nvPr/>
        </p:nvSpPr>
        <p:spPr>
          <a:xfrm>
            <a:off x="9089136" y="2871216"/>
            <a:ext cx="402336" cy="402336"/>
          </a:xfrm>
          <a:prstGeom prst="ellipse">
            <a:avLst/>
          </a:prstGeom>
          <a:solidFill>
            <a:srgbClr val="4FC3F7"/>
          </a:solidFill>
          <a:ln w="12700">
            <a:solidFill>
              <a:srgbClr val="4FC3F7"/>
            </a:solidFill>
            <a:prstDash val="solid"/>
          </a:ln>
        </p:spPr>
        <p:txBody>
          <a:bodyPr/>
          <a:lstStyle/>
          <a:p>
            <a:endParaRPr lang="en-US"/>
          </a:p>
        </p:txBody>
      </p:sp>
      <p:sp>
        <p:nvSpPr>
          <p:cNvPr id="49" name="Text 47"/>
          <p:cNvSpPr/>
          <p:nvPr/>
        </p:nvSpPr>
        <p:spPr>
          <a:xfrm>
            <a:off x="9089136" y="2871216"/>
            <a:ext cx="402336" cy="402336"/>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5</a:t>
            </a:r>
            <a:endParaRPr lang="en-US" sz="1100" dirty="0"/>
          </a:p>
        </p:txBody>
      </p:sp>
      <p:sp>
        <p:nvSpPr>
          <p:cNvPr id="50" name="Text 48"/>
          <p:cNvSpPr/>
          <p:nvPr/>
        </p:nvSpPr>
        <p:spPr>
          <a:xfrm>
            <a:off x="8695944" y="3310128"/>
            <a:ext cx="11887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Balance Sheet</a:t>
            </a:r>
            <a:endParaRPr lang="en-US" sz="1000" dirty="0"/>
          </a:p>
        </p:txBody>
      </p:sp>
      <p:sp>
        <p:nvSpPr>
          <p:cNvPr id="51" name="Text 49"/>
          <p:cNvSpPr/>
          <p:nvPr/>
        </p:nvSpPr>
        <p:spPr>
          <a:xfrm>
            <a:off x="8695944" y="3566160"/>
            <a:ext cx="1188720" cy="420624"/>
          </a:xfrm>
          <a:prstGeom prst="rect">
            <a:avLst/>
          </a:prstGeom>
          <a:noFill/>
          <a:ln/>
        </p:spPr>
        <p:txBody>
          <a:bodyPr wrap="square" lIns="0" tIns="0" rIns="0" bIns="0" rtlCol="0" anchor="ctr"/>
          <a:lstStyle/>
          <a:p>
            <a:pPr marL="0" indent="0" algn="ctr">
              <a:buNone/>
            </a:pPr>
            <a:r>
              <a:rPr lang="en-US" sz="900" dirty="0">
                <a:solidFill>
                  <a:srgbClr val="7A94B0"/>
                </a:solidFill>
                <a:latin typeface="Calibri" pitchFamily="34" charset="0"/>
                <a:ea typeface="Calibri" pitchFamily="34" charset="-122"/>
                <a:cs typeface="Calibri" pitchFamily="34" charset="-120"/>
              </a:rPr>
              <a:t>Assets = Liab</a:t>
            </a:r>
            <a:endParaRPr lang="en-US" sz="900" dirty="0"/>
          </a:p>
          <a:p>
            <a:pPr marL="0" indent="0" algn="ctr">
              <a:buNone/>
            </a:pPr>
            <a:r>
              <a:rPr lang="en-US" sz="900" dirty="0">
                <a:solidFill>
                  <a:srgbClr val="7A94B0"/>
                </a:solidFill>
                <a:latin typeface="Calibri" pitchFamily="34" charset="0"/>
                <a:ea typeface="Calibri" pitchFamily="34" charset="-122"/>
                <a:cs typeface="Calibri" pitchFamily="34" charset="-120"/>
              </a:rPr>
              <a:t>+ Equity</a:t>
            </a:r>
            <a:endParaRPr lang="en-US" sz="900" dirty="0"/>
          </a:p>
        </p:txBody>
      </p:sp>
      <p:sp>
        <p:nvSpPr>
          <p:cNvPr id="52" name="Shape 50"/>
          <p:cNvSpPr/>
          <p:nvPr/>
        </p:nvSpPr>
        <p:spPr>
          <a:xfrm>
            <a:off x="99486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53" name="Shape 51"/>
          <p:cNvSpPr/>
          <p:nvPr/>
        </p:nvSpPr>
        <p:spPr>
          <a:xfrm>
            <a:off x="100126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54" name="Shape 52"/>
          <p:cNvSpPr/>
          <p:nvPr/>
        </p:nvSpPr>
        <p:spPr>
          <a:xfrm>
            <a:off x="10460736" y="2871216"/>
            <a:ext cx="402336" cy="402336"/>
          </a:xfrm>
          <a:prstGeom prst="ellipse">
            <a:avLst/>
          </a:prstGeom>
          <a:solidFill>
            <a:srgbClr val="FF9F40"/>
          </a:solidFill>
          <a:ln w="12700">
            <a:solidFill>
              <a:srgbClr val="FF9F40"/>
            </a:solidFill>
            <a:prstDash val="solid"/>
          </a:ln>
        </p:spPr>
        <p:txBody>
          <a:bodyPr/>
          <a:lstStyle/>
          <a:p>
            <a:endParaRPr lang="en-US"/>
          </a:p>
        </p:txBody>
      </p:sp>
      <p:sp>
        <p:nvSpPr>
          <p:cNvPr id="55" name="Text 53"/>
          <p:cNvSpPr/>
          <p:nvPr/>
        </p:nvSpPr>
        <p:spPr>
          <a:xfrm>
            <a:off x="10460736" y="2871216"/>
            <a:ext cx="402336" cy="402336"/>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6</a:t>
            </a:r>
            <a:endParaRPr lang="en-US" sz="1100" dirty="0"/>
          </a:p>
        </p:txBody>
      </p:sp>
      <p:sp>
        <p:nvSpPr>
          <p:cNvPr id="56" name="Text 54"/>
          <p:cNvSpPr/>
          <p:nvPr/>
        </p:nvSpPr>
        <p:spPr>
          <a:xfrm>
            <a:off x="10067544" y="3310128"/>
            <a:ext cx="11887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Reconciliation</a:t>
            </a:r>
            <a:endParaRPr lang="en-US" sz="1000" dirty="0"/>
          </a:p>
        </p:txBody>
      </p:sp>
      <p:sp>
        <p:nvSpPr>
          <p:cNvPr id="57" name="Text 55"/>
          <p:cNvSpPr/>
          <p:nvPr/>
        </p:nvSpPr>
        <p:spPr>
          <a:xfrm>
            <a:off x="10067544" y="3566160"/>
            <a:ext cx="1188720" cy="420624"/>
          </a:xfrm>
          <a:prstGeom prst="rect">
            <a:avLst/>
          </a:prstGeom>
          <a:noFill/>
          <a:ln/>
        </p:spPr>
        <p:txBody>
          <a:bodyPr wrap="square" lIns="0" tIns="0" rIns="0" bIns="0" rtlCol="0" anchor="ctr"/>
          <a:lstStyle/>
          <a:p>
            <a:pPr marL="0" indent="0" algn="ctr">
              <a:buNone/>
            </a:pPr>
            <a:r>
              <a:rPr lang="en-US" sz="900" dirty="0">
                <a:solidFill>
                  <a:srgbClr val="7A94B0"/>
                </a:solidFill>
                <a:latin typeface="Calibri" pitchFamily="34" charset="0"/>
                <a:ea typeface="Calibri" pitchFamily="34" charset="-122"/>
                <a:cs typeface="Calibri" pitchFamily="34" charset="-120"/>
              </a:rPr>
              <a:t>9 tie-out</a:t>
            </a:r>
            <a:endParaRPr lang="en-US" sz="900" dirty="0"/>
          </a:p>
          <a:p>
            <a:pPr marL="0" indent="0" algn="ctr">
              <a:buNone/>
            </a:pPr>
            <a:r>
              <a:rPr lang="en-US" sz="900" dirty="0">
                <a:solidFill>
                  <a:srgbClr val="7A94B0"/>
                </a:solidFill>
                <a:latin typeface="Calibri" pitchFamily="34" charset="0"/>
                <a:ea typeface="Calibri" pitchFamily="34" charset="-122"/>
                <a:cs typeface="Calibri" pitchFamily="34" charset="-120"/>
              </a:rPr>
              <a:t>checks</a:t>
            </a:r>
            <a:endParaRPr lang="en-US" sz="900" dirty="0"/>
          </a:p>
        </p:txBody>
      </p:sp>
      <p:sp>
        <p:nvSpPr>
          <p:cNvPr id="58" name="Shape 56"/>
          <p:cNvSpPr/>
          <p:nvPr/>
        </p:nvSpPr>
        <p:spPr>
          <a:xfrm>
            <a:off x="411480" y="4169664"/>
            <a:ext cx="5486400" cy="1152144"/>
          </a:xfrm>
          <a:prstGeom prst="roundRect">
            <a:avLst>
              <a:gd name="adj" fmla="val 6349"/>
            </a:avLst>
          </a:prstGeom>
          <a:solidFill>
            <a:srgbClr val="1B2E45"/>
          </a:solidFill>
          <a:ln w="12700">
            <a:solidFill>
              <a:srgbClr val="243B55"/>
            </a:solidFill>
            <a:prstDash val="solid"/>
          </a:ln>
        </p:spPr>
        <p:txBody>
          <a:bodyPr/>
          <a:lstStyle/>
          <a:p>
            <a:endParaRPr lang="en-US"/>
          </a:p>
        </p:txBody>
      </p:sp>
      <p:sp>
        <p:nvSpPr>
          <p:cNvPr id="59" name="Text 57"/>
          <p:cNvSpPr/>
          <p:nvPr/>
        </p:nvSpPr>
        <p:spPr>
          <a:xfrm>
            <a:off x="566928" y="4224528"/>
            <a:ext cx="4572000" cy="256032"/>
          </a:xfrm>
          <a:prstGeom prst="rect">
            <a:avLst/>
          </a:prstGeom>
          <a:noFill/>
          <a:ln/>
        </p:spPr>
        <p:txBody>
          <a:bodyPr wrap="square" lIns="0" tIns="0" rIns="0" bIns="0" rtlCol="0" anchor="ctr"/>
          <a:lstStyle/>
          <a:p>
            <a:pPr marL="0" indent="0">
              <a:buNone/>
            </a:pPr>
            <a:r>
              <a:rPr lang="en-US" sz="900" b="1" kern="0" spc="300" dirty="0">
                <a:solidFill>
                  <a:srgbClr val="F26B5B"/>
                </a:solidFill>
                <a:latin typeface="Calibri" pitchFamily="34" charset="0"/>
                <a:ea typeface="Calibri" pitchFamily="34" charset="-122"/>
                <a:cs typeface="Calibri" pitchFamily="34" charset="-120"/>
              </a:rPr>
              <a:t>FAILURE SEMANTICS</a:t>
            </a:r>
            <a:endParaRPr lang="en-US" sz="900" dirty="0"/>
          </a:p>
        </p:txBody>
      </p:sp>
      <p:sp>
        <p:nvSpPr>
          <p:cNvPr id="60" name="Text 58"/>
          <p:cNvSpPr/>
          <p:nvPr/>
        </p:nvSpPr>
        <p:spPr>
          <a:xfrm>
            <a:off x="566928" y="4526280"/>
            <a:ext cx="5212080" cy="292608"/>
          </a:xfrm>
          <a:prstGeom prst="rect">
            <a:avLst/>
          </a:prstGeom>
          <a:noFill/>
          <a:ln/>
        </p:spPr>
        <p:txBody>
          <a:bodyPr wrap="square" lIns="0" tIns="0" rIns="0" bIns="0" rtlCol="0" anchor="ctr"/>
          <a:lstStyle/>
          <a:p>
            <a:pPr marL="0" indent="0">
              <a:buNone/>
            </a:pPr>
            <a:r>
              <a:rPr lang="en-US" sz="1100" b="1" dirty="0">
                <a:solidFill>
                  <a:srgbClr val="F26B5B"/>
                </a:solidFill>
                <a:latin typeface="Calibri" pitchFamily="34" charset="0"/>
                <a:ea typeface="Calibri" pitchFamily="34" charset="-122"/>
                <a:cs typeface="Calibri" pitchFamily="34" charset="-120"/>
              </a:rPr>
              <a:t>▸  </a:t>
            </a:r>
            <a:r>
              <a:rPr lang="en-US" sz="1100" dirty="0">
                <a:solidFill>
                  <a:srgbClr val="D6E4F0"/>
                </a:solidFill>
                <a:latin typeface="Calibri" pitchFamily="34" charset="0"/>
                <a:ea typeface="Calibri" pitchFamily="34" charset="-122"/>
                <a:cs typeface="Calibri" pitchFamily="34" charset="-120"/>
              </a:rPr>
              <a:t>Stops at first failing stage — returns pipeline_status naming exact failure point</a:t>
            </a:r>
            <a:endParaRPr lang="en-US" sz="1100" dirty="0"/>
          </a:p>
        </p:txBody>
      </p:sp>
      <p:sp>
        <p:nvSpPr>
          <p:cNvPr id="61" name="Text 59"/>
          <p:cNvSpPr/>
          <p:nvPr/>
        </p:nvSpPr>
        <p:spPr>
          <a:xfrm>
            <a:off x="566928" y="4818888"/>
            <a:ext cx="5212080" cy="292608"/>
          </a:xfrm>
          <a:prstGeom prst="rect">
            <a:avLst/>
          </a:prstGeom>
          <a:noFill/>
          <a:ln/>
        </p:spPr>
        <p:txBody>
          <a:bodyPr wrap="square" lIns="0" tIns="0" rIns="0" bIns="0" rtlCol="0" anchor="ctr"/>
          <a:lstStyle/>
          <a:p>
            <a:pPr marL="0" indent="0">
              <a:buNone/>
            </a:pPr>
            <a:r>
              <a:rPr lang="en-US" sz="1100" b="1" dirty="0">
                <a:solidFill>
                  <a:srgbClr val="F26B5B"/>
                </a:solidFill>
                <a:latin typeface="Calibri" pitchFamily="34" charset="0"/>
                <a:ea typeface="Calibri" pitchFamily="34" charset="-122"/>
                <a:cs typeface="Calibri" pitchFamily="34" charset="-120"/>
              </a:rPr>
              <a:t>▸  </a:t>
            </a:r>
            <a:r>
              <a:rPr lang="en-US" sz="1100" dirty="0">
                <a:solidFill>
                  <a:srgbClr val="D6E4F0"/>
                </a:solidFill>
                <a:latin typeface="Calibri" pitchFamily="34" charset="0"/>
                <a:ea typeface="Calibri" pitchFamily="34" charset="-122"/>
                <a:cs typeface="Calibri" pitchFamily="34" charset="-120"/>
              </a:rPr>
              <a:t>e.g. "pnl_failed", "balance_sheet_failed", "s3_fetch_failed"</a:t>
            </a:r>
            <a:endParaRPr lang="en-US" sz="1100" dirty="0"/>
          </a:p>
        </p:txBody>
      </p:sp>
      <p:sp>
        <p:nvSpPr>
          <p:cNvPr id="62" name="Text 60"/>
          <p:cNvSpPr/>
          <p:nvPr/>
        </p:nvSpPr>
        <p:spPr>
          <a:xfrm>
            <a:off x="566928" y="5111496"/>
            <a:ext cx="5212080" cy="292608"/>
          </a:xfrm>
          <a:prstGeom prst="rect">
            <a:avLst/>
          </a:prstGeom>
          <a:noFill/>
          <a:ln/>
        </p:spPr>
        <p:txBody>
          <a:bodyPr wrap="square" lIns="0" tIns="0" rIns="0" bIns="0" rtlCol="0" anchor="ctr"/>
          <a:lstStyle/>
          <a:p>
            <a:pPr marL="0" indent="0">
              <a:buNone/>
            </a:pPr>
            <a:r>
              <a:rPr lang="en-US" sz="1100" b="1" dirty="0">
                <a:solidFill>
                  <a:srgbClr val="F26B5B"/>
                </a:solidFill>
                <a:latin typeface="Calibri" pitchFamily="34" charset="0"/>
                <a:ea typeface="Calibri" pitchFamily="34" charset="-122"/>
                <a:cs typeface="Calibri" pitchFamily="34" charset="-120"/>
              </a:rPr>
              <a:t>▸  </a:t>
            </a:r>
            <a:r>
              <a:rPr lang="en-US" sz="1100" dirty="0">
                <a:solidFill>
                  <a:srgbClr val="D6E4F0"/>
                </a:solidFill>
                <a:latin typeface="Calibri" pitchFamily="34" charset="0"/>
                <a:ea typeface="Calibri" pitchFamily="34" charset="-122"/>
                <a:cs typeface="Calibri" pitchFamily="34" charset="-120"/>
              </a:rPr>
              <a:t>Floats converted to Decimal before final DynamoDB write</a:t>
            </a:r>
            <a:endParaRPr lang="en-US" sz="1100" dirty="0"/>
          </a:p>
        </p:txBody>
      </p:sp>
      <p:sp>
        <p:nvSpPr>
          <p:cNvPr id="63" name="Shape 61"/>
          <p:cNvSpPr/>
          <p:nvPr/>
        </p:nvSpPr>
        <p:spPr>
          <a:xfrm>
            <a:off x="6053328" y="4169664"/>
            <a:ext cx="5715000" cy="1152144"/>
          </a:xfrm>
          <a:prstGeom prst="roundRect">
            <a:avLst>
              <a:gd name="adj" fmla="val 6349"/>
            </a:avLst>
          </a:prstGeom>
          <a:solidFill>
            <a:srgbClr val="1B2E45"/>
          </a:solidFill>
          <a:ln w="12700">
            <a:solidFill>
              <a:srgbClr val="243B55"/>
            </a:solidFill>
            <a:prstDash val="solid"/>
          </a:ln>
        </p:spPr>
        <p:txBody>
          <a:bodyPr/>
          <a:lstStyle/>
          <a:p>
            <a:endParaRPr lang="en-US"/>
          </a:p>
        </p:txBody>
      </p:sp>
      <p:sp>
        <p:nvSpPr>
          <p:cNvPr id="64" name="Text 62"/>
          <p:cNvSpPr/>
          <p:nvPr/>
        </p:nvSpPr>
        <p:spPr>
          <a:xfrm>
            <a:off x="6217920" y="4224528"/>
            <a:ext cx="4572000" cy="256032"/>
          </a:xfrm>
          <a:prstGeom prst="rect">
            <a:avLst/>
          </a:prstGeom>
          <a:noFill/>
          <a:ln/>
        </p:spPr>
        <p:txBody>
          <a:bodyPr wrap="square" lIns="0" tIns="0" rIns="0" bIns="0" rtlCol="0" anchor="ctr"/>
          <a:lstStyle/>
          <a:p>
            <a:pPr marL="0" indent="0">
              <a:buNone/>
            </a:pPr>
            <a:r>
              <a:rPr lang="en-US" sz="900" b="1" kern="0" spc="300" dirty="0">
                <a:solidFill>
                  <a:srgbClr val="00C9A7"/>
                </a:solidFill>
                <a:latin typeface="Calibri" pitchFamily="34" charset="0"/>
                <a:ea typeface="Calibri" pitchFamily="34" charset="-122"/>
                <a:cs typeface="Calibri" pitchFamily="34" charset="-120"/>
              </a:rPr>
              <a:t>FINAL OUTPUT → auditai-output</a:t>
            </a:r>
            <a:endParaRPr lang="en-US" sz="900" dirty="0"/>
          </a:p>
        </p:txBody>
      </p:sp>
      <p:sp>
        <p:nvSpPr>
          <p:cNvPr id="65" name="Text 63"/>
          <p:cNvSpPr/>
          <p:nvPr/>
        </p:nvSpPr>
        <p:spPr>
          <a:xfrm>
            <a:off x="6217920" y="4526280"/>
            <a:ext cx="5486400" cy="292608"/>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  </a:t>
            </a:r>
            <a:r>
              <a:rPr lang="en-US" sz="1100" dirty="0">
                <a:solidFill>
                  <a:srgbClr val="D6E4F0"/>
                </a:solidFill>
                <a:latin typeface="Calibri" pitchFamily="34" charset="0"/>
                <a:ea typeface="Calibri" pitchFamily="34" charset="-122"/>
                <a:cs typeface="Calibri" pitchFamily="34" charset="-120"/>
              </a:rPr>
              <a:t>Composite run_id = {original_run_id}_{uuid4}  (embeds FY + quarter prefix)</a:t>
            </a:r>
            <a:endParaRPr lang="en-US" sz="1100" dirty="0"/>
          </a:p>
        </p:txBody>
      </p:sp>
      <p:sp>
        <p:nvSpPr>
          <p:cNvPr id="66" name="Text 64"/>
          <p:cNvSpPr/>
          <p:nvPr/>
        </p:nvSpPr>
        <p:spPr>
          <a:xfrm>
            <a:off x="6217920" y="4818888"/>
            <a:ext cx="5486400" cy="292608"/>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  </a:t>
            </a:r>
            <a:r>
              <a:rPr lang="en-US" sz="1100" dirty="0">
                <a:solidFill>
                  <a:srgbClr val="D6E4F0"/>
                </a:solidFill>
                <a:latin typeface="Calibri" pitchFamily="34" charset="0"/>
                <a:ea typeface="Calibri" pitchFamily="34" charset="-122"/>
                <a:cs typeface="Calibri" pitchFamily="34" charset="-120"/>
              </a:rPr>
              <a:t>Contains: extraction_summary, ledger_output, pnl_output, balance_sheet_output, reconciliation_output</a:t>
            </a:r>
            <a:endParaRPr lang="en-US" sz="1100" dirty="0"/>
          </a:p>
        </p:txBody>
      </p:sp>
      <p:sp>
        <p:nvSpPr>
          <p:cNvPr id="67" name="Text 65"/>
          <p:cNvSpPr/>
          <p:nvPr/>
        </p:nvSpPr>
        <p:spPr>
          <a:xfrm>
            <a:off x="6217920" y="5111496"/>
            <a:ext cx="5486400" cy="292608"/>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  </a:t>
            </a:r>
            <a:r>
              <a:rPr lang="en-US" sz="1100" dirty="0">
                <a:solidFill>
                  <a:srgbClr val="D6E4F0"/>
                </a:solidFill>
                <a:latin typeface="Calibri" pitchFamily="34" charset="0"/>
                <a:ea typeface="Calibri" pitchFamily="34" charset="-122"/>
                <a:cs typeface="Calibri" pitchFamily="34" charset="-120"/>
              </a:rPr>
              <a:t>completed_at ISO 8601 timestamp written on success</a:t>
            </a:r>
            <a:endParaRPr lang="en-US" sz="1100" dirty="0"/>
          </a:p>
        </p:txBody>
      </p:sp>
      <p:sp>
        <p:nvSpPr>
          <p:cNvPr id="68" name="Text 66"/>
          <p:cNvSpPr/>
          <p:nvPr/>
        </p:nvSpPr>
        <p:spPr>
          <a:xfrm>
            <a:off x="411480" y="6355080"/>
            <a:ext cx="11338560" cy="256032"/>
          </a:xfrm>
          <a:prstGeom prst="rect">
            <a:avLst/>
          </a:prstGeom>
          <a:noFill/>
          <a:ln/>
        </p:spPr>
        <p:txBody>
          <a:bodyPr wrap="square" rtlCol="0" anchor="ctr"/>
          <a:lstStyle/>
          <a:p>
            <a:pPr marL="0" indent="0">
              <a:buNone/>
            </a:pPr>
            <a:r>
              <a:rPr lang="en-US" sz="1000" dirty="0">
                <a:solidFill>
                  <a:srgbClr val="7A94B0"/>
                </a:solidFill>
                <a:latin typeface="Calibri" pitchFamily="34" charset="0"/>
                <a:ea typeface="Calibri" pitchFamily="34" charset="-122"/>
                <a:cs typeface="Calibri" pitchFamily="34" charset="-120"/>
              </a:rPr>
              <a:t>boto3 synchronous invoke()  ·  Step Functions planned for future iteration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03</a:t>
            </a:r>
            <a:endParaRPr lang="en-US" sz="1400" dirty="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dirty="0">
                <a:solidFill>
                  <a:srgbClr val="7EC8E3"/>
                </a:solidFill>
                <a:latin typeface="Calibri" pitchFamily="34" charset="0"/>
                <a:ea typeface="Calibri" pitchFamily="34" charset="-122"/>
                <a:cs typeface="Calibri" pitchFamily="34" charset="-120"/>
              </a:rPr>
              <a:t>EXTRACTION AGENT</a:t>
            </a:r>
            <a:endParaRPr lang="en-US" sz="1100" dirty="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Extraction Agent</a:t>
            </a:r>
            <a:endParaRPr lang="en-US" sz="3600" dirty="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dirty="0">
                <a:solidFill>
                  <a:srgbClr val="7A94B0"/>
                </a:solidFill>
                <a:latin typeface="Calibri" pitchFamily="34" charset="0"/>
                <a:ea typeface="Calibri" pitchFamily="34" charset="-122"/>
                <a:cs typeface="Calibri" pitchFamily="34" charset="-120"/>
              </a:rPr>
              <a:t>OCR via Amazon Textract → field normalisation via Claude Sonnet 4.6 → validation → DynamoDB</a:t>
            </a:r>
            <a:endParaRPr lang="en-US" sz="1500" dirty="0"/>
          </a:p>
        </p:txBody>
      </p:sp>
      <p:sp>
        <p:nvSpPr>
          <p:cNvPr id="8" name="Shape 6"/>
          <p:cNvSpPr/>
          <p:nvPr/>
        </p:nvSpPr>
        <p:spPr>
          <a:xfrm>
            <a:off x="411480" y="1901952"/>
            <a:ext cx="5394960" cy="1536192"/>
          </a:xfrm>
          <a:prstGeom prst="roundRect">
            <a:avLst>
              <a:gd name="adj" fmla="val 4762"/>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TEXTRACT ROUTING BY DOC TYPE</a:t>
            </a:r>
            <a:endParaRPr lang="en-US" sz="900" dirty="0"/>
          </a:p>
        </p:txBody>
      </p:sp>
      <p:sp>
        <p:nvSpPr>
          <p:cNvPr id="10" name="Text 8"/>
          <p:cNvSpPr/>
          <p:nvPr/>
        </p:nvSpPr>
        <p:spPr>
          <a:xfrm>
            <a:off x="566928" y="2231136"/>
            <a:ext cx="5102352" cy="274320"/>
          </a:xfrm>
          <a:prstGeom prst="rect">
            <a:avLst/>
          </a:prstGeom>
          <a:noFill/>
          <a:ln/>
        </p:spPr>
        <p:txBody>
          <a:bodyPr wrap="square" lIns="0" tIns="0" rIns="0" bIns="0" rtlCol="0" anchor="ctr"/>
          <a:lstStyle/>
          <a:p>
            <a:pPr marL="0" indent="0">
              <a:buNone/>
            </a:pPr>
            <a:r>
              <a:rPr lang="en-US" sz="1150" b="1" dirty="0">
                <a:solidFill>
                  <a:srgbClr val="F5A623"/>
                </a:solidFill>
                <a:latin typeface="Calibri" pitchFamily="34" charset="0"/>
                <a:ea typeface="Calibri" pitchFamily="34" charset="-122"/>
                <a:cs typeface="Calibri" pitchFamily="34" charset="-120"/>
              </a:rPr>
              <a:t>AnalyzeExpense  </a:t>
            </a:r>
            <a:r>
              <a:rPr lang="en-US" sz="1150" dirty="0">
                <a:solidFill>
                  <a:srgbClr val="D6E4F0"/>
                </a:solidFill>
                <a:latin typeface="Calibri" pitchFamily="34" charset="0"/>
                <a:ea typeface="Calibri" pitchFamily="34" charset="-122"/>
                <a:cs typeface="Calibri" pitchFamily="34" charset="-120"/>
              </a:rPr>
              <a:t>→ invoice · receipt · purchase_invoice</a:t>
            </a:r>
            <a:endParaRPr lang="en-US" sz="1150" dirty="0"/>
          </a:p>
        </p:txBody>
      </p:sp>
      <p:sp>
        <p:nvSpPr>
          <p:cNvPr id="11" name="Text 9"/>
          <p:cNvSpPr/>
          <p:nvPr/>
        </p:nvSpPr>
        <p:spPr>
          <a:xfrm>
            <a:off x="566928" y="2487168"/>
            <a:ext cx="5102352" cy="237744"/>
          </a:xfrm>
          <a:prstGeom prst="rect">
            <a:avLst/>
          </a:prstGeom>
          <a:noFill/>
          <a:ln/>
        </p:spPr>
        <p:txBody>
          <a:bodyPr wrap="square" lIns="0" tIns="0" rIns="0" bIns="0" rtlCol="0" anchor="ctr"/>
          <a:lstStyle/>
          <a:p>
            <a:pPr marL="0" indent="0">
              <a:buNone/>
            </a:pPr>
            <a:r>
              <a:rPr lang="en-US" sz="1050" dirty="0">
                <a:solidFill>
                  <a:srgbClr val="7A94B0"/>
                </a:solidFill>
                <a:latin typeface="Calibri" pitchFamily="34" charset="0"/>
                <a:ea typeface="Calibri" pitchFamily="34" charset="-122"/>
                <a:cs typeface="Calibri" pitchFamily="34" charset="-120"/>
              </a:rPr>
              <a:t>   Understands VENDOR_NAME, TOTAL, TAX, LINE_ITEMS as semantic fields</a:t>
            </a:r>
            <a:endParaRPr lang="en-US" sz="1050" dirty="0"/>
          </a:p>
        </p:txBody>
      </p:sp>
      <p:sp>
        <p:nvSpPr>
          <p:cNvPr id="12" name="Text 10"/>
          <p:cNvSpPr/>
          <p:nvPr/>
        </p:nvSpPr>
        <p:spPr>
          <a:xfrm>
            <a:off x="566928" y="2761488"/>
            <a:ext cx="5102352" cy="274320"/>
          </a:xfrm>
          <a:prstGeom prst="rect">
            <a:avLst/>
          </a:prstGeom>
          <a:noFill/>
          <a:ln/>
        </p:spPr>
        <p:txBody>
          <a:bodyPr wrap="square" lIns="0" tIns="0" rIns="0" bIns="0" rtlCol="0" anchor="ctr"/>
          <a:lstStyle/>
          <a:p>
            <a:pPr marL="0" indent="0">
              <a:buNone/>
            </a:pPr>
            <a:r>
              <a:rPr lang="en-US" sz="1150" b="1" dirty="0">
                <a:solidFill>
                  <a:srgbClr val="F26B5B"/>
                </a:solidFill>
                <a:latin typeface="Calibri" pitchFamily="34" charset="0"/>
                <a:ea typeface="Calibri" pitchFamily="34" charset="-122"/>
                <a:cs typeface="Calibri" pitchFamily="34" charset="-120"/>
              </a:rPr>
              <a:t>AnalyzeDocument/TABLES  </a:t>
            </a:r>
            <a:r>
              <a:rPr lang="en-US" sz="1150" dirty="0">
                <a:solidFill>
                  <a:srgbClr val="D6E4F0"/>
                </a:solidFill>
                <a:latin typeface="Calibri" pitchFamily="34" charset="0"/>
                <a:ea typeface="Calibri" pitchFamily="34" charset="-122"/>
                <a:cs typeface="Calibri" pitchFamily="34" charset="-120"/>
              </a:rPr>
              <a:t>→ statement · trial_balance · ledger · journal</a:t>
            </a:r>
            <a:endParaRPr lang="en-US" sz="1150" dirty="0"/>
          </a:p>
        </p:txBody>
      </p:sp>
      <p:sp>
        <p:nvSpPr>
          <p:cNvPr id="13" name="Text 11"/>
          <p:cNvSpPr/>
          <p:nvPr/>
        </p:nvSpPr>
        <p:spPr>
          <a:xfrm>
            <a:off x="566928" y="3017520"/>
            <a:ext cx="5102352" cy="237744"/>
          </a:xfrm>
          <a:prstGeom prst="rect">
            <a:avLst/>
          </a:prstGeom>
          <a:noFill/>
          <a:ln/>
        </p:spPr>
        <p:txBody>
          <a:bodyPr wrap="square" lIns="0" tIns="0" rIns="0" bIns="0" rtlCol="0" anchor="ctr"/>
          <a:lstStyle/>
          <a:p>
            <a:pPr marL="0" indent="0">
              <a:buNone/>
            </a:pPr>
            <a:r>
              <a:rPr lang="en-US" sz="1050" dirty="0">
                <a:solidFill>
                  <a:srgbClr val="7A94B0"/>
                </a:solidFill>
                <a:latin typeface="Calibri" pitchFamily="34" charset="0"/>
                <a:ea typeface="Calibri" pitchFamily="34" charset="-122"/>
                <a:cs typeface="Calibri" pitchFamily="34" charset="-120"/>
              </a:rPr>
              <a:t>   Captures grid cells AND page-level header text (company name, currency, dates)</a:t>
            </a:r>
            <a:endParaRPr lang="en-US" sz="1050" dirty="0"/>
          </a:p>
        </p:txBody>
      </p:sp>
      <p:sp>
        <p:nvSpPr>
          <p:cNvPr id="14" name="Shape 12"/>
          <p:cNvSpPr/>
          <p:nvPr/>
        </p:nvSpPr>
        <p:spPr>
          <a:xfrm>
            <a:off x="411480" y="3529584"/>
            <a:ext cx="5394960" cy="1243584"/>
          </a:xfrm>
          <a:prstGeom prst="roundRect">
            <a:avLst>
              <a:gd name="adj" fmla="val 5882"/>
            </a:avLst>
          </a:prstGeom>
          <a:solidFill>
            <a:srgbClr val="1B2E45"/>
          </a:solidFill>
          <a:ln w="12700">
            <a:solidFill>
              <a:srgbClr val="243B55"/>
            </a:solidFill>
            <a:prstDash val="solid"/>
          </a:ln>
        </p:spPr>
        <p:txBody>
          <a:bodyPr/>
          <a:lstStyle/>
          <a:p>
            <a:endParaRPr lang="en-US"/>
          </a:p>
        </p:txBody>
      </p:sp>
      <p:sp>
        <p:nvSpPr>
          <p:cNvPr id="15" name="Text 13"/>
          <p:cNvSpPr/>
          <p:nvPr/>
        </p:nvSpPr>
        <p:spPr>
          <a:xfrm>
            <a:off x="566928" y="3584448"/>
            <a:ext cx="4572000" cy="256032"/>
          </a:xfrm>
          <a:prstGeom prst="rect">
            <a:avLst/>
          </a:prstGeom>
          <a:noFill/>
          <a:ln/>
        </p:spPr>
        <p:txBody>
          <a:bodyPr wrap="square" lIns="0" tIns="0" rIns="0" bIns="0"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CLAUDE NORMALISATION RULES</a:t>
            </a:r>
            <a:endParaRPr lang="en-US" sz="900" dirty="0"/>
          </a:p>
        </p:txBody>
      </p:sp>
      <p:sp>
        <p:nvSpPr>
          <p:cNvPr id="16" name="Text 14"/>
          <p:cNvSpPr/>
          <p:nvPr/>
        </p:nvSpPr>
        <p:spPr>
          <a:xfrm>
            <a:off x="566928" y="3858768"/>
            <a:ext cx="5102352" cy="292608"/>
          </a:xfrm>
          <a:prstGeom prst="rect">
            <a:avLst/>
          </a:prstGeom>
          <a:noFill/>
          <a:ln/>
        </p:spPr>
        <p:txBody>
          <a:bodyPr wrap="square" lIns="0" tIns="0" rIns="0" bIns="0" rtlCol="0" anchor="ctr"/>
          <a:lstStyle/>
          <a:p>
            <a:pPr marL="0" indent="0">
              <a:buNone/>
            </a:pPr>
            <a:r>
              <a:rPr lang="en-US" sz="1080" b="1" dirty="0">
                <a:solidFill>
                  <a:srgbClr val="F5A623"/>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Amounts → numbers with exactly 2 decimal places (never string, never float)</a:t>
            </a:r>
            <a:endParaRPr lang="en-US" sz="1080" dirty="0"/>
          </a:p>
        </p:txBody>
      </p:sp>
      <p:sp>
        <p:nvSpPr>
          <p:cNvPr id="17" name="Text 15"/>
          <p:cNvSpPr/>
          <p:nvPr/>
        </p:nvSpPr>
        <p:spPr>
          <a:xfrm>
            <a:off x="566928" y="4151376"/>
            <a:ext cx="5102352" cy="292608"/>
          </a:xfrm>
          <a:prstGeom prst="rect">
            <a:avLst/>
          </a:prstGeom>
          <a:noFill/>
          <a:ln/>
        </p:spPr>
        <p:txBody>
          <a:bodyPr wrap="square" lIns="0" tIns="0" rIns="0" bIns="0" rtlCol="0" anchor="ctr"/>
          <a:lstStyle/>
          <a:p>
            <a:pPr marL="0" indent="0">
              <a:buNone/>
            </a:pPr>
            <a:r>
              <a:rPr lang="en-US" sz="1080" b="1" dirty="0">
                <a:solidFill>
                  <a:srgbClr val="F5A623"/>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Claude never computes totals — "40 seats @ $75" with no printed total → null</a:t>
            </a:r>
            <a:endParaRPr lang="en-US" sz="1080" dirty="0"/>
          </a:p>
        </p:txBody>
      </p:sp>
      <p:sp>
        <p:nvSpPr>
          <p:cNvPr id="18" name="Text 16"/>
          <p:cNvSpPr/>
          <p:nvPr/>
        </p:nvSpPr>
        <p:spPr>
          <a:xfrm>
            <a:off x="566928" y="4443984"/>
            <a:ext cx="5102352" cy="292608"/>
          </a:xfrm>
          <a:prstGeom prst="rect">
            <a:avLst/>
          </a:prstGeom>
          <a:noFill/>
          <a:ln/>
        </p:spPr>
        <p:txBody>
          <a:bodyPr wrap="square" lIns="0" tIns="0" rIns="0" bIns="0" rtlCol="0" anchor="ctr"/>
          <a:lstStyle/>
          <a:p>
            <a:pPr marL="0" indent="0">
              <a:buNone/>
            </a:pPr>
            <a:r>
              <a:rPr lang="en-US" sz="1080" b="1" dirty="0">
                <a:solidFill>
                  <a:srgbClr val="F5A623"/>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Absent fields → null (NOT listed in unreadable_fields)</a:t>
            </a:r>
            <a:endParaRPr lang="en-US" sz="1080" dirty="0"/>
          </a:p>
        </p:txBody>
      </p:sp>
      <p:sp>
        <p:nvSpPr>
          <p:cNvPr id="19" name="Text 17"/>
          <p:cNvSpPr/>
          <p:nvPr/>
        </p:nvSpPr>
        <p:spPr>
          <a:xfrm>
            <a:off x="566928" y="4736592"/>
            <a:ext cx="5102352" cy="292608"/>
          </a:xfrm>
          <a:prstGeom prst="rect">
            <a:avLst/>
          </a:prstGeom>
          <a:noFill/>
          <a:ln/>
        </p:spPr>
        <p:txBody>
          <a:bodyPr wrap="square" lIns="0" tIns="0" rIns="0" bIns="0" rtlCol="0" anchor="ctr"/>
          <a:lstStyle/>
          <a:p>
            <a:pPr marL="0" indent="0">
              <a:buNone/>
            </a:pPr>
            <a:r>
              <a:rPr lang="en-US" sz="1080" b="1" dirty="0">
                <a:solidFill>
                  <a:srgbClr val="F5A623"/>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Illegible printed fields → listed in unreadable_fields</a:t>
            </a:r>
            <a:endParaRPr lang="en-US" sz="1080" dirty="0"/>
          </a:p>
        </p:txBody>
      </p:sp>
      <p:sp>
        <p:nvSpPr>
          <p:cNvPr id="20" name="Text 18"/>
          <p:cNvSpPr/>
          <p:nvPr/>
        </p:nvSpPr>
        <p:spPr>
          <a:xfrm>
            <a:off x="566928" y="5029200"/>
            <a:ext cx="5102352" cy="292608"/>
          </a:xfrm>
          <a:prstGeom prst="rect">
            <a:avLst/>
          </a:prstGeom>
          <a:noFill/>
          <a:ln/>
        </p:spPr>
        <p:txBody>
          <a:bodyPr wrap="square" lIns="0" tIns="0" rIns="0" bIns="0" rtlCol="0" anchor="ctr"/>
          <a:lstStyle/>
          <a:p>
            <a:pPr marL="0" indent="0">
              <a:buNone/>
            </a:pPr>
            <a:r>
              <a:rPr lang="en-US" sz="1080" b="1" dirty="0">
                <a:solidFill>
                  <a:srgbClr val="F5A623"/>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Date → YYYY-MM-DD  |  Currency → ISO 4217 code</a:t>
            </a:r>
            <a:endParaRPr lang="en-US" sz="1080" dirty="0"/>
          </a:p>
        </p:txBody>
      </p:sp>
      <p:sp>
        <p:nvSpPr>
          <p:cNvPr id="21" name="Shape 19"/>
          <p:cNvSpPr/>
          <p:nvPr/>
        </p:nvSpPr>
        <p:spPr>
          <a:xfrm>
            <a:off x="5943600" y="1901952"/>
            <a:ext cx="5833872" cy="1975104"/>
          </a:xfrm>
          <a:prstGeom prst="roundRect">
            <a:avLst>
              <a:gd name="adj" fmla="val 3704"/>
            </a:avLst>
          </a:prstGeom>
          <a:solidFill>
            <a:srgbClr val="1B2E45"/>
          </a:solidFill>
          <a:ln w="12700">
            <a:solidFill>
              <a:srgbClr val="243B55"/>
            </a:solidFill>
            <a:prstDash val="solid"/>
          </a:ln>
        </p:spPr>
        <p:txBody>
          <a:bodyPr/>
          <a:lstStyle/>
          <a:p>
            <a:endParaRPr lang="en-US"/>
          </a:p>
        </p:txBody>
      </p:sp>
      <p:sp>
        <p:nvSpPr>
          <p:cNvPr id="22" name="Text 20"/>
          <p:cNvSpPr/>
          <p:nvPr/>
        </p:nvSpPr>
        <p:spPr>
          <a:xfrm>
            <a:off x="6108192" y="1956816"/>
            <a:ext cx="4572000" cy="256032"/>
          </a:xfrm>
          <a:prstGeom prst="rect">
            <a:avLst/>
          </a:prstGeom>
          <a:noFill/>
          <a:ln/>
        </p:spPr>
        <p:txBody>
          <a:bodyPr wrap="square" lIns="0" tIns="0" rIns="0" bIns="0" rtlCol="0" anchor="ctr"/>
          <a:lstStyle/>
          <a:p>
            <a:pPr marL="0" indent="0">
              <a:buNone/>
            </a:pPr>
            <a:r>
              <a:rPr lang="en-US" sz="900" b="1" kern="0" spc="300" dirty="0">
                <a:solidFill>
                  <a:srgbClr val="F26B5B"/>
                </a:solidFill>
                <a:latin typeface="Calibri" pitchFamily="34" charset="0"/>
                <a:ea typeface="Calibri" pitchFamily="34" charset="-122"/>
                <a:cs typeface="Calibri" pitchFamily="34" charset="-120"/>
              </a:rPr>
              <a:t>VALIDATION &amp; REVIEW TRIGGERS</a:t>
            </a:r>
            <a:endParaRPr lang="en-US" sz="900" dirty="0"/>
          </a:p>
        </p:txBody>
      </p:sp>
      <p:sp>
        <p:nvSpPr>
          <p:cNvPr id="23" name="Text 21"/>
          <p:cNvSpPr/>
          <p:nvPr/>
        </p:nvSpPr>
        <p:spPr>
          <a:xfrm>
            <a:off x="6108192" y="2231136"/>
            <a:ext cx="5486400" cy="256032"/>
          </a:xfrm>
          <a:prstGeom prst="rect">
            <a:avLst/>
          </a:prstGeom>
          <a:noFill/>
          <a:ln/>
        </p:spPr>
        <p:txBody>
          <a:bodyPr wrap="square" lIns="0" tIns="0" rIns="0" bIns="0" rtlCol="0" anchor="ctr"/>
          <a:lstStyle/>
          <a:p>
            <a:pPr marL="0" indent="0">
              <a:buNone/>
            </a:pPr>
            <a:r>
              <a:rPr lang="en-US" sz="1080" b="1" dirty="0">
                <a:solidFill>
                  <a:srgbClr val="F26B5B"/>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Σ line items ≠ stated subtotal</a:t>
            </a:r>
            <a:endParaRPr lang="en-US" sz="1080" dirty="0"/>
          </a:p>
        </p:txBody>
      </p:sp>
      <p:sp>
        <p:nvSpPr>
          <p:cNvPr id="24" name="Text 22"/>
          <p:cNvSpPr/>
          <p:nvPr/>
        </p:nvSpPr>
        <p:spPr>
          <a:xfrm>
            <a:off x="6108192" y="2487168"/>
            <a:ext cx="5486400" cy="256032"/>
          </a:xfrm>
          <a:prstGeom prst="rect">
            <a:avLst/>
          </a:prstGeom>
          <a:noFill/>
          <a:ln/>
        </p:spPr>
        <p:txBody>
          <a:bodyPr wrap="square" lIns="0" tIns="0" rIns="0" bIns="0" rtlCol="0" anchor="ctr"/>
          <a:lstStyle/>
          <a:p>
            <a:pPr marL="0" indent="0">
              <a:buNone/>
            </a:pPr>
            <a:r>
              <a:rPr lang="en-US" sz="1080" b="1" dirty="0">
                <a:solidFill>
                  <a:srgbClr val="F26B5B"/>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subtotal + tax ≠ total</a:t>
            </a:r>
            <a:endParaRPr lang="en-US" sz="1080" dirty="0"/>
          </a:p>
        </p:txBody>
      </p:sp>
      <p:sp>
        <p:nvSpPr>
          <p:cNvPr id="25" name="Text 23"/>
          <p:cNvSpPr/>
          <p:nvPr/>
        </p:nvSpPr>
        <p:spPr>
          <a:xfrm>
            <a:off x="6108192" y="2743200"/>
            <a:ext cx="5486400" cy="256032"/>
          </a:xfrm>
          <a:prstGeom prst="rect">
            <a:avLst/>
          </a:prstGeom>
          <a:noFill/>
          <a:ln/>
        </p:spPr>
        <p:txBody>
          <a:bodyPr wrap="square" lIns="0" tIns="0" rIns="0" bIns="0" rtlCol="0" anchor="ctr"/>
          <a:lstStyle/>
          <a:p>
            <a:pPr marL="0" indent="0">
              <a:buNone/>
            </a:pPr>
            <a:r>
              <a:rPr lang="en-US" sz="1080" b="1" dirty="0">
                <a:solidFill>
                  <a:srgbClr val="F26B5B"/>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Textract TOTAL ≠ Claude total</a:t>
            </a:r>
            <a:endParaRPr lang="en-US" sz="1080" dirty="0"/>
          </a:p>
        </p:txBody>
      </p:sp>
      <p:sp>
        <p:nvSpPr>
          <p:cNvPr id="26" name="Text 24"/>
          <p:cNvSpPr/>
          <p:nvPr/>
        </p:nvSpPr>
        <p:spPr>
          <a:xfrm>
            <a:off x="6108192" y="2999232"/>
            <a:ext cx="5486400" cy="256032"/>
          </a:xfrm>
          <a:prstGeom prst="rect">
            <a:avLst/>
          </a:prstGeom>
          <a:noFill/>
          <a:ln/>
        </p:spPr>
        <p:txBody>
          <a:bodyPr wrap="square" lIns="0" tIns="0" rIns="0" bIns="0" rtlCol="0" anchor="ctr"/>
          <a:lstStyle/>
          <a:p>
            <a:pPr marL="0" indent="0">
              <a:buNone/>
            </a:pPr>
            <a:r>
              <a:rPr lang="en-US" sz="1080" b="1" dirty="0">
                <a:solidFill>
                  <a:srgbClr val="F26B5B"/>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Currency ≠ MYR (FX conversion needed)</a:t>
            </a:r>
            <a:endParaRPr lang="en-US" sz="1080" dirty="0"/>
          </a:p>
        </p:txBody>
      </p:sp>
      <p:sp>
        <p:nvSpPr>
          <p:cNvPr id="27" name="Text 25"/>
          <p:cNvSpPr/>
          <p:nvPr/>
        </p:nvSpPr>
        <p:spPr>
          <a:xfrm>
            <a:off x="6108192" y="3255264"/>
            <a:ext cx="5486400" cy="256032"/>
          </a:xfrm>
          <a:prstGeom prst="rect">
            <a:avLst/>
          </a:prstGeom>
          <a:noFill/>
          <a:ln/>
        </p:spPr>
        <p:txBody>
          <a:bodyPr wrap="square" lIns="0" tIns="0" rIns="0" bIns="0" rtlCol="0" anchor="ctr"/>
          <a:lstStyle/>
          <a:p>
            <a:pPr marL="0" indent="0">
              <a:buNone/>
            </a:pPr>
            <a:r>
              <a:rPr lang="en-US" sz="1080" b="1" dirty="0">
                <a:solidFill>
                  <a:srgbClr val="F26B5B"/>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Textract min confidence &lt; 80%</a:t>
            </a:r>
            <a:endParaRPr lang="en-US" sz="1080" dirty="0"/>
          </a:p>
        </p:txBody>
      </p:sp>
      <p:sp>
        <p:nvSpPr>
          <p:cNvPr id="28" name="Text 26"/>
          <p:cNvSpPr/>
          <p:nvPr/>
        </p:nvSpPr>
        <p:spPr>
          <a:xfrm>
            <a:off x="6108192" y="3511296"/>
            <a:ext cx="5486400" cy="256032"/>
          </a:xfrm>
          <a:prstGeom prst="rect">
            <a:avLst/>
          </a:prstGeom>
          <a:noFill/>
          <a:ln/>
        </p:spPr>
        <p:txBody>
          <a:bodyPr wrap="square" lIns="0" tIns="0" rIns="0" bIns="0" rtlCol="0" anchor="ctr"/>
          <a:lstStyle/>
          <a:p>
            <a:pPr marL="0" indent="0">
              <a:buNone/>
            </a:pPr>
            <a:r>
              <a:rPr lang="en-US" sz="1080" b="1" dirty="0">
                <a:solidFill>
                  <a:srgbClr val="F26B5B"/>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Required field unreadable (vendor · date · total · currency)</a:t>
            </a:r>
            <a:endParaRPr lang="en-US" sz="1080" dirty="0"/>
          </a:p>
        </p:txBody>
      </p:sp>
      <p:sp>
        <p:nvSpPr>
          <p:cNvPr id="29" name="Text 27"/>
          <p:cNvSpPr/>
          <p:nvPr/>
        </p:nvSpPr>
        <p:spPr>
          <a:xfrm>
            <a:off x="6108192" y="3767328"/>
            <a:ext cx="5486400" cy="256032"/>
          </a:xfrm>
          <a:prstGeom prst="rect">
            <a:avLst/>
          </a:prstGeom>
          <a:noFill/>
          <a:ln/>
        </p:spPr>
        <p:txBody>
          <a:bodyPr wrap="square" lIns="0" tIns="0" rIns="0" bIns="0" rtlCol="0" anchor="ctr"/>
          <a:lstStyle/>
          <a:p>
            <a:pPr marL="0" indent="0">
              <a:buNone/>
            </a:pPr>
            <a:r>
              <a:rPr lang="en-US" sz="1080" b="1" dirty="0">
                <a:solidFill>
                  <a:srgbClr val="F26B5B"/>
                </a:solidFill>
                <a:latin typeface="Calibri" pitchFamily="34" charset="0"/>
                <a:ea typeface="Calibri" pitchFamily="34" charset="-122"/>
                <a:cs typeface="Calibri" pitchFamily="34" charset="-120"/>
              </a:rPr>
              <a:t>⚠  </a:t>
            </a:r>
            <a:r>
              <a:rPr lang="en-US" sz="1080" dirty="0">
                <a:solidFill>
                  <a:srgbClr val="D6E4F0"/>
                </a:solidFill>
                <a:latin typeface="Calibri" pitchFamily="34" charset="0"/>
                <a:ea typeface="Calibri" pitchFamily="34" charset="-122"/>
                <a:cs typeface="Calibri" pitchFamily="34" charset="-120"/>
              </a:rPr>
              <a:t>Tabular: total_debit ≠ total_credit (trial_balance / ledger)</a:t>
            </a:r>
            <a:endParaRPr lang="en-US" sz="1080" dirty="0"/>
          </a:p>
        </p:txBody>
      </p:sp>
      <p:sp>
        <p:nvSpPr>
          <p:cNvPr id="30" name="Text 28"/>
          <p:cNvSpPr/>
          <p:nvPr/>
        </p:nvSpPr>
        <p:spPr>
          <a:xfrm>
            <a:off x="6108192" y="3794760"/>
            <a:ext cx="5486400" cy="237744"/>
          </a:xfrm>
          <a:prstGeom prst="rect">
            <a:avLst/>
          </a:prstGeom>
          <a:noFill/>
          <a:ln/>
        </p:spPr>
        <p:txBody>
          <a:bodyPr wrap="square" lIns="0" tIns="0" rIns="0" bIns="0" rtlCol="0" anchor="ctr"/>
          <a:lstStyle/>
          <a:p>
            <a:pPr marL="0" indent="0">
              <a:buNone/>
            </a:pPr>
            <a:r>
              <a:rPr lang="en-US" sz="1000" dirty="0">
                <a:solidFill>
                  <a:srgbClr val="F5A623"/>
                </a:solidFill>
                <a:latin typeface="Calibri" pitchFamily="34" charset="0"/>
                <a:ea typeface="Calibri" pitchFamily="34" charset="-122"/>
                <a:cs typeface="Calibri" pitchFamily="34" charset="-120"/>
              </a:rPr>
              <a:t>Any trigger → status = "pending_review"   |   Clean doc → status = "normalized"</a:t>
            </a:r>
            <a:endParaRPr lang="en-US" sz="1000" dirty="0"/>
          </a:p>
        </p:txBody>
      </p:sp>
      <p:sp>
        <p:nvSpPr>
          <p:cNvPr id="31" name="Shape 29"/>
          <p:cNvSpPr/>
          <p:nvPr/>
        </p:nvSpPr>
        <p:spPr>
          <a:xfrm>
            <a:off x="5943600" y="3968496"/>
            <a:ext cx="5833872" cy="804672"/>
          </a:xfrm>
          <a:prstGeom prst="roundRect">
            <a:avLst>
              <a:gd name="adj" fmla="val 9091"/>
            </a:avLst>
          </a:prstGeom>
          <a:solidFill>
            <a:srgbClr val="162032"/>
          </a:solidFill>
          <a:ln w="12700">
            <a:solidFill>
              <a:srgbClr val="243B55"/>
            </a:solidFill>
            <a:prstDash val="solid"/>
          </a:ln>
        </p:spPr>
        <p:txBody>
          <a:bodyPr/>
          <a:lstStyle/>
          <a:p>
            <a:endParaRPr lang="en-US"/>
          </a:p>
        </p:txBody>
      </p:sp>
      <p:sp>
        <p:nvSpPr>
          <p:cNvPr id="32" name="Text 30"/>
          <p:cNvSpPr/>
          <p:nvPr/>
        </p:nvSpPr>
        <p:spPr>
          <a:xfrm>
            <a:off x="6108192" y="4023360"/>
            <a:ext cx="4572000" cy="256032"/>
          </a:xfrm>
          <a:prstGeom prst="rect">
            <a:avLst/>
          </a:prstGeom>
          <a:noFill/>
          <a:ln/>
        </p:spPr>
        <p:txBody>
          <a:bodyPr wrap="square" lIns="0" tIns="0" rIns="0" bIns="0" rtlCol="0" anchor="ctr"/>
          <a:lstStyle/>
          <a:p>
            <a:pPr marL="0" indent="0">
              <a:buNone/>
            </a:pPr>
            <a:r>
              <a:rPr lang="en-US" sz="900" b="1" kern="0" spc="300" dirty="0">
                <a:solidFill>
                  <a:srgbClr val="00C9A7"/>
                </a:solidFill>
                <a:latin typeface="Calibri" pitchFamily="34" charset="0"/>
                <a:ea typeface="Calibri" pitchFamily="34" charset="-122"/>
                <a:cs typeface="Calibri" pitchFamily="34" charset="-120"/>
              </a:rPr>
              <a:t>MONEY DISCIPLINE</a:t>
            </a:r>
            <a:endParaRPr lang="en-US" sz="900" dirty="0"/>
          </a:p>
        </p:txBody>
      </p:sp>
      <p:sp>
        <p:nvSpPr>
          <p:cNvPr id="33" name="Text 31"/>
          <p:cNvSpPr/>
          <p:nvPr/>
        </p:nvSpPr>
        <p:spPr>
          <a:xfrm>
            <a:off x="6108192" y="4261104"/>
            <a:ext cx="5486400" cy="384048"/>
          </a:xfrm>
          <a:prstGeom prst="rect">
            <a:avLst/>
          </a:prstGeom>
          <a:noFill/>
          <a:ln/>
        </p:spPr>
        <p:txBody>
          <a:bodyPr wrap="square" lIns="0" tIns="0" rIns="0" bIns="0" rtlCol="0" anchor="ctr"/>
          <a:lstStyle/>
          <a:p>
            <a:pPr marL="0" indent="0">
              <a:buNone/>
            </a:pPr>
            <a:r>
              <a:rPr lang="en-US" sz="1050" dirty="0">
                <a:solidFill>
                  <a:srgbClr val="00C9A7"/>
                </a:solidFill>
                <a:latin typeface="Courier New" pitchFamily="34" charset="0"/>
                <a:ea typeface="Courier New" pitchFamily="34" charset="-122"/>
                <a:cs typeface="Courier New" pitchFamily="34" charset="-120"/>
              </a:rPr>
              <a:t>json.loads(raw, parse_float=Decimal)  ·  to_dynamo() raises TypeError on float  ·  all amounts quantized to 0.01</a:t>
            </a:r>
            <a:endParaRPr lang="en-US" sz="1050" dirty="0"/>
          </a:p>
        </p:txBody>
      </p:sp>
      <p:sp>
        <p:nvSpPr>
          <p:cNvPr id="34" name="Shape 32"/>
          <p:cNvSpPr/>
          <p:nvPr/>
        </p:nvSpPr>
        <p:spPr>
          <a:xfrm>
            <a:off x="411480" y="4846320"/>
            <a:ext cx="11356848" cy="877824"/>
          </a:xfrm>
          <a:prstGeom prst="roundRect">
            <a:avLst>
              <a:gd name="adj" fmla="val 8333"/>
            </a:avLst>
          </a:prstGeom>
          <a:solidFill>
            <a:srgbClr val="1B2E45"/>
          </a:solidFill>
          <a:ln w="12700">
            <a:solidFill>
              <a:srgbClr val="243B55"/>
            </a:solidFill>
            <a:prstDash val="solid"/>
          </a:ln>
        </p:spPr>
        <p:txBody>
          <a:bodyPr/>
          <a:lstStyle/>
          <a:p>
            <a:endParaRPr lang="en-US"/>
          </a:p>
        </p:txBody>
      </p:sp>
      <p:sp>
        <p:nvSpPr>
          <p:cNvPr id="35" name="Text 33"/>
          <p:cNvSpPr/>
          <p:nvPr/>
        </p:nvSpPr>
        <p:spPr>
          <a:xfrm>
            <a:off x="566928" y="4901184"/>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INPUT / OUTPUT</a:t>
            </a:r>
            <a:endParaRPr lang="en-US" sz="900" dirty="0"/>
          </a:p>
        </p:txBody>
      </p:sp>
      <p:sp>
        <p:nvSpPr>
          <p:cNvPr id="36" name="Shape 34"/>
          <p:cNvSpPr/>
          <p:nvPr/>
        </p:nvSpPr>
        <p:spPr>
          <a:xfrm>
            <a:off x="566928" y="5175504"/>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37" name="Text 35"/>
          <p:cNvSpPr/>
          <p:nvPr/>
        </p:nvSpPr>
        <p:spPr>
          <a:xfrm>
            <a:off x="566928" y="5175504"/>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INPUT</a:t>
            </a:r>
            <a:endParaRPr lang="en-US" sz="850" dirty="0"/>
          </a:p>
        </p:txBody>
      </p:sp>
      <p:sp>
        <p:nvSpPr>
          <p:cNvPr id="38" name="Text 36"/>
          <p:cNvSpPr/>
          <p:nvPr/>
        </p:nvSpPr>
        <p:spPr>
          <a:xfrm>
            <a:off x="1298448" y="5138928"/>
            <a:ext cx="470916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Multipart form-data: run_id, doc_type, file (bytes from Runner)</a:t>
            </a:r>
            <a:endParaRPr lang="en-US" sz="1100" dirty="0"/>
          </a:p>
        </p:txBody>
      </p:sp>
      <p:sp>
        <p:nvSpPr>
          <p:cNvPr id="39" name="Shape 37"/>
          <p:cNvSpPr/>
          <p:nvPr/>
        </p:nvSpPr>
        <p:spPr>
          <a:xfrm>
            <a:off x="6217920" y="5175504"/>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40" name="Text 38"/>
          <p:cNvSpPr/>
          <p:nvPr/>
        </p:nvSpPr>
        <p:spPr>
          <a:xfrm>
            <a:off x="6217920" y="5175504"/>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41" name="Text 39"/>
          <p:cNvSpPr/>
          <p:nvPr/>
        </p:nvSpPr>
        <p:spPr>
          <a:xfrm>
            <a:off x="6949440" y="5138928"/>
            <a:ext cx="461772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auditai-documents DynamoDB item (expense or tabular schema) + HTTP summary → Runner</a:t>
            </a:r>
            <a:endParaRPr lang="en-US" sz="1100" dirty="0"/>
          </a:p>
        </p:txBody>
      </p:sp>
      <p:sp>
        <p:nvSpPr>
          <p:cNvPr id="42" name="Text 40"/>
          <p:cNvSpPr/>
          <p:nvPr/>
        </p:nvSpPr>
        <p:spPr>
          <a:xfrm>
            <a:off x="411480" y="6355080"/>
            <a:ext cx="11338560" cy="256032"/>
          </a:xfrm>
          <a:prstGeom prst="rect">
            <a:avLst/>
          </a:prstGeom>
          <a:noFill/>
          <a:ln/>
        </p:spPr>
        <p:txBody>
          <a:bodyPr wrap="square" rtlCol="0" anchor="ctr"/>
          <a:lstStyle/>
          <a:p>
            <a:pPr marL="0" indent="0">
              <a:buNone/>
            </a:pPr>
            <a:r>
              <a:rPr lang="en-US" sz="1000" dirty="0">
                <a:solidFill>
                  <a:srgbClr val="7A94B0"/>
                </a:solidFill>
                <a:latin typeface="Calibri" pitchFamily="34" charset="0"/>
                <a:ea typeface="Calibri" pitchFamily="34" charset="-122"/>
                <a:cs typeface="Calibri" pitchFamily="34" charset="-120"/>
              </a:rPr>
              <a:t>Schema version: 1.1  ·  Model: global.anthropic.claude-sonnet-4-6  ·  Table: auditai-documents (PK=run_id, SK=doc_type#doc_id)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04</a:t>
            </a:r>
            <a:endParaRPr lang="en-US" sz="1400" dirty="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dirty="0">
                <a:solidFill>
                  <a:srgbClr val="7EC8E3"/>
                </a:solidFill>
                <a:latin typeface="Calibri" pitchFamily="34" charset="0"/>
                <a:ea typeface="Calibri" pitchFamily="34" charset="-122"/>
                <a:cs typeface="Calibri" pitchFamily="34" charset="-120"/>
              </a:rPr>
              <a:t>LEDGER AGENT</a:t>
            </a:r>
            <a:endParaRPr lang="en-US" sz="1100" dirty="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Ledger Agent</a:t>
            </a:r>
            <a:endParaRPr lang="en-US" sz="3600" dirty="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dirty="0">
                <a:solidFill>
                  <a:srgbClr val="7A94B0"/>
                </a:solidFill>
                <a:latin typeface="Calibri" pitchFamily="34" charset="0"/>
                <a:ea typeface="Calibri" pitchFamily="34" charset="-122"/>
                <a:cs typeface="Calibri" pitchFamily="34" charset="-120"/>
              </a:rPr>
              <a:t>Classifies line items via Bedrock → posts double-entry journal entries → builds trial balance</a:t>
            </a:r>
            <a:endParaRPr lang="en-US" sz="1500" dirty="0"/>
          </a:p>
        </p:txBody>
      </p:sp>
      <p:sp>
        <p:nvSpPr>
          <p:cNvPr id="8" name="Shape 6"/>
          <p:cNvSpPr/>
          <p:nvPr/>
        </p:nvSpPr>
        <p:spPr>
          <a:xfrm>
            <a:off x="411480" y="1901952"/>
            <a:ext cx="5532120" cy="2542032"/>
          </a:xfrm>
          <a:prstGeom prst="roundRect">
            <a:avLst>
              <a:gd name="adj" fmla="val 2878"/>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dirty="0">
                <a:solidFill>
                  <a:srgbClr val="7B61FF"/>
                </a:solidFill>
                <a:latin typeface="Calibri" pitchFamily="34" charset="0"/>
                <a:ea typeface="Calibri" pitchFamily="34" charset="-122"/>
                <a:cs typeface="Calibri" pitchFamily="34" charset="-120"/>
              </a:rPr>
              <a:t>DOUBLE-ENTRY POSTING RULES</a:t>
            </a:r>
            <a:endParaRPr lang="en-US" sz="900" dirty="0"/>
          </a:p>
        </p:txBody>
      </p:sp>
      <p:sp>
        <p:nvSpPr>
          <p:cNvPr id="10" name="Text 8"/>
          <p:cNvSpPr/>
          <p:nvPr/>
        </p:nvSpPr>
        <p:spPr>
          <a:xfrm>
            <a:off x="566928" y="2212848"/>
            <a:ext cx="5212080" cy="256032"/>
          </a:xfrm>
          <a:prstGeom prst="rect">
            <a:avLst/>
          </a:prstGeom>
          <a:noFill/>
          <a:ln/>
        </p:spPr>
        <p:txBody>
          <a:bodyPr wrap="square" lIns="0" tIns="0" rIns="0" bIns="0" rtlCol="0" anchor="ctr"/>
          <a:lstStyle/>
          <a:p>
            <a:pPr marL="0" indent="0">
              <a:buNone/>
            </a:pPr>
            <a:r>
              <a:rPr lang="en-US" sz="1100" b="1" dirty="0">
                <a:solidFill>
                  <a:srgbClr val="F26B5B"/>
                </a:solidFill>
                <a:latin typeface="Calibri" pitchFamily="34" charset="0"/>
                <a:ea typeface="Calibri" pitchFamily="34" charset="-122"/>
                <a:cs typeface="Calibri" pitchFamily="34" charset="-120"/>
              </a:rPr>
              <a:t>OUTFLOW  (receipt / purchase_invoice — we paid)</a:t>
            </a:r>
            <a:endParaRPr lang="en-US" sz="1100" dirty="0"/>
          </a:p>
        </p:txBody>
      </p:sp>
      <p:sp>
        <p:nvSpPr>
          <p:cNvPr id="11" name="Shape 9"/>
          <p:cNvSpPr/>
          <p:nvPr/>
        </p:nvSpPr>
        <p:spPr>
          <a:xfrm>
            <a:off x="566928" y="2487168"/>
            <a:ext cx="5212080" cy="1207008"/>
          </a:xfrm>
          <a:prstGeom prst="roundRect">
            <a:avLst>
              <a:gd name="adj" fmla="val 6061"/>
            </a:avLst>
          </a:prstGeom>
          <a:solidFill>
            <a:srgbClr val="162032"/>
          </a:solidFill>
          <a:ln w="12700">
            <a:solidFill>
              <a:srgbClr val="243B55"/>
            </a:solidFill>
            <a:prstDash val="solid"/>
          </a:ln>
        </p:spPr>
        <p:txBody>
          <a:bodyPr/>
          <a:lstStyle/>
          <a:p>
            <a:endParaRPr lang="en-US"/>
          </a:p>
        </p:txBody>
      </p:sp>
      <p:sp>
        <p:nvSpPr>
          <p:cNvPr id="12" name="Shape 10"/>
          <p:cNvSpPr/>
          <p:nvPr/>
        </p:nvSpPr>
        <p:spPr>
          <a:xfrm>
            <a:off x="566928" y="2487168"/>
            <a:ext cx="45720" cy="1207008"/>
          </a:xfrm>
          <a:prstGeom prst="rect">
            <a:avLst/>
          </a:prstGeom>
          <a:solidFill>
            <a:srgbClr val="F5A623"/>
          </a:solidFill>
          <a:ln w="12700">
            <a:solidFill>
              <a:srgbClr val="F5A623"/>
            </a:solidFill>
            <a:prstDash val="solid"/>
          </a:ln>
        </p:spPr>
        <p:txBody>
          <a:bodyPr/>
          <a:lstStyle/>
          <a:p>
            <a:endParaRPr lang="en-US"/>
          </a:p>
        </p:txBody>
      </p:sp>
      <p:sp>
        <p:nvSpPr>
          <p:cNvPr id="13" name="Text 11"/>
          <p:cNvSpPr/>
          <p:nvPr/>
        </p:nvSpPr>
        <p:spPr>
          <a:xfrm>
            <a:off x="731520" y="2578608"/>
            <a:ext cx="4983480" cy="256032"/>
          </a:xfrm>
          <a:prstGeom prst="rect">
            <a:avLst/>
          </a:prstGeom>
          <a:noFill/>
          <a:ln/>
        </p:spPr>
        <p:txBody>
          <a:bodyPr wrap="square" lIns="0" tIns="0" rIns="0" bIns="0" rtlCol="0" anchor="ctr"/>
          <a:lstStyle/>
          <a:p>
            <a:pPr marL="0" indent="0">
              <a:buNone/>
            </a:pPr>
            <a:r>
              <a:rPr lang="en-US" sz="1100" dirty="0">
                <a:solidFill>
                  <a:srgbClr val="F5A623"/>
                </a:solidFill>
                <a:latin typeface="Courier New" pitchFamily="34" charset="0"/>
                <a:ea typeface="Courier New" pitchFamily="34" charset="-122"/>
                <a:cs typeface="Courier New" pitchFamily="34" charset="-120"/>
              </a:rPr>
              <a:t>DEBIT   &lt;classified expense/COGS&gt;    (line amount)</a:t>
            </a:r>
            <a:endParaRPr lang="en-US" sz="1100" dirty="0"/>
          </a:p>
        </p:txBody>
      </p:sp>
      <p:sp>
        <p:nvSpPr>
          <p:cNvPr id="14" name="Text 12"/>
          <p:cNvSpPr/>
          <p:nvPr/>
        </p:nvSpPr>
        <p:spPr>
          <a:xfrm>
            <a:off x="731520" y="2852928"/>
            <a:ext cx="4983480" cy="256032"/>
          </a:xfrm>
          <a:prstGeom prst="rect">
            <a:avLst/>
          </a:prstGeom>
          <a:noFill/>
          <a:ln/>
        </p:spPr>
        <p:txBody>
          <a:bodyPr wrap="square" lIns="0" tIns="0" rIns="0" bIns="0" rtlCol="0" anchor="ctr"/>
          <a:lstStyle/>
          <a:p>
            <a:pPr marL="0" indent="0">
              <a:buNone/>
            </a:pPr>
            <a:r>
              <a:rPr lang="en-US" sz="1100" dirty="0">
                <a:solidFill>
                  <a:srgbClr val="D6E4F0"/>
                </a:solidFill>
                <a:latin typeface="Courier New" pitchFamily="34" charset="0"/>
                <a:ea typeface="Courier New" pitchFamily="34" charset="-122"/>
                <a:cs typeface="Courier New" pitchFamily="34" charset="-120"/>
              </a:rPr>
              <a:t>CREDIT  1000 Cash                    (line amount)</a:t>
            </a:r>
            <a:endParaRPr lang="en-US" sz="1100" dirty="0"/>
          </a:p>
        </p:txBody>
      </p:sp>
      <p:sp>
        <p:nvSpPr>
          <p:cNvPr id="15" name="Text 13"/>
          <p:cNvSpPr/>
          <p:nvPr/>
        </p:nvSpPr>
        <p:spPr>
          <a:xfrm>
            <a:off x="731520" y="3127248"/>
            <a:ext cx="4983480" cy="256032"/>
          </a:xfrm>
          <a:prstGeom prst="rect">
            <a:avLst/>
          </a:prstGeom>
          <a:noFill/>
          <a:ln/>
        </p:spPr>
        <p:txBody>
          <a:bodyPr wrap="square" lIns="0" tIns="0" rIns="0" bIns="0" rtlCol="0" anchor="ctr"/>
          <a:lstStyle/>
          <a:p>
            <a:pPr marL="0" indent="0">
              <a:buNone/>
            </a:pPr>
            <a:r>
              <a:rPr lang="en-US" sz="1100" dirty="0">
                <a:solidFill>
                  <a:srgbClr val="F5A623"/>
                </a:solidFill>
                <a:latin typeface="Courier New" pitchFamily="34" charset="0"/>
                <a:ea typeface="Courier New" pitchFamily="34" charset="-122"/>
                <a:cs typeface="Courier New" pitchFamily="34" charset="-120"/>
              </a:rPr>
              <a:t>DEBIT   6500 Prof/IT Services        (tax amt, if any)</a:t>
            </a:r>
            <a:endParaRPr lang="en-US" sz="1100" dirty="0"/>
          </a:p>
        </p:txBody>
      </p:sp>
      <p:sp>
        <p:nvSpPr>
          <p:cNvPr id="16" name="Text 14"/>
          <p:cNvSpPr/>
          <p:nvPr/>
        </p:nvSpPr>
        <p:spPr>
          <a:xfrm>
            <a:off x="731520" y="3401568"/>
            <a:ext cx="4983480" cy="256032"/>
          </a:xfrm>
          <a:prstGeom prst="rect">
            <a:avLst/>
          </a:prstGeom>
          <a:noFill/>
          <a:ln/>
        </p:spPr>
        <p:txBody>
          <a:bodyPr wrap="square" lIns="0" tIns="0" rIns="0" bIns="0" rtlCol="0" anchor="ctr"/>
          <a:lstStyle/>
          <a:p>
            <a:pPr marL="0" indent="0">
              <a:buNone/>
            </a:pPr>
            <a:r>
              <a:rPr lang="en-US" sz="1100" dirty="0">
                <a:solidFill>
                  <a:srgbClr val="D6E4F0"/>
                </a:solidFill>
                <a:latin typeface="Courier New" pitchFamily="34" charset="0"/>
                <a:ea typeface="Courier New" pitchFamily="34" charset="-122"/>
                <a:cs typeface="Courier New" pitchFamily="34" charset="-120"/>
              </a:rPr>
              <a:t>CREDIT  1000 Cash                    (tax amt, if any)</a:t>
            </a:r>
            <a:endParaRPr lang="en-US" sz="1100" dirty="0"/>
          </a:p>
        </p:txBody>
      </p:sp>
      <p:sp>
        <p:nvSpPr>
          <p:cNvPr id="17" name="Text 15"/>
          <p:cNvSpPr/>
          <p:nvPr/>
        </p:nvSpPr>
        <p:spPr>
          <a:xfrm>
            <a:off x="566928" y="3749040"/>
            <a:ext cx="5212080" cy="256032"/>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INFLOW  (invoice — we billed a client)</a:t>
            </a:r>
            <a:endParaRPr lang="en-US" sz="1100" dirty="0"/>
          </a:p>
        </p:txBody>
      </p:sp>
      <p:sp>
        <p:nvSpPr>
          <p:cNvPr id="18" name="Shape 16"/>
          <p:cNvSpPr/>
          <p:nvPr/>
        </p:nvSpPr>
        <p:spPr>
          <a:xfrm>
            <a:off x="566928" y="4023360"/>
            <a:ext cx="5212080" cy="1207008"/>
          </a:xfrm>
          <a:prstGeom prst="roundRect">
            <a:avLst>
              <a:gd name="adj" fmla="val 6061"/>
            </a:avLst>
          </a:prstGeom>
          <a:solidFill>
            <a:srgbClr val="162032"/>
          </a:solidFill>
          <a:ln w="12700">
            <a:solidFill>
              <a:srgbClr val="243B55"/>
            </a:solidFill>
            <a:prstDash val="solid"/>
          </a:ln>
        </p:spPr>
        <p:txBody>
          <a:bodyPr/>
          <a:lstStyle/>
          <a:p>
            <a:endParaRPr lang="en-US"/>
          </a:p>
        </p:txBody>
      </p:sp>
      <p:sp>
        <p:nvSpPr>
          <p:cNvPr id="19" name="Shape 17"/>
          <p:cNvSpPr/>
          <p:nvPr/>
        </p:nvSpPr>
        <p:spPr>
          <a:xfrm>
            <a:off x="566928" y="4023360"/>
            <a:ext cx="45720" cy="1207008"/>
          </a:xfrm>
          <a:prstGeom prst="rect">
            <a:avLst/>
          </a:prstGeom>
          <a:solidFill>
            <a:srgbClr val="F5A623"/>
          </a:solidFill>
          <a:ln w="12700">
            <a:solidFill>
              <a:srgbClr val="F5A623"/>
            </a:solidFill>
            <a:prstDash val="solid"/>
          </a:ln>
        </p:spPr>
        <p:txBody>
          <a:bodyPr/>
          <a:lstStyle/>
          <a:p>
            <a:endParaRPr lang="en-US"/>
          </a:p>
        </p:txBody>
      </p:sp>
      <p:sp>
        <p:nvSpPr>
          <p:cNvPr id="20" name="Text 18"/>
          <p:cNvSpPr/>
          <p:nvPr/>
        </p:nvSpPr>
        <p:spPr>
          <a:xfrm>
            <a:off x="731520" y="4114800"/>
            <a:ext cx="4983480" cy="256032"/>
          </a:xfrm>
          <a:prstGeom prst="rect">
            <a:avLst/>
          </a:prstGeom>
          <a:noFill/>
          <a:ln/>
        </p:spPr>
        <p:txBody>
          <a:bodyPr wrap="square" lIns="0" tIns="0" rIns="0" bIns="0" rtlCol="0" anchor="ctr"/>
          <a:lstStyle/>
          <a:p>
            <a:pPr marL="0" indent="0">
              <a:buNone/>
            </a:pPr>
            <a:r>
              <a:rPr lang="en-US" sz="1100" dirty="0">
                <a:solidFill>
                  <a:srgbClr val="00C9A7"/>
                </a:solidFill>
                <a:latin typeface="Courier New" pitchFamily="34" charset="0"/>
                <a:ea typeface="Courier New" pitchFamily="34" charset="-122"/>
                <a:cs typeface="Courier New" pitchFamily="34" charset="-120"/>
              </a:rPr>
              <a:t>DEBIT   1100 Accounts Receivable     (line amount)</a:t>
            </a:r>
            <a:endParaRPr lang="en-US" sz="1100" dirty="0"/>
          </a:p>
        </p:txBody>
      </p:sp>
      <p:sp>
        <p:nvSpPr>
          <p:cNvPr id="21" name="Text 19"/>
          <p:cNvSpPr/>
          <p:nvPr/>
        </p:nvSpPr>
        <p:spPr>
          <a:xfrm>
            <a:off x="731520" y="4389120"/>
            <a:ext cx="4983480" cy="256032"/>
          </a:xfrm>
          <a:prstGeom prst="rect">
            <a:avLst/>
          </a:prstGeom>
          <a:noFill/>
          <a:ln/>
        </p:spPr>
        <p:txBody>
          <a:bodyPr wrap="square" lIns="0" tIns="0" rIns="0" bIns="0" rtlCol="0" anchor="ctr"/>
          <a:lstStyle/>
          <a:p>
            <a:pPr marL="0" indent="0">
              <a:buNone/>
            </a:pPr>
            <a:r>
              <a:rPr lang="en-US" sz="1100" dirty="0">
                <a:solidFill>
                  <a:srgbClr val="D6E4F0"/>
                </a:solidFill>
                <a:latin typeface="Courier New" pitchFamily="34" charset="0"/>
                <a:ea typeface="Courier New" pitchFamily="34" charset="-122"/>
                <a:cs typeface="Courier New" pitchFamily="34" charset="-120"/>
              </a:rPr>
              <a:t>CREDIT  4000 Revenue                 (line amount)</a:t>
            </a:r>
            <a:endParaRPr lang="en-US" sz="1100" dirty="0"/>
          </a:p>
        </p:txBody>
      </p:sp>
      <p:sp>
        <p:nvSpPr>
          <p:cNvPr id="22" name="Text 20"/>
          <p:cNvSpPr/>
          <p:nvPr/>
        </p:nvSpPr>
        <p:spPr>
          <a:xfrm>
            <a:off x="731520" y="4663440"/>
            <a:ext cx="4983480" cy="256032"/>
          </a:xfrm>
          <a:prstGeom prst="rect">
            <a:avLst/>
          </a:prstGeom>
          <a:noFill/>
          <a:ln/>
        </p:spPr>
        <p:txBody>
          <a:bodyPr wrap="square" lIns="0" tIns="0" rIns="0" bIns="0" rtlCol="0" anchor="ctr"/>
          <a:lstStyle/>
          <a:p>
            <a:pPr marL="0" indent="0">
              <a:buNone/>
            </a:pPr>
            <a:r>
              <a:rPr lang="en-US" sz="1100" dirty="0">
                <a:solidFill>
                  <a:srgbClr val="00C9A7"/>
                </a:solidFill>
                <a:latin typeface="Courier New" pitchFamily="34" charset="0"/>
                <a:ea typeface="Courier New" pitchFamily="34" charset="-122"/>
                <a:cs typeface="Courier New" pitchFamily="34" charset="-120"/>
              </a:rPr>
              <a:t>DEBIT   1100 Accounts Receivable     (tax amt, if any)</a:t>
            </a:r>
            <a:endParaRPr lang="en-US" sz="1100" dirty="0"/>
          </a:p>
        </p:txBody>
      </p:sp>
      <p:sp>
        <p:nvSpPr>
          <p:cNvPr id="23" name="Text 21"/>
          <p:cNvSpPr/>
          <p:nvPr/>
        </p:nvSpPr>
        <p:spPr>
          <a:xfrm>
            <a:off x="731520" y="4937760"/>
            <a:ext cx="4983480" cy="256032"/>
          </a:xfrm>
          <a:prstGeom prst="rect">
            <a:avLst/>
          </a:prstGeom>
          <a:noFill/>
          <a:ln/>
        </p:spPr>
        <p:txBody>
          <a:bodyPr wrap="square" lIns="0" tIns="0" rIns="0" bIns="0" rtlCol="0" anchor="ctr"/>
          <a:lstStyle/>
          <a:p>
            <a:pPr marL="0" indent="0">
              <a:buNone/>
            </a:pPr>
            <a:r>
              <a:rPr lang="en-US" sz="1100" dirty="0">
                <a:solidFill>
                  <a:srgbClr val="7A94B0"/>
                </a:solidFill>
                <a:latin typeface="Courier New" pitchFamily="34" charset="0"/>
                <a:ea typeface="Courier New" pitchFamily="34" charset="-122"/>
                <a:cs typeface="Courier New" pitchFamily="34" charset="-120"/>
              </a:rPr>
              <a:t>CREDIT  2000 Accounts Payable        (stand-in for Tax Payable)</a:t>
            </a:r>
            <a:endParaRPr lang="en-US" sz="1100" dirty="0"/>
          </a:p>
        </p:txBody>
      </p:sp>
      <p:sp>
        <p:nvSpPr>
          <p:cNvPr id="24" name="Shape 22"/>
          <p:cNvSpPr/>
          <p:nvPr/>
        </p:nvSpPr>
        <p:spPr>
          <a:xfrm>
            <a:off x="6080760" y="1901952"/>
            <a:ext cx="5687568" cy="1828800"/>
          </a:xfrm>
          <a:prstGeom prst="roundRect">
            <a:avLst>
              <a:gd name="adj" fmla="val 4000"/>
            </a:avLst>
          </a:prstGeom>
          <a:solidFill>
            <a:srgbClr val="1B2E45"/>
          </a:solidFill>
          <a:ln w="12700">
            <a:solidFill>
              <a:srgbClr val="243B55"/>
            </a:solidFill>
            <a:prstDash val="solid"/>
          </a:ln>
        </p:spPr>
        <p:txBody>
          <a:bodyPr/>
          <a:lstStyle/>
          <a:p>
            <a:endParaRPr lang="en-US"/>
          </a:p>
        </p:txBody>
      </p:sp>
      <p:sp>
        <p:nvSpPr>
          <p:cNvPr id="25" name="Text 23"/>
          <p:cNvSpPr/>
          <p:nvPr/>
        </p:nvSpPr>
        <p:spPr>
          <a:xfrm>
            <a:off x="6236208" y="1956816"/>
            <a:ext cx="4572000" cy="256032"/>
          </a:xfrm>
          <a:prstGeom prst="rect">
            <a:avLst/>
          </a:prstGeom>
          <a:noFill/>
          <a:ln/>
        </p:spPr>
        <p:txBody>
          <a:bodyPr wrap="square" lIns="0" tIns="0" rIns="0" bIns="0"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TRIAL BALANCE FORMULA</a:t>
            </a:r>
            <a:endParaRPr lang="en-US" sz="900" dirty="0"/>
          </a:p>
        </p:txBody>
      </p:sp>
      <p:sp>
        <p:nvSpPr>
          <p:cNvPr id="26" name="Shape 24"/>
          <p:cNvSpPr/>
          <p:nvPr/>
        </p:nvSpPr>
        <p:spPr>
          <a:xfrm>
            <a:off x="6236208" y="2231136"/>
            <a:ext cx="5413248" cy="1444752"/>
          </a:xfrm>
          <a:prstGeom prst="roundRect">
            <a:avLst>
              <a:gd name="adj" fmla="val 5063"/>
            </a:avLst>
          </a:prstGeom>
          <a:solidFill>
            <a:srgbClr val="162032"/>
          </a:solidFill>
          <a:ln w="12700">
            <a:solidFill>
              <a:srgbClr val="243B55"/>
            </a:solidFill>
            <a:prstDash val="solid"/>
          </a:ln>
        </p:spPr>
        <p:txBody>
          <a:bodyPr/>
          <a:lstStyle/>
          <a:p>
            <a:endParaRPr lang="en-US"/>
          </a:p>
        </p:txBody>
      </p:sp>
      <p:sp>
        <p:nvSpPr>
          <p:cNvPr id="27" name="Shape 25"/>
          <p:cNvSpPr/>
          <p:nvPr/>
        </p:nvSpPr>
        <p:spPr>
          <a:xfrm>
            <a:off x="6236208" y="2231136"/>
            <a:ext cx="45720" cy="1444752"/>
          </a:xfrm>
          <a:prstGeom prst="rect">
            <a:avLst/>
          </a:prstGeom>
          <a:solidFill>
            <a:srgbClr val="F5A623"/>
          </a:solidFill>
          <a:ln w="12700">
            <a:solidFill>
              <a:srgbClr val="F5A623"/>
            </a:solidFill>
            <a:prstDash val="solid"/>
          </a:ln>
        </p:spPr>
        <p:txBody>
          <a:bodyPr/>
          <a:lstStyle/>
          <a:p>
            <a:endParaRPr lang="en-US"/>
          </a:p>
        </p:txBody>
      </p:sp>
      <p:sp>
        <p:nvSpPr>
          <p:cNvPr id="28" name="Text 26"/>
          <p:cNvSpPr/>
          <p:nvPr/>
        </p:nvSpPr>
        <p:spPr>
          <a:xfrm>
            <a:off x="6400800" y="2322576"/>
            <a:ext cx="5184648" cy="256032"/>
          </a:xfrm>
          <a:prstGeom prst="rect">
            <a:avLst/>
          </a:prstGeom>
          <a:noFill/>
          <a:ln/>
        </p:spPr>
        <p:txBody>
          <a:bodyPr wrap="square" lIns="0" tIns="0" rIns="0" bIns="0" rtlCol="0" anchor="ctr"/>
          <a:lstStyle/>
          <a:p>
            <a:pPr marL="0" indent="0">
              <a:buNone/>
            </a:pPr>
            <a:r>
              <a:rPr lang="en-US" sz="1100" dirty="0">
                <a:solidFill>
                  <a:srgbClr val="7A94B0"/>
                </a:solidFill>
                <a:latin typeface="Courier New" pitchFamily="34" charset="0"/>
                <a:ea typeface="Courier New" pitchFamily="34" charset="-122"/>
                <a:cs typeface="Courier New" pitchFamily="34" charset="-120"/>
              </a:rPr>
              <a:t>per account code:</a:t>
            </a:r>
            <a:endParaRPr lang="en-US" sz="1100" dirty="0"/>
          </a:p>
        </p:txBody>
      </p:sp>
      <p:sp>
        <p:nvSpPr>
          <p:cNvPr id="29" name="Text 27"/>
          <p:cNvSpPr/>
          <p:nvPr/>
        </p:nvSpPr>
        <p:spPr>
          <a:xfrm>
            <a:off x="6400800" y="2596896"/>
            <a:ext cx="5184648" cy="256032"/>
          </a:xfrm>
          <a:prstGeom prst="rect">
            <a:avLst/>
          </a:prstGeom>
          <a:noFill/>
          <a:ln/>
        </p:spPr>
        <p:txBody>
          <a:bodyPr wrap="square" lIns="0" tIns="0" rIns="0" bIns="0" rtlCol="0" anchor="ctr"/>
          <a:lstStyle/>
          <a:p>
            <a:pPr marL="0" indent="0">
              <a:buNone/>
            </a:pPr>
            <a:r>
              <a:rPr lang="en-US" sz="1100" dirty="0">
                <a:solidFill>
                  <a:srgbClr val="F5A623"/>
                </a:solidFill>
                <a:latin typeface="Courier New" pitchFamily="34" charset="0"/>
                <a:ea typeface="Courier New" pitchFamily="34" charset="-122"/>
                <a:cs typeface="Courier New" pitchFamily="34" charset="-120"/>
              </a:rPr>
              <a:t>  total_debit  = Σ all debits posted to code</a:t>
            </a:r>
            <a:endParaRPr lang="en-US" sz="1100" dirty="0"/>
          </a:p>
        </p:txBody>
      </p:sp>
      <p:sp>
        <p:nvSpPr>
          <p:cNvPr id="30" name="Text 28"/>
          <p:cNvSpPr/>
          <p:nvPr/>
        </p:nvSpPr>
        <p:spPr>
          <a:xfrm>
            <a:off x="6400800" y="2871216"/>
            <a:ext cx="5184648" cy="256032"/>
          </a:xfrm>
          <a:prstGeom prst="rect">
            <a:avLst/>
          </a:prstGeom>
          <a:noFill/>
          <a:ln/>
        </p:spPr>
        <p:txBody>
          <a:bodyPr wrap="square" lIns="0" tIns="0" rIns="0" bIns="0" rtlCol="0" anchor="ctr"/>
          <a:lstStyle/>
          <a:p>
            <a:pPr marL="0" indent="0">
              <a:buNone/>
            </a:pPr>
            <a:r>
              <a:rPr lang="en-US" sz="1100" dirty="0">
                <a:solidFill>
                  <a:srgbClr val="7EC8E3"/>
                </a:solidFill>
                <a:latin typeface="Courier New" pitchFamily="34" charset="0"/>
                <a:ea typeface="Courier New" pitchFamily="34" charset="-122"/>
                <a:cs typeface="Courier New" pitchFamily="34" charset="-120"/>
              </a:rPr>
              <a:t>  total_credit = Σ all credits posted to code</a:t>
            </a:r>
            <a:endParaRPr lang="en-US" sz="1100" dirty="0"/>
          </a:p>
        </p:txBody>
      </p:sp>
      <p:sp>
        <p:nvSpPr>
          <p:cNvPr id="31" name="Text 29"/>
          <p:cNvSpPr/>
          <p:nvPr/>
        </p:nvSpPr>
        <p:spPr>
          <a:xfrm>
            <a:off x="6400800" y="3145536"/>
            <a:ext cx="5184648" cy="256032"/>
          </a:xfrm>
          <a:prstGeom prst="rect">
            <a:avLst/>
          </a:prstGeom>
          <a:noFill/>
          <a:ln/>
        </p:spPr>
        <p:txBody>
          <a:bodyPr wrap="square" lIns="0" tIns="0" rIns="0" bIns="0" rtlCol="0" anchor="ctr"/>
          <a:lstStyle/>
          <a:p>
            <a:pPr marL="0" indent="0">
              <a:buNone/>
            </a:pPr>
            <a:r>
              <a:rPr lang="en-US" sz="1100" dirty="0">
                <a:solidFill>
                  <a:srgbClr val="D6E4F0"/>
                </a:solidFill>
                <a:latin typeface="Courier New" pitchFamily="34" charset="0"/>
                <a:ea typeface="Courier New" pitchFamily="34" charset="-122"/>
                <a:cs typeface="Courier New" pitchFamily="34" charset="-120"/>
              </a:rPr>
              <a:t>  net_balance  = total_debit − total_credit</a:t>
            </a:r>
            <a:endParaRPr lang="en-US" sz="1100" dirty="0"/>
          </a:p>
        </p:txBody>
      </p:sp>
      <p:sp>
        <p:nvSpPr>
          <p:cNvPr id="32" name="Text 30"/>
          <p:cNvSpPr/>
          <p:nvPr/>
        </p:nvSpPr>
        <p:spPr>
          <a:xfrm>
            <a:off x="6400800" y="3419856"/>
            <a:ext cx="5184648" cy="256032"/>
          </a:xfrm>
          <a:prstGeom prst="rect">
            <a:avLst/>
          </a:prstGeom>
          <a:noFill/>
          <a:ln/>
        </p:spPr>
        <p:txBody>
          <a:bodyPr wrap="square" lIns="0" tIns="0" rIns="0" bIns="0" rtlCol="0" anchor="ctr"/>
          <a:lstStyle/>
          <a:p>
            <a:pPr marL="0" indent="0">
              <a:buNone/>
            </a:pPr>
            <a:r>
              <a:rPr lang="en-US" sz="1100" dirty="0">
                <a:solidFill>
                  <a:srgbClr val="7A94B0"/>
                </a:solidFill>
                <a:latin typeface="Courier New" pitchFamily="34" charset="0"/>
                <a:ea typeface="Courier New" pitchFamily="34" charset="-122"/>
                <a:cs typeface="Courier New" pitchFamily="34" charset="-120"/>
              </a:rPr>
              <a:t>grand check:</a:t>
            </a:r>
            <a:endParaRPr lang="en-US" sz="1100" dirty="0"/>
          </a:p>
        </p:txBody>
      </p:sp>
      <p:sp>
        <p:nvSpPr>
          <p:cNvPr id="33" name="Text 31"/>
          <p:cNvSpPr/>
          <p:nvPr/>
        </p:nvSpPr>
        <p:spPr>
          <a:xfrm>
            <a:off x="6400800" y="3694176"/>
            <a:ext cx="5184648" cy="256032"/>
          </a:xfrm>
          <a:prstGeom prst="rect">
            <a:avLst/>
          </a:prstGeom>
          <a:noFill/>
          <a:ln/>
        </p:spPr>
        <p:txBody>
          <a:bodyPr wrap="square" lIns="0" tIns="0" rIns="0" bIns="0" rtlCol="0" anchor="ctr"/>
          <a:lstStyle/>
          <a:p>
            <a:pPr marL="0" indent="0">
              <a:buNone/>
            </a:pPr>
            <a:r>
              <a:rPr lang="en-US" sz="1100" b="1" dirty="0">
                <a:solidFill>
                  <a:srgbClr val="00C9A7"/>
                </a:solidFill>
                <a:latin typeface="Courier New" pitchFamily="34" charset="0"/>
                <a:ea typeface="Courier New" pitchFamily="34" charset="-122"/>
                <a:cs typeface="Courier New" pitchFamily="34" charset="-120"/>
              </a:rPr>
              <a:t>  is_balanced  = Σ total_debit == Σ total_credit</a:t>
            </a:r>
            <a:endParaRPr lang="en-US" sz="1100" dirty="0"/>
          </a:p>
        </p:txBody>
      </p:sp>
      <p:sp>
        <p:nvSpPr>
          <p:cNvPr id="34" name="Shape 32"/>
          <p:cNvSpPr/>
          <p:nvPr/>
        </p:nvSpPr>
        <p:spPr>
          <a:xfrm>
            <a:off x="6080760" y="3785616"/>
            <a:ext cx="5687568" cy="1572768"/>
          </a:xfrm>
          <a:prstGeom prst="roundRect">
            <a:avLst>
              <a:gd name="adj" fmla="val 4651"/>
            </a:avLst>
          </a:prstGeom>
          <a:solidFill>
            <a:srgbClr val="1B2E45"/>
          </a:solidFill>
          <a:ln w="12700">
            <a:solidFill>
              <a:srgbClr val="243B55"/>
            </a:solidFill>
            <a:prstDash val="solid"/>
          </a:ln>
        </p:spPr>
        <p:txBody>
          <a:bodyPr/>
          <a:lstStyle/>
          <a:p>
            <a:endParaRPr lang="en-US"/>
          </a:p>
        </p:txBody>
      </p:sp>
      <p:sp>
        <p:nvSpPr>
          <p:cNvPr id="35" name="Text 33"/>
          <p:cNvSpPr/>
          <p:nvPr/>
        </p:nvSpPr>
        <p:spPr>
          <a:xfrm>
            <a:off x="6236208" y="3840480"/>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BEDROCK LINE-ITEM CLASSIFICATION</a:t>
            </a:r>
            <a:endParaRPr lang="en-US" sz="900" dirty="0"/>
          </a:p>
        </p:txBody>
      </p:sp>
      <p:sp>
        <p:nvSpPr>
          <p:cNvPr id="36" name="Text 34"/>
          <p:cNvSpPr/>
          <p:nvPr/>
        </p:nvSpPr>
        <p:spPr>
          <a:xfrm>
            <a:off x="6236208" y="4096512"/>
            <a:ext cx="5394960" cy="219456"/>
          </a:xfrm>
          <a:prstGeom prst="rect">
            <a:avLst/>
          </a:prstGeom>
          <a:noFill/>
          <a:ln/>
        </p:spPr>
        <p:txBody>
          <a:bodyPr wrap="square" lIns="0" tIns="0" rIns="0" bIns="0" rtlCol="0" anchor="ctr"/>
          <a:lstStyle/>
          <a:p>
            <a:pPr marL="0" indent="0">
              <a:buNone/>
            </a:pPr>
            <a:r>
              <a:rPr lang="en-US" sz="1020" dirty="0">
                <a:solidFill>
                  <a:srgbClr val="D6E4F0"/>
                </a:solidFill>
                <a:latin typeface="Calibri" pitchFamily="34" charset="0"/>
                <a:ea typeface="Calibri" pitchFamily="34" charset="-122"/>
                <a:cs typeface="Calibri" pitchFamily="34" charset="-120"/>
              </a:rPr>
              <a:t>▸  Cloud hosting · SaaS · IT support · consulting → 6500</a:t>
            </a:r>
            <a:endParaRPr lang="en-US" sz="1020" dirty="0"/>
          </a:p>
        </p:txBody>
      </p:sp>
      <p:sp>
        <p:nvSpPr>
          <p:cNvPr id="37" name="Text 35"/>
          <p:cNvSpPr/>
          <p:nvPr/>
        </p:nvSpPr>
        <p:spPr>
          <a:xfrm>
            <a:off x="6236208" y="4306824"/>
            <a:ext cx="5394960" cy="219456"/>
          </a:xfrm>
          <a:prstGeom prst="rect">
            <a:avLst/>
          </a:prstGeom>
          <a:noFill/>
          <a:ln/>
        </p:spPr>
        <p:txBody>
          <a:bodyPr wrap="square" lIns="0" tIns="0" rIns="0" bIns="0" rtlCol="0" anchor="ctr"/>
          <a:lstStyle/>
          <a:p>
            <a:pPr marL="0" indent="0">
              <a:buNone/>
            </a:pPr>
            <a:r>
              <a:rPr lang="en-US" sz="1020" dirty="0">
                <a:solidFill>
                  <a:srgbClr val="D6E4F0"/>
                </a:solidFill>
                <a:latin typeface="Calibri" pitchFamily="34" charset="0"/>
                <a:ea typeface="Calibri" pitchFamily="34" charset="-122"/>
                <a:cs typeface="Calibri" pitchFamily="34" charset="-120"/>
              </a:rPr>
              <a:t>▸  Food · beverages · client dinners · team meals → 6200</a:t>
            </a:r>
            <a:endParaRPr lang="en-US" sz="1020" dirty="0"/>
          </a:p>
        </p:txBody>
      </p:sp>
      <p:sp>
        <p:nvSpPr>
          <p:cNvPr id="38" name="Text 36"/>
          <p:cNvSpPr/>
          <p:nvPr/>
        </p:nvSpPr>
        <p:spPr>
          <a:xfrm>
            <a:off x="6236208" y="4517136"/>
            <a:ext cx="5394960" cy="219456"/>
          </a:xfrm>
          <a:prstGeom prst="rect">
            <a:avLst/>
          </a:prstGeom>
          <a:noFill/>
          <a:ln/>
        </p:spPr>
        <p:txBody>
          <a:bodyPr wrap="square" lIns="0" tIns="0" rIns="0" bIns="0" rtlCol="0" anchor="ctr"/>
          <a:lstStyle/>
          <a:p>
            <a:pPr marL="0" indent="0">
              <a:buNone/>
            </a:pPr>
            <a:r>
              <a:rPr lang="en-US" sz="1020" dirty="0">
                <a:solidFill>
                  <a:srgbClr val="D6E4F0"/>
                </a:solidFill>
                <a:latin typeface="Calibri" pitchFamily="34" charset="0"/>
                <a:ea typeface="Calibri" pitchFamily="34" charset="-122"/>
                <a:cs typeface="Calibri" pitchFamily="34" charset="-120"/>
              </a:rPr>
              <a:t>▸  Goods for resale · raw materials → 5000</a:t>
            </a:r>
            <a:endParaRPr lang="en-US" sz="1020" dirty="0"/>
          </a:p>
        </p:txBody>
      </p:sp>
      <p:sp>
        <p:nvSpPr>
          <p:cNvPr id="39" name="Text 37"/>
          <p:cNvSpPr/>
          <p:nvPr/>
        </p:nvSpPr>
        <p:spPr>
          <a:xfrm>
            <a:off x="6236208" y="4727448"/>
            <a:ext cx="5394960" cy="219456"/>
          </a:xfrm>
          <a:prstGeom prst="rect">
            <a:avLst/>
          </a:prstGeom>
          <a:noFill/>
          <a:ln/>
        </p:spPr>
        <p:txBody>
          <a:bodyPr wrap="square" lIns="0" tIns="0" rIns="0" bIns="0" rtlCol="0" anchor="ctr"/>
          <a:lstStyle/>
          <a:p>
            <a:pPr marL="0" indent="0">
              <a:buNone/>
            </a:pPr>
            <a:r>
              <a:rPr lang="en-US" sz="1020" dirty="0">
                <a:solidFill>
                  <a:srgbClr val="D6E4F0"/>
                </a:solidFill>
                <a:latin typeface="Calibri" pitchFamily="34" charset="0"/>
                <a:ea typeface="Calibri" pitchFamily="34" charset="-122"/>
                <a:cs typeface="Calibri" pitchFamily="34" charset="-120"/>
              </a:rPr>
              <a:t>▸  Office stationery · small desk equipment → 6300</a:t>
            </a:r>
            <a:endParaRPr lang="en-US" sz="1020" dirty="0"/>
          </a:p>
        </p:txBody>
      </p:sp>
      <p:sp>
        <p:nvSpPr>
          <p:cNvPr id="40" name="Text 38"/>
          <p:cNvSpPr/>
          <p:nvPr/>
        </p:nvSpPr>
        <p:spPr>
          <a:xfrm>
            <a:off x="6236208" y="4937760"/>
            <a:ext cx="5394960" cy="219456"/>
          </a:xfrm>
          <a:prstGeom prst="rect">
            <a:avLst/>
          </a:prstGeom>
          <a:noFill/>
          <a:ln/>
        </p:spPr>
        <p:txBody>
          <a:bodyPr wrap="square" lIns="0" tIns="0" rIns="0" bIns="0" rtlCol="0" anchor="ctr"/>
          <a:lstStyle/>
          <a:p>
            <a:pPr marL="0" indent="0">
              <a:buNone/>
            </a:pPr>
            <a:r>
              <a:rPr lang="en-US" sz="1020" dirty="0">
                <a:solidFill>
                  <a:srgbClr val="D6E4F0"/>
                </a:solidFill>
                <a:latin typeface="Calibri" pitchFamily="34" charset="0"/>
                <a:ea typeface="Calibri" pitchFamily="34" charset="-122"/>
                <a:cs typeface="Calibri" pitchFamily="34" charset="-120"/>
              </a:rPr>
              <a:t>▸  Electricity · water · internet bills → 6400</a:t>
            </a:r>
            <a:endParaRPr lang="en-US" sz="1020" dirty="0"/>
          </a:p>
        </p:txBody>
      </p:sp>
      <p:sp>
        <p:nvSpPr>
          <p:cNvPr id="41" name="Text 39"/>
          <p:cNvSpPr/>
          <p:nvPr/>
        </p:nvSpPr>
        <p:spPr>
          <a:xfrm>
            <a:off x="6236208" y="5148072"/>
            <a:ext cx="5394960" cy="219456"/>
          </a:xfrm>
          <a:prstGeom prst="rect">
            <a:avLst/>
          </a:prstGeom>
          <a:noFill/>
          <a:ln/>
        </p:spPr>
        <p:txBody>
          <a:bodyPr wrap="square" lIns="0" tIns="0" rIns="0" bIns="0" rtlCol="0" anchor="ctr"/>
          <a:lstStyle/>
          <a:p>
            <a:pPr marL="0" indent="0">
              <a:buNone/>
            </a:pPr>
            <a:r>
              <a:rPr lang="en-US" sz="1020" dirty="0">
                <a:solidFill>
                  <a:srgbClr val="D6E4F0"/>
                </a:solidFill>
                <a:latin typeface="Calibri" pitchFamily="34" charset="0"/>
                <a:ea typeface="Calibri" pitchFamily="34" charset="-122"/>
                <a:cs typeface="Calibri" pitchFamily="34" charset="-120"/>
              </a:rPr>
              <a:t>▸  Salaries · wages · payroll → 6000</a:t>
            </a:r>
            <a:endParaRPr lang="en-US" sz="1020" dirty="0"/>
          </a:p>
        </p:txBody>
      </p:sp>
      <p:sp>
        <p:nvSpPr>
          <p:cNvPr id="42" name="Text 40"/>
          <p:cNvSpPr/>
          <p:nvPr/>
        </p:nvSpPr>
        <p:spPr>
          <a:xfrm>
            <a:off x="6236208" y="5358384"/>
            <a:ext cx="5394960" cy="219456"/>
          </a:xfrm>
          <a:prstGeom prst="rect">
            <a:avLst/>
          </a:prstGeom>
          <a:noFill/>
          <a:ln/>
        </p:spPr>
        <p:txBody>
          <a:bodyPr wrap="square" lIns="0" tIns="0" rIns="0" bIns="0" rtlCol="0" anchor="ctr"/>
          <a:lstStyle/>
          <a:p>
            <a:pPr marL="0" indent="0">
              <a:buNone/>
            </a:pPr>
            <a:r>
              <a:rPr lang="en-US" sz="1020" dirty="0">
                <a:solidFill>
                  <a:srgbClr val="D6E4F0"/>
                </a:solidFill>
                <a:latin typeface="Calibri" pitchFamily="34" charset="0"/>
                <a:ea typeface="Calibri" pitchFamily="34" charset="-122"/>
                <a:cs typeface="Calibri" pitchFamily="34" charset="-120"/>
              </a:rPr>
              <a:t>▸  Office / warehouse rent → 6100</a:t>
            </a:r>
            <a:endParaRPr lang="en-US" sz="1020" dirty="0"/>
          </a:p>
        </p:txBody>
      </p:sp>
      <p:sp>
        <p:nvSpPr>
          <p:cNvPr id="43" name="Text 41"/>
          <p:cNvSpPr/>
          <p:nvPr/>
        </p:nvSpPr>
        <p:spPr>
          <a:xfrm>
            <a:off x="6236208" y="5257800"/>
            <a:ext cx="5394960" cy="219456"/>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Ambiguous → closest match + confidence = "low"  ·  Prompt-cached system prompt</a:t>
            </a:r>
            <a:endParaRPr lang="en-US" sz="950" dirty="0"/>
          </a:p>
        </p:txBody>
      </p:sp>
      <p:sp>
        <p:nvSpPr>
          <p:cNvPr id="44" name="Shape 42"/>
          <p:cNvSpPr/>
          <p:nvPr/>
        </p:nvSpPr>
        <p:spPr>
          <a:xfrm>
            <a:off x="411480" y="5431536"/>
            <a:ext cx="11356848" cy="768096"/>
          </a:xfrm>
          <a:prstGeom prst="roundRect">
            <a:avLst>
              <a:gd name="adj" fmla="val 9524"/>
            </a:avLst>
          </a:prstGeom>
          <a:solidFill>
            <a:srgbClr val="1B2E45"/>
          </a:solidFill>
          <a:ln w="12700">
            <a:solidFill>
              <a:srgbClr val="243B55"/>
            </a:solidFill>
            <a:prstDash val="solid"/>
          </a:ln>
        </p:spPr>
        <p:txBody>
          <a:bodyPr/>
          <a:lstStyle/>
          <a:p>
            <a:endParaRPr lang="en-US"/>
          </a:p>
        </p:txBody>
      </p:sp>
      <p:sp>
        <p:nvSpPr>
          <p:cNvPr id="45" name="Text 43"/>
          <p:cNvSpPr/>
          <p:nvPr/>
        </p:nvSpPr>
        <p:spPr>
          <a:xfrm>
            <a:off x="566928" y="5486400"/>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INPUT / OUTPUT</a:t>
            </a:r>
            <a:endParaRPr lang="en-US" sz="900" dirty="0"/>
          </a:p>
        </p:txBody>
      </p:sp>
      <p:sp>
        <p:nvSpPr>
          <p:cNvPr id="46" name="Shape 44"/>
          <p:cNvSpPr/>
          <p:nvPr/>
        </p:nvSpPr>
        <p:spPr>
          <a:xfrm>
            <a:off x="566928" y="5760720"/>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47" name="Text 45"/>
          <p:cNvSpPr/>
          <p:nvPr/>
        </p:nvSpPr>
        <p:spPr>
          <a:xfrm>
            <a:off x="566928" y="5760720"/>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INPUT</a:t>
            </a:r>
            <a:endParaRPr lang="en-US" sz="850" dirty="0"/>
          </a:p>
        </p:txBody>
      </p:sp>
      <p:sp>
        <p:nvSpPr>
          <p:cNvPr id="48" name="Text 46"/>
          <p:cNvSpPr/>
          <p:nvPr/>
        </p:nvSpPr>
        <p:spPr>
          <a:xfrm>
            <a:off x="1298448" y="5724144"/>
            <a:ext cx="461772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Full extraction document dict (from auditai-documents re-read by Runner)</a:t>
            </a:r>
            <a:endParaRPr lang="en-US" sz="1100" dirty="0"/>
          </a:p>
        </p:txBody>
      </p:sp>
      <p:sp>
        <p:nvSpPr>
          <p:cNvPr id="49" name="Shape 47"/>
          <p:cNvSpPr/>
          <p:nvPr/>
        </p:nvSpPr>
        <p:spPr>
          <a:xfrm>
            <a:off x="6217920" y="5760720"/>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50" name="Text 48"/>
          <p:cNvSpPr/>
          <p:nvPr/>
        </p:nvSpPr>
        <p:spPr>
          <a:xfrm>
            <a:off x="6217920" y="5760720"/>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51" name="Text 49"/>
          <p:cNvSpPr/>
          <p:nvPr/>
        </p:nvSpPr>
        <p:spPr>
          <a:xfrm>
            <a:off x="6949440" y="5724144"/>
            <a:ext cx="461772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auditai-ledger: SK=trial_balance + SK=entry#{uuid} per line  ·  returns { status: "balanced", trial_balance, journal_entry_count }</a:t>
            </a:r>
            <a:endParaRPr lang="en-US" sz="1100" dirty="0"/>
          </a:p>
        </p:txBody>
      </p:sp>
      <p:sp>
        <p:nvSpPr>
          <p:cNvPr id="52" name="Text 50"/>
          <p:cNvSpPr/>
          <p:nvPr/>
        </p:nvSpPr>
        <p:spPr>
          <a:xfrm>
            <a:off x="411480" y="6355080"/>
            <a:ext cx="11338560" cy="256032"/>
          </a:xfrm>
          <a:prstGeom prst="rect">
            <a:avLst/>
          </a:prstGeom>
          <a:noFill/>
          <a:ln/>
        </p:spPr>
        <p:txBody>
          <a:bodyPr wrap="square" rtlCol="0" anchor="ctr"/>
          <a:lstStyle/>
          <a:p>
            <a:pPr marL="0" indent="0">
              <a:buNone/>
            </a:pPr>
            <a:r>
              <a:rPr lang="en-US" sz="1000" dirty="0">
                <a:solidFill>
                  <a:srgbClr val="7A94B0"/>
                </a:solidFill>
                <a:latin typeface="Calibri" pitchFamily="34" charset="0"/>
                <a:ea typeface="Calibri" pitchFamily="34" charset="-122"/>
                <a:cs typeface="Calibri" pitchFamily="34" charset="-120"/>
              </a:rPr>
              <a:t>REFUSES to write if unbalanced  ·  Model: global.anthropic.claude-sonnet-4-6 (prompt caching)  ·  Table: auditai-ledger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05</a:t>
            </a:r>
            <a:endParaRPr lang="en-US" sz="1400" dirty="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dirty="0">
                <a:solidFill>
                  <a:srgbClr val="7EC8E3"/>
                </a:solidFill>
                <a:latin typeface="Calibri" pitchFamily="34" charset="0"/>
                <a:ea typeface="Calibri" pitchFamily="34" charset="-122"/>
                <a:cs typeface="Calibri" pitchFamily="34" charset="-120"/>
              </a:rPr>
              <a:t>P&amp;L AGENT</a:t>
            </a:r>
            <a:endParaRPr lang="en-US" sz="1100" dirty="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Profit &amp; Loss Agent</a:t>
            </a:r>
            <a:endParaRPr lang="en-US" sz="3600" dirty="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dirty="0">
                <a:solidFill>
                  <a:srgbClr val="7A94B0"/>
                </a:solidFill>
                <a:latin typeface="Calibri" pitchFamily="34" charset="0"/>
                <a:ea typeface="Calibri" pitchFamily="34" charset="-122"/>
                <a:cs typeface="Calibri" pitchFamily="34" charset="-120"/>
              </a:rPr>
              <a:t>Queries journal entries for the run → aggregates by account type → computes Gross Profit &amp; Net Income</a:t>
            </a:r>
            <a:endParaRPr lang="en-US" sz="1500" dirty="0"/>
          </a:p>
        </p:txBody>
      </p:sp>
      <p:sp>
        <p:nvSpPr>
          <p:cNvPr id="8" name="Shape 6"/>
          <p:cNvSpPr/>
          <p:nvPr/>
        </p:nvSpPr>
        <p:spPr>
          <a:xfrm>
            <a:off x="411480" y="1901952"/>
            <a:ext cx="5440680" cy="1645920"/>
          </a:xfrm>
          <a:prstGeom prst="roundRect">
            <a:avLst>
              <a:gd name="adj" fmla="val 4444"/>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ACCOUNT AGGREGATION LOGIC</a:t>
            </a:r>
            <a:endParaRPr lang="en-US" sz="900" dirty="0"/>
          </a:p>
        </p:txBody>
      </p:sp>
      <p:sp>
        <p:nvSpPr>
          <p:cNvPr id="10" name="Shape 8"/>
          <p:cNvSpPr/>
          <p:nvPr/>
        </p:nvSpPr>
        <p:spPr>
          <a:xfrm>
            <a:off x="566928" y="2231136"/>
            <a:ext cx="5120640" cy="1261872"/>
          </a:xfrm>
          <a:prstGeom prst="roundRect">
            <a:avLst>
              <a:gd name="adj" fmla="val 5797"/>
            </a:avLst>
          </a:prstGeom>
          <a:solidFill>
            <a:srgbClr val="162032"/>
          </a:solidFill>
          <a:ln w="12700">
            <a:solidFill>
              <a:srgbClr val="243B55"/>
            </a:solidFill>
            <a:prstDash val="solid"/>
          </a:ln>
        </p:spPr>
        <p:txBody>
          <a:bodyPr/>
          <a:lstStyle/>
          <a:p>
            <a:endParaRPr lang="en-US"/>
          </a:p>
        </p:txBody>
      </p:sp>
      <p:sp>
        <p:nvSpPr>
          <p:cNvPr id="11" name="Shape 9"/>
          <p:cNvSpPr/>
          <p:nvPr/>
        </p:nvSpPr>
        <p:spPr>
          <a:xfrm>
            <a:off x="566928" y="2231136"/>
            <a:ext cx="45720" cy="1261872"/>
          </a:xfrm>
          <a:prstGeom prst="rect">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731520" y="2322576"/>
            <a:ext cx="4892040" cy="256032"/>
          </a:xfrm>
          <a:prstGeom prst="rect">
            <a:avLst/>
          </a:prstGeom>
          <a:noFill/>
          <a:ln/>
        </p:spPr>
        <p:txBody>
          <a:bodyPr wrap="square" lIns="0" tIns="0" rIns="0" bIns="0" rtlCol="0" anchor="ctr"/>
          <a:lstStyle/>
          <a:p>
            <a:pPr marL="0" indent="0">
              <a:buNone/>
            </a:pPr>
            <a:r>
              <a:rPr lang="en-US" sz="1100" dirty="0">
                <a:solidFill>
                  <a:srgbClr val="7A94B0"/>
                </a:solidFill>
                <a:latin typeface="Courier New" pitchFamily="34" charset="0"/>
                <a:ea typeface="Courier New" pitchFamily="34" charset="-122"/>
                <a:cs typeface="Courier New" pitchFamily="34" charset="-120"/>
              </a:rPr>
              <a:t>Expense-style entry:</a:t>
            </a:r>
            <a:endParaRPr lang="en-US" sz="1100" dirty="0"/>
          </a:p>
        </p:txBody>
      </p:sp>
      <p:sp>
        <p:nvSpPr>
          <p:cNvPr id="13" name="Text 11"/>
          <p:cNvSpPr/>
          <p:nvPr/>
        </p:nvSpPr>
        <p:spPr>
          <a:xfrm>
            <a:off x="731520" y="2596896"/>
            <a:ext cx="4892040" cy="256032"/>
          </a:xfrm>
          <a:prstGeom prst="rect">
            <a:avLst/>
          </a:prstGeom>
          <a:noFill/>
          <a:ln/>
        </p:spPr>
        <p:txBody>
          <a:bodyPr wrap="square" lIns="0" tIns="0" rIns="0" bIns="0" rtlCol="0" anchor="ctr"/>
          <a:lstStyle/>
          <a:p>
            <a:pPr marL="0" indent="0">
              <a:buNone/>
            </a:pPr>
            <a:r>
              <a:rPr lang="en-US" sz="1100" dirty="0">
                <a:solidFill>
                  <a:srgbClr val="F5A623"/>
                </a:solidFill>
                <a:latin typeface="Courier New" pitchFamily="34" charset="0"/>
                <a:ea typeface="Courier New" pitchFamily="34" charset="-122"/>
                <a:cs typeface="Courier New" pitchFamily="34" charset="-120"/>
              </a:rPr>
              <a:t>  debit_account  += amount   (debit side)</a:t>
            </a:r>
            <a:endParaRPr lang="en-US" sz="1100" dirty="0"/>
          </a:p>
        </p:txBody>
      </p:sp>
      <p:sp>
        <p:nvSpPr>
          <p:cNvPr id="14" name="Text 12"/>
          <p:cNvSpPr/>
          <p:nvPr/>
        </p:nvSpPr>
        <p:spPr>
          <a:xfrm>
            <a:off x="731520" y="2871216"/>
            <a:ext cx="4892040" cy="256032"/>
          </a:xfrm>
          <a:prstGeom prst="rect">
            <a:avLst/>
          </a:prstGeom>
          <a:noFill/>
          <a:ln/>
        </p:spPr>
        <p:txBody>
          <a:bodyPr wrap="square" lIns="0" tIns="0" rIns="0" bIns="0" rtlCol="0" anchor="ctr"/>
          <a:lstStyle/>
          <a:p>
            <a:pPr marL="0" indent="0">
              <a:buNone/>
            </a:pPr>
            <a:r>
              <a:rPr lang="en-US" sz="1100" dirty="0">
                <a:solidFill>
                  <a:srgbClr val="7EC8E3"/>
                </a:solidFill>
                <a:latin typeface="Courier New" pitchFamily="34" charset="0"/>
                <a:ea typeface="Courier New" pitchFamily="34" charset="-122"/>
                <a:cs typeface="Courier New" pitchFamily="34" charset="-120"/>
              </a:rPr>
              <a:t>  credit_account += amount   (credit side)</a:t>
            </a:r>
            <a:endParaRPr lang="en-US" sz="1100" dirty="0"/>
          </a:p>
        </p:txBody>
      </p:sp>
      <p:sp>
        <p:nvSpPr>
          <p:cNvPr id="15" name="Text 13"/>
          <p:cNvSpPr/>
          <p:nvPr/>
        </p:nvSpPr>
        <p:spPr>
          <a:xfrm>
            <a:off x="731520" y="3145536"/>
            <a:ext cx="4892040" cy="256032"/>
          </a:xfrm>
          <a:prstGeom prst="rect">
            <a:avLst/>
          </a:prstGeom>
          <a:noFill/>
          <a:ln/>
        </p:spPr>
        <p:txBody>
          <a:bodyPr wrap="square" lIns="0" tIns="0" rIns="0" bIns="0" rtlCol="0" anchor="ctr"/>
          <a:lstStyle/>
          <a:p>
            <a:pPr marL="0" indent="0">
              <a:buNone/>
            </a:pPr>
            <a:r>
              <a:rPr lang="en-US" sz="1100" dirty="0">
                <a:solidFill>
                  <a:srgbClr val="7A94B0"/>
                </a:solidFill>
                <a:latin typeface="Courier New" pitchFamily="34" charset="0"/>
                <a:ea typeface="Courier New" pitchFamily="34" charset="-122"/>
                <a:cs typeface="Courier New" pitchFamily="34" charset="-120"/>
              </a:rPr>
              <a:t>Tabular-style entry:</a:t>
            </a:r>
            <a:endParaRPr lang="en-US" sz="1100" dirty="0"/>
          </a:p>
        </p:txBody>
      </p:sp>
      <p:sp>
        <p:nvSpPr>
          <p:cNvPr id="16" name="Text 14"/>
          <p:cNvSpPr/>
          <p:nvPr/>
        </p:nvSpPr>
        <p:spPr>
          <a:xfrm>
            <a:off x="731520" y="3419856"/>
            <a:ext cx="4892040" cy="256032"/>
          </a:xfrm>
          <a:prstGeom prst="rect">
            <a:avLst/>
          </a:prstGeom>
          <a:noFill/>
          <a:ln/>
        </p:spPr>
        <p:txBody>
          <a:bodyPr wrap="square" lIns="0" tIns="0" rIns="0" bIns="0" rtlCol="0" anchor="ctr"/>
          <a:lstStyle/>
          <a:p>
            <a:pPr marL="0" indent="0">
              <a:buNone/>
            </a:pPr>
            <a:r>
              <a:rPr lang="en-US" sz="1100" dirty="0">
                <a:solidFill>
                  <a:srgbClr val="F5A623"/>
                </a:solidFill>
                <a:latin typeface="Courier New" pitchFamily="34" charset="0"/>
                <a:ea typeface="Courier New" pitchFamily="34" charset="-122"/>
                <a:cs typeface="Courier New" pitchFamily="34" charset="-120"/>
              </a:rPr>
              <a:t>  account_code debit  += debit</a:t>
            </a:r>
            <a:endParaRPr lang="en-US" sz="1100" dirty="0"/>
          </a:p>
        </p:txBody>
      </p:sp>
      <p:sp>
        <p:nvSpPr>
          <p:cNvPr id="17" name="Text 15"/>
          <p:cNvSpPr/>
          <p:nvPr/>
        </p:nvSpPr>
        <p:spPr>
          <a:xfrm>
            <a:off x="731520" y="3694176"/>
            <a:ext cx="4892040" cy="256032"/>
          </a:xfrm>
          <a:prstGeom prst="rect">
            <a:avLst/>
          </a:prstGeom>
          <a:noFill/>
          <a:ln/>
        </p:spPr>
        <p:txBody>
          <a:bodyPr wrap="square" lIns="0" tIns="0" rIns="0" bIns="0" rtlCol="0" anchor="ctr"/>
          <a:lstStyle/>
          <a:p>
            <a:pPr marL="0" indent="0">
              <a:buNone/>
            </a:pPr>
            <a:r>
              <a:rPr lang="en-US" sz="1100" dirty="0">
                <a:solidFill>
                  <a:srgbClr val="7EC8E3"/>
                </a:solidFill>
                <a:latin typeface="Courier New" pitchFamily="34" charset="0"/>
                <a:ea typeface="Courier New" pitchFamily="34" charset="-122"/>
                <a:cs typeface="Courier New" pitchFamily="34" charset="-120"/>
              </a:rPr>
              <a:t>  account_code credit += credit</a:t>
            </a:r>
            <a:endParaRPr lang="en-US" sz="1100" dirty="0"/>
          </a:p>
        </p:txBody>
      </p:sp>
      <p:sp>
        <p:nvSpPr>
          <p:cNvPr id="18" name="Shape 16"/>
          <p:cNvSpPr/>
          <p:nvPr/>
        </p:nvSpPr>
        <p:spPr>
          <a:xfrm>
            <a:off x="411480" y="3621024"/>
            <a:ext cx="5440680" cy="1499616"/>
          </a:xfrm>
          <a:prstGeom prst="roundRect">
            <a:avLst>
              <a:gd name="adj" fmla="val 4878"/>
            </a:avLst>
          </a:prstGeom>
          <a:solidFill>
            <a:srgbClr val="1B2E45"/>
          </a:solidFill>
          <a:ln w="12700">
            <a:solidFill>
              <a:srgbClr val="243B55"/>
            </a:solidFill>
            <a:prstDash val="solid"/>
          </a:ln>
        </p:spPr>
        <p:txBody>
          <a:bodyPr/>
          <a:lstStyle/>
          <a:p>
            <a:endParaRPr lang="en-US"/>
          </a:p>
        </p:txBody>
      </p:sp>
      <p:sp>
        <p:nvSpPr>
          <p:cNvPr id="19" name="Text 17"/>
          <p:cNvSpPr/>
          <p:nvPr/>
        </p:nvSpPr>
        <p:spPr>
          <a:xfrm>
            <a:off x="566928" y="3675888"/>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P&amp;L CLASSIFICATION</a:t>
            </a:r>
            <a:endParaRPr lang="en-US" sz="900" dirty="0"/>
          </a:p>
        </p:txBody>
      </p:sp>
      <p:sp>
        <p:nvSpPr>
          <p:cNvPr id="20" name="Shape 18"/>
          <p:cNvSpPr/>
          <p:nvPr/>
        </p:nvSpPr>
        <p:spPr>
          <a:xfrm>
            <a:off x="566928" y="3968496"/>
            <a:ext cx="640080"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21" name="Text 19"/>
          <p:cNvSpPr/>
          <p:nvPr/>
        </p:nvSpPr>
        <p:spPr>
          <a:xfrm>
            <a:off x="566928" y="3968496"/>
            <a:ext cx="640080" cy="21945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Revenue</a:t>
            </a:r>
            <a:endParaRPr lang="en-US" sz="850" dirty="0"/>
          </a:p>
        </p:txBody>
      </p:sp>
      <p:sp>
        <p:nvSpPr>
          <p:cNvPr id="22" name="Text 20"/>
          <p:cNvSpPr/>
          <p:nvPr/>
        </p:nvSpPr>
        <p:spPr>
          <a:xfrm>
            <a:off x="1280160" y="3968496"/>
            <a:ext cx="4443984" cy="256032"/>
          </a:xfrm>
          <a:prstGeom prst="rect">
            <a:avLst/>
          </a:prstGeom>
          <a:noFill/>
          <a:ln/>
        </p:spPr>
        <p:txBody>
          <a:bodyPr wrap="square" lIns="0" tIns="0" rIns="0" bIns="0" rtlCol="0" anchor="ctr"/>
          <a:lstStyle/>
          <a:p>
            <a:pPr marL="0" indent="0">
              <a:buNone/>
            </a:pPr>
            <a:r>
              <a:rPr lang="en-US" sz="1020" dirty="0">
                <a:solidFill>
                  <a:srgbClr val="D6E4F0"/>
                </a:solidFill>
                <a:latin typeface="Courier New" pitchFamily="34" charset="0"/>
                <a:ea typeface="Courier New" pitchFamily="34" charset="-122"/>
                <a:cs typeface="Courier New" pitchFamily="34" charset="-120"/>
              </a:rPr>
              <a:t>account_type == "Revenue"  AND  net_credit &gt; 0  →  net_credit</a:t>
            </a:r>
            <a:endParaRPr lang="en-US" sz="1020" dirty="0"/>
          </a:p>
        </p:txBody>
      </p:sp>
      <p:sp>
        <p:nvSpPr>
          <p:cNvPr id="23" name="Shape 21"/>
          <p:cNvSpPr/>
          <p:nvPr/>
        </p:nvSpPr>
        <p:spPr>
          <a:xfrm>
            <a:off x="566928" y="4261104"/>
            <a:ext cx="640080" cy="219456"/>
          </a:xfrm>
          <a:prstGeom prst="roundRect">
            <a:avLst>
              <a:gd name="adj" fmla="val 16667"/>
            </a:avLst>
          </a:prstGeom>
          <a:solidFill>
            <a:srgbClr val="F5A623"/>
          </a:solidFill>
          <a:ln w="12700">
            <a:solidFill>
              <a:srgbClr val="F5A623"/>
            </a:solidFill>
            <a:prstDash val="solid"/>
          </a:ln>
        </p:spPr>
        <p:txBody>
          <a:bodyPr/>
          <a:lstStyle/>
          <a:p>
            <a:endParaRPr lang="en-US"/>
          </a:p>
        </p:txBody>
      </p:sp>
      <p:sp>
        <p:nvSpPr>
          <p:cNvPr id="24" name="Text 22"/>
          <p:cNvSpPr/>
          <p:nvPr/>
        </p:nvSpPr>
        <p:spPr>
          <a:xfrm>
            <a:off x="566928" y="4261104"/>
            <a:ext cx="640080" cy="21945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COGS</a:t>
            </a:r>
            <a:endParaRPr lang="en-US" sz="850" dirty="0"/>
          </a:p>
        </p:txBody>
      </p:sp>
      <p:sp>
        <p:nvSpPr>
          <p:cNvPr id="25" name="Text 23"/>
          <p:cNvSpPr/>
          <p:nvPr/>
        </p:nvSpPr>
        <p:spPr>
          <a:xfrm>
            <a:off x="1280160" y="4261104"/>
            <a:ext cx="4443984" cy="256032"/>
          </a:xfrm>
          <a:prstGeom prst="rect">
            <a:avLst/>
          </a:prstGeom>
          <a:noFill/>
          <a:ln/>
        </p:spPr>
        <p:txBody>
          <a:bodyPr wrap="square" lIns="0" tIns="0" rIns="0" bIns="0" rtlCol="0" anchor="ctr"/>
          <a:lstStyle/>
          <a:p>
            <a:pPr marL="0" indent="0">
              <a:buNone/>
            </a:pPr>
            <a:r>
              <a:rPr lang="en-US" sz="1020" dirty="0">
                <a:solidFill>
                  <a:srgbClr val="D6E4F0"/>
                </a:solidFill>
                <a:latin typeface="Courier New" pitchFamily="34" charset="0"/>
                <a:ea typeface="Courier New" pitchFamily="34" charset="-122"/>
                <a:cs typeface="Courier New" pitchFamily="34" charset="-120"/>
              </a:rPr>
              <a:t>account_type == "COGS"     AND  net_debit &gt; 0   →  net_debit</a:t>
            </a:r>
            <a:endParaRPr lang="en-US" sz="1020" dirty="0"/>
          </a:p>
        </p:txBody>
      </p:sp>
      <p:sp>
        <p:nvSpPr>
          <p:cNvPr id="26" name="Shape 24"/>
          <p:cNvSpPr/>
          <p:nvPr/>
        </p:nvSpPr>
        <p:spPr>
          <a:xfrm>
            <a:off x="566928" y="4553712"/>
            <a:ext cx="640080"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27" name="Text 25"/>
          <p:cNvSpPr/>
          <p:nvPr/>
        </p:nvSpPr>
        <p:spPr>
          <a:xfrm>
            <a:off x="566928" y="4553712"/>
            <a:ext cx="640080" cy="21945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Expense</a:t>
            </a:r>
            <a:endParaRPr lang="en-US" sz="850" dirty="0"/>
          </a:p>
        </p:txBody>
      </p:sp>
      <p:sp>
        <p:nvSpPr>
          <p:cNvPr id="28" name="Text 26"/>
          <p:cNvSpPr/>
          <p:nvPr/>
        </p:nvSpPr>
        <p:spPr>
          <a:xfrm>
            <a:off x="1280160" y="4553712"/>
            <a:ext cx="4443984" cy="256032"/>
          </a:xfrm>
          <a:prstGeom prst="rect">
            <a:avLst/>
          </a:prstGeom>
          <a:noFill/>
          <a:ln/>
        </p:spPr>
        <p:txBody>
          <a:bodyPr wrap="square" lIns="0" tIns="0" rIns="0" bIns="0" rtlCol="0" anchor="ctr"/>
          <a:lstStyle/>
          <a:p>
            <a:pPr marL="0" indent="0">
              <a:buNone/>
            </a:pPr>
            <a:r>
              <a:rPr lang="en-US" sz="1020" dirty="0">
                <a:solidFill>
                  <a:srgbClr val="D6E4F0"/>
                </a:solidFill>
                <a:latin typeface="Courier New" pitchFamily="34" charset="0"/>
                <a:ea typeface="Courier New" pitchFamily="34" charset="-122"/>
                <a:cs typeface="Courier New" pitchFamily="34" charset="-120"/>
              </a:rPr>
              <a:t>account_type == "Expense"  AND  net_debit &gt; 0   →  net_debit</a:t>
            </a:r>
            <a:endParaRPr lang="en-US" sz="1020" dirty="0"/>
          </a:p>
        </p:txBody>
      </p:sp>
      <p:sp>
        <p:nvSpPr>
          <p:cNvPr id="29" name="Shape 27"/>
          <p:cNvSpPr/>
          <p:nvPr/>
        </p:nvSpPr>
        <p:spPr>
          <a:xfrm>
            <a:off x="566928" y="4846320"/>
            <a:ext cx="640080" cy="219456"/>
          </a:xfrm>
          <a:prstGeom prst="roundRect">
            <a:avLst>
              <a:gd name="adj" fmla="val 16667"/>
            </a:avLst>
          </a:prstGeom>
          <a:solidFill>
            <a:srgbClr val="7A94B0"/>
          </a:solidFill>
          <a:ln w="12700">
            <a:solidFill>
              <a:srgbClr val="7A94B0"/>
            </a:solidFill>
            <a:prstDash val="solid"/>
          </a:ln>
        </p:spPr>
        <p:txBody>
          <a:bodyPr/>
          <a:lstStyle/>
          <a:p>
            <a:endParaRPr lang="en-US"/>
          </a:p>
        </p:txBody>
      </p:sp>
      <p:sp>
        <p:nvSpPr>
          <p:cNvPr id="30" name="Text 28"/>
          <p:cNvSpPr/>
          <p:nvPr/>
        </p:nvSpPr>
        <p:spPr>
          <a:xfrm>
            <a:off x="566928" y="4846320"/>
            <a:ext cx="640080" cy="21945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Skip</a:t>
            </a:r>
            <a:endParaRPr lang="en-US" sz="850" dirty="0"/>
          </a:p>
        </p:txBody>
      </p:sp>
      <p:sp>
        <p:nvSpPr>
          <p:cNvPr id="31" name="Text 29"/>
          <p:cNvSpPr/>
          <p:nvPr/>
        </p:nvSpPr>
        <p:spPr>
          <a:xfrm>
            <a:off x="1280160" y="4846320"/>
            <a:ext cx="4443984" cy="256032"/>
          </a:xfrm>
          <a:prstGeom prst="rect">
            <a:avLst/>
          </a:prstGeom>
          <a:noFill/>
          <a:ln/>
        </p:spPr>
        <p:txBody>
          <a:bodyPr wrap="square" lIns="0" tIns="0" rIns="0" bIns="0" rtlCol="0" anchor="ctr"/>
          <a:lstStyle/>
          <a:p>
            <a:pPr marL="0" indent="0">
              <a:buNone/>
            </a:pPr>
            <a:r>
              <a:rPr lang="en-US" sz="1020" dirty="0">
                <a:solidFill>
                  <a:srgbClr val="D6E4F0"/>
                </a:solidFill>
                <a:latin typeface="Courier New" pitchFamily="34" charset="0"/>
                <a:ea typeface="Courier New" pitchFamily="34" charset="-122"/>
                <a:cs typeface="Courier New" pitchFamily="34" charset="-120"/>
              </a:rPr>
              <a:t>Asset · Liability · Equity  →  excluded (Balance Sheet only)</a:t>
            </a:r>
            <a:endParaRPr lang="en-US" sz="1020" dirty="0"/>
          </a:p>
        </p:txBody>
      </p:sp>
      <p:sp>
        <p:nvSpPr>
          <p:cNvPr id="32" name="Shape 30"/>
          <p:cNvSpPr/>
          <p:nvPr/>
        </p:nvSpPr>
        <p:spPr>
          <a:xfrm>
            <a:off x="5989320" y="1901952"/>
            <a:ext cx="5779008" cy="3218688"/>
          </a:xfrm>
          <a:prstGeom prst="roundRect">
            <a:avLst>
              <a:gd name="adj" fmla="val 2273"/>
            </a:avLst>
          </a:prstGeom>
          <a:solidFill>
            <a:srgbClr val="1B2E45"/>
          </a:solidFill>
          <a:ln w="12700">
            <a:solidFill>
              <a:srgbClr val="243B55"/>
            </a:solidFill>
            <a:prstDash val="solid"/>
          </a:ln>
        </p:spPr>
        <p:txBody>
          <a:bodyPr/>
          <a:lstStyle/>
          <a:p>
            <a:endParaRPr lang="en-US"/>
          </a:p>
        </p:txBody>
      </p:sp>
      <p:sp>
        <p:nvSpPr>
          <p:cNvPr id="33" name="Text 31"/>
          <p:cNvSpPr/>
          <p:nvPr/>
        </p:nvSpPr>
        <p:spPr>
          <a:xfrm>
            <a:off x="6144768" y="1956816"/>
            <a:ext cx="4572000" cy="256032"/>
          </a:xfrm>
          <a:prstGeom prst="rect">
            <a:avLst/>
          </a:prstGeom>
          <a:noFill/>
          <a:ln/>
        </p:spPr>
        <p:txBody>
          <a:bodyPr wrap="square" lIns="0" tIns="0" rIns="0" bIns="0" rtlCol="0" anchor="ctr"/>
          <a:lstStyle/>
          <a:p>
            <a:pPr marL="0" indent="0">
              <a:buNone/>
            </a:pPr>
            <a:r>
              <a:rPr lang="en-US" sz="900" b="1" kern="0" spc="300" dirty="0">
                <a:solidFill>
                  <a:srgbClr val="00C9A7"/>
                </a:solidFill>
                <a:latin typeface="Calibri" pitchFamily="34" charset="0"/>
                <a:ea typeface="Calibri" pitchFamily="34" charset="-122"/>
                <a:cs typeface="Calibri" pitchFamily="34" charset="-120"/>
              </a:rPr>
              <a:t>CALCULATION FORMULA</a:t>
            </a:r>
            <a:endParaRPr lang="en-US" sz="900" dirty="0"/>
          </a:p>
        </p:txBody>
      </p:sp>
      <p:sp>
        <p:nvSpPr>
          <p:cNvPr id="34" name="Shape 32"/>
          <p:cNvSpPr/>
          <p:nvPr/>
        </p:nvSpPr>
        <p:spPr>
          <a:xfrm>
            <a:off x="6144768" y="2231136"/>
            <a:ext cx="5486400" cy="2834640"/>
          </a:xfrm>
          <a:prstGeom prst="roundRect">
            <a:avLst>
              <a:gd name="adj" fmla="val 2581"/>
            </a:avLst>
          </a:prstGeom>
          <a:solidFill>
            <a:srgbClr val="162032"/>
          </a:solidFill>
          <a:ln w="12700">
            <a:solidFill>
              <a:srgbClr val="243B55"/>
            </a:solidFill>
            <a:prstDash val="solid"/>
          </a:ln>
        </p:spPr>
        <p:txBody>
          <a:bodyPr/>
          <a:lstStyle/>
          <a:p>
            <a:endParaRPr lang="en-US"/>
          </a:p>
        </p:txBody>
      </p:sp>
      <p:sp>
        <p:nvSpPr>
          <p:cNvPr id="35" name="Shape 33"/>
          <p:cNvSpPr/>
          <p:nvPr/>
        </p:nvSpPr>
        <p:spPr>
          <a:xfrm>
            <a:off x="6144768" y="2231136"/>
            <a:ext cx="45720" cy="2834640"/>
          </a:xfrm>
          <a:prstGeom prst="rect">
            <a:avLst/>
          </a:prstGeom>
          <a:solidFill>
            <a:srgbClr val="F5A623"/>
          </a:solidFill>
          <a:ln w="12700">
            <a:solidFill>
              <a:srgbClr val="F5A623"/>
            </a:solidFill>
            <a:prstDash val="solid"/>
          </a:ln>
        </p:spPr>
        <p:txBody>
          <a:bodyPr/>
          <a:lstStyle/>
          <a:p>
            <a:endParaRPr lang="en-US"/>
          </a:p>
        </p:txBody>
      </p:sp>
      <p:sp>
        <p:nvSpPr>
          <p:cNvPr id="36" name="Text 34"/>
          <p:cNvSpPr/>
          <p:nvPr/>
        </p:nvSpPr>
        <p:spPr>
          <a:xfrm>
            <a:off x="6309360" y="2322576"/>
            <a:ext cx="5257800" cy="256032"/>
          </a:xfrm>
          <a:prstGeom prst="rect">
            <a:avLst/>
          </a:prstGeom>
          <a:noFill/>
          <a:ln/>
        </p:spPr>
        <p:txBody>
          <a:bodyPr wrap="square" lIns="0" tIns="0" rIns="0" bIns="0" rtlCol="0" anchor="ctr"/>
          <a:lstStyle/>
          <a:p>
            <a:pPr marL="0" indent="0">
              <a:buNone/>
            </a:pPr>
            <a:r>
              <a:rPr lang="en-US" sz="1100" b="1" dirty="0">
                <a:solidFill>
                  <a:srgbClr val="00C9A7"/>
                </a:solidFill>
                <a:latin typeface="Courier New" pitchFamily="34" charset="0"/>
                <a:ea typeface="Courier New" pitchFamily="34" charset="-122"/>
                <a:cs typeface="Courier New" pitchFamily="34" charset="-120"/>
              </a:rPr>
              <a:t>total_revenue   = Σ revenue_items.values()</a:t>
            </a:r>
            <a:endParaRPr lang="en-US" sz="1100" dirty="0"/>
          </a:p>
        </p:txBody>
      </p:sp>
      <p:sp>
        <p:nvSpPr>
          <p:cNvPr id="37" name="Text 35"/>
          <p:cNvSpPr/>
          <p:nvPr/>
        </p:nvSpPr>
        <p:spPr>
          <a:xfrm>
            <a:off x="6309360" y="2596896"/>
            <a:ext cx="5257800" cy="256032"/>
          </a:xfrm>
          <a:prstGeom prst="rect">
            <a:avLst/>
          </a:prstGeom>
          <a:noFill/>
          <a:ln/>
        </p:spPr>
        <p:txBody>
          <a:bodyPr wrap="square" lIns="0" tIns="0" rIns="0" bIns="0" rtlCol="0" anchor="ctr"/>
          <a:lstStyle/>
          <a:p>
            <a:pPr marL="0" indent="0">
              <a:buNone/>
            </a:pPr>
            <a:r>
              <a:rPr lang="en-US" sz="1100" dirty="0">
                <a:solidFill>
                  <a:srgbClr val="F5A623"/>
                </a:solidFill>
                <a:latin typeface="Courier New" pitchFamily="34" charset="0"/>
                <a:ea typeface="Courier New" pitchFamily="34" charset="-122"/>
                <a:cs typeface="Courier New" pitchFamily="34" charset="-120"/>
              </a:rPr>
              <a:t>total_cogs      = Σ cogs_items.values()</a:t>
            </a:r>
            <a:endParaRPr lang="en-US" sz="1100" dirty="0"/>
          </a:p>
        </p:txBody>
      </p:sp>
      <p:sp>
        <p:nvSpPr>
          <p:cNvPr id="38" name="Text 36"/>
          <p:cNvSpPr/>
          <p:nvPr/>
        </p:nvSpPr>
        <p:spPr>
          <a:xfrm>
            <a:off x="6309360" y="2871216"/>
            <a:ext cx="5257800" cy="256032"/>
          </a:xfrm>
          <a:prstGeom prst="rect">
            <a:avLst/>
          </a:prstGeom>
          <a:noFill/>
          <a:ln/>
        </p:spPr>
        <p:txBody>
          <a:bodyPr wrap="square" lIns="0" tIns="0" rIns="0" bIns="0" rtlCol="0" anchor="ctr"/>
          <a:lstStyle/>
          <a:p>
            <a:pPr marL="0" indent="0">
              <a:buNone/>
            </a:pPr>
            <a:r>
              <a:rPr lang="en-US" sz="1100" dirty="0">
                <a:solidFill>
                  <a:srgbClr val="F26B5B"/>
                </a:solidFill>
                <a:latin typeface="Courier New" pitchFamily="34" charset="0"/>
                <a:ea typeface="Courier New" pitchFamily="34" charset="-122"/>
                <a:cs typeface="Courier New" pitchFamily="34" charset="-120"/>
              </a:rPr>
              <a:t>total_expenses  = Σ expense_items.values()</a:t>
            </a:r>
            <a:endParaRPr lang="en-US" sz="1100" dirty="0"/>
          </a:p>
        </p:txBody>
      </p:sp>
      <p:sp>
        <p:nvSpPr>
          <p:cNvPr id="39" name="Text 37"/>
          <p:cNvSpPr/>
          <p:nvPr/>
        </p:nvSpPr>
        <p:spPr>
          <a:xfrm>
            <a:off x="6309360" y="3145536"/>
            <a:ext cx="5257800" cy="256032"/>
          </a:xfrm>
          <a:prstGeom prst="rect">
            <a:avLst/>
          </a:prstGeom>
          <a:noFill/>
          <a:ln/>
        </p:spPr>
        <p:txBody>
          <a:bodyPr wrap="square" lIns="0" tIns="0" rIns="0" bIns="0" rtlCol="0" anchor="ctr"/>
          <a:lstStyle/>
          <a:p>
            <a:pPr marL="0" indent="0">
              <a:buNone/>
            </a:pPr>
            <a:endParaRPr lang="en-US" sz="1100" dirty="0"/>
          </a:p>
        </p:txBody>
      </p:sp>
      <p:sp>
        <p:nvSpPr>
          <p:cNvPr id="40" name="Text 38"/>
          <p:cNvSpPr/>
          <p:nvPr/>
        </p:nvSpPr>
        <p:spPr>
          <a:xfrm>
            <a:off x="6309360" y="3419856"/>
            <a:ext cx="5257800" cy="256032"/>
          </a:xfrm>
          <a:prstGeom prst="rect">
            <a:avLst/>
          </a:prstGeom>
          <a:noFill/>
          <a:ln/>
        </p:spPr>
        <p:txBody>
          <a:bodyPr wrap="square" lIns="0" tIns="0" rIns="0" bIns="0" rtlCol="0" anchor="ctr"/>
          <a:lstStyle/>
          <a:p>
            <a:pPr marL="0" indent="0">
              <a:buNone/>
            </a:pPr>
            <a:r>
              <a:rPr lang="en-US" sz="1200" b="1" dirty="0">
                <a:solidFill>
                  <a:srgbClr val="7EC8E3"/>
                </a:solidFill>
                <a:latin typeface="Courier New" pitchFamily="34" charset="0"/>
                <a:ea typeface="Courier New" pitchFamily="34" charset="-122"/>
                <a:cs typeface="Courier New" pitchFamily="34" charset="-120"/>
              </a:rPr>
              <a:t>gross_profit    = total_revenue − total_cogs</a:t>
            </a:r>
            <a:endParaRPr lang="en-US" sz="1200" dirty="0"/>
          </a:p>
        </p:txBody>
      </p:sp>
      <p:sp>
        <p:nvSpPr>
          <p:cNvPr id="41" name="Text 39"/>
          <p:cNvSpPr/>
          <p:nvPr/>
        </p:nvSpPr>
        <p:spPr>
          <a:xfrm>
            <a:off x="6309360" y="3694176"/>
            <a:ext cx="5257800" cy="256032"/>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net_income      = gross_profit − total_expenses</a:t>
            </a:r>
            <a:endParaRPr lang="en-US" sz="1200" dirty="0"/>
          </a:p>
        </p:txBody>
      </p:sp>
      <p:sp>
        <p:nvSpPr>
          <p:cNvPr id="42" name="Text 40"/>
          <p:cNvSpPr/>
          <p:nvPr/>
        </p:nvSpPr>
        <p:spPr>
          <a:xfrm>
            <a:off x="6309360" y="3968496"/>
            <a:ext cx="5257800" cy="256032"/>
          </a:xfrm>
          <a:prstGeom prst="rect">
            <a:avLst/>
          </a:prstGeom>
          <a:noFill/>
          <a:ln/>
        </p:spPr>
        <p:txBody>
          <a:bodyPr wrap="square" lIns="0" tIns="0" rIns="0" bIns="0" rtlCol="0" anchor="ctr"/>
          <a:lstStyle/>
          <a:p>
            <a:pPr marL="0" indent="0">
              <a:buNone/>
            </a:pPr>
            <a:endParaRPr lang="en-US" sz="1100" dirty="0"/>
          </a:p>
        </p:txBody>
      </p:sp>
      <p:sp>
        <p:nvSpPr>
          <p:cNvPr id="43" name="Text 41"/>
          <p:cNvSpPr/>
          <p:nvPr/>
        </p:nvSpPr>
        <p:spPr>
          <a:xfrm>
            <a:off x="6309360" y="4242816"/>
            <a:ext cx="5257800" cy="256032"/>
          </a:xfrm>
          <a:prstGeom prst="rect">
            <a:avLst/>
          </a:prstGeom>
          <a:noFill/>
          <a:ln/>
        </p:spPr>
        <p:txBody>
          <a:bodyPr wrap="square" lIns="0" tIns="0" rIns="0" bIns="0" rtlCol="0" anchor="ctr"/>
          <a:lstStyle/>
          <a:p>
            <a:pPr marL="0" indent="0">
              <a:buNone/>
            </a:pPr>
            <a:r>
              <a:rPr lang="en-US" sz="1000" dirty="0">
                <a:solidFill>
                  <a:srgbClr val="F5A623"/>
                </a:solidFill>
                <a:latin typeface="Courier New" pitchFamily="34" charset="0"/>
                <a:ea typeface="Courier New" pitchFamily="34" charset="-122"/>
                <a:cs typeface="Courier New" pitchFamily="34" charset="-120"/>
              </a:rPr>
              <a:t>⚠ Gross Profit ≠ Net Income — two distinct figures</a:t>
            </a:r>
            <a:endParaRPr lang="en-US" sz="1000" dirty="0"/>
          </a:p>
        </p:txBody>
      </p:sp>
      <p:sp>
        <p:nvSpPr>
          <p:cNvPr id="44" name="Text 42"/>
          <p:cNvSpPr/>
          <p:nvPr/>
        </p:nvSpPr>
        <p:spPr>
          <a:xfrm>
            <a:off x="6309360" y="4517136"/>
            <a:ext cx="5257800" cy="256032"/>
          </a:xfrm>
          <a:prstGeom prst="rect">
            <a:avLst/>
          </a:prstGeom>
          <a:noFill/>
          <a:ln/>
        </p:spPr>
        <p:txBody>
          <a:bodyPr wrap="square" lIns="0" tIns="0" rIns="0" bIns="0" rtlCol="0" anchor="ctr"/>
          <a:lstStyle/>
          <a:p>
            <a:pPr marL="0" indent="0">
              <a:buNone/>
            </a:pPr>
            <a:r>
              <a:rPr lang="en-US" sz="1000" dirty="0">
                <a:solidFill>
                  <a:srgbClr val="7A94B0"/>
                </a:solidFill>
                <a:latin typeface="Courier New" pitchFamily="34" charset="0"/>
                <a:ea typeface="Courier New" pitchFamily="34" charset="-122"/>
                <a:cs typeface="Courier New" pitchFamily="34" charset="-120"/>
              </a:rPr>
              <a:t>  Gross = margin before overhead</a:t>
            </a:r>
            <a:endParaRPr lang="en-US" sz="1000" dirty="0"/>
          </a:p>
        </p:txBody>
      </p:sp>
      <p:sp>
        <p:nvSpPr>
          <p:cNvPr id="45" name="Text 43"/>
          <p:cNvSpPr/>
          <p:nvPr/>
        </p:nvSpPr>
        <p:spPr>
          <a:xfrm>
            <a:off x="6309360" y="4791456"/>
            <a:ext cx="5257800" cy="256032"/>
          </a:xfrm>
          <a:prstGeom prst="rect">
            <a:avLst/>
          </a:prstGeom>
          <a:noFill/>
          <a:ln/>
        </p:spPr>
        <p:txBody>
          <a:bodyPr wrap="square" lIns="0" tIns="0" rIns="0" bIns="0" rtlCol="0" anchor="ctr"/>
          <a:lstStyle/>
          <a:p>
            <a:pPr marL="0" indent="0">
              <a:buNone/>
            </a:pPr>
            <a:r>
              <a:rPr lang="en-US" sz="1000" dirty="0">
                <a:solidFill>
                  <a:srgbClr val="7A94B0"/>
                </a:solidFill>
                <a:latin typeface="Courier New" pitchFamily="34" charset="0"/>
                <a:ea typeface="Courier New" pitchFamily="34" charset="-122"/>
                <a:cs typeface="Courier New" pitchFamily="34" charset="-120"/>
              </a:rPr>
              <a:t>  Net   = what remains after all operating costs</a:t>
            </a:r>
            <a:endParaRPr lang="en-US" sz="1000" dirty="0"/>
          </a:p>
        </p:txBody>
      </p:sp>
      <p:sp>
        <p:nvSpPr>
          <p:cNvPr id="46" name="Shape 44"/>
          <p:cNvSpPr/>
          <p:nvPr/>
        </p:nvSpPr>
        <p:spPr>
          <a:xfrm>
            <a:off x="411480" y="5193792"/>
            <a:ext cx="11356848" cy="585216"/>
          </a:xfrm>
          <a:prstGeom prst="roundRect">
            <a:avLst>
              <a:gd name="adj" fmla="val 12500"/>
            </a:avLst>
          </a:prstGeom>
          <a:solidFill>
            <a:srgbClr val="1B2E45"/>
          </a:solidFill>
          <a:ln w="12700">
            <a:solidFill>
              <a:srgbClr val="243B55"/>
            </a:solidFill>
            <a:prstDash val="solid"/>
          </a:ln>
        </p:spPr>
        <p:txBody>
          <a:bodyPr/>
          <a:lstStyle/>
          <a:p>
            <a:endParaRPr lang="en-US"/>
          </a:p>
        </p:txBody>
      </p:sp>
      <p:sp>
        <p:nvSpPr>
          <p:cNvPr id="47" name="Text 45"/>
          <p:cNvSpPr/>
          <p:nvPr/>
        </p:nvSpPr>
        <p:spPr>
          <a:xfrm>
            <a:off x="566928" y="5248656"/>
            <a:ext cx="4572000" cy="256032"/>
          </a:xfrm>
          <a:prstGeom prst="rect">
            <a:avLst/>
          </a:prstGeom>
          <a:noFill/>
          <a:ln/>
        </p:spPr>
        <p:txBody>
          <a:bodyPr wrap="square" lIns="0" tIns="0" rIns="0" bIns="0"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TWO INVOCATION PATHS</a:t>
            </a:r>
            <a:endParaRPr lang="en-US" sz="900" dirty="0"/>
          </a:p>
        </p:txBody>
      </p:sp>
      <p:sp>
        <p:nvSpPr>
          <p:cNvPr id="48" name="Text 46"/>
          <p:cNvSpPr/>
          <p:nvPr/>
        </p:nvSpPr>
        <p:spPr>
          <a:xfrm>
            <a:off x="566928" y="5541264"/>
            <a:ext cx="11064240" cy="182880"/>
          </a:xfrm>
          <a:prstGeom prst="rect">
            <a:avLst/>
          </a:prstGeom>
          <a:noFill/>
          <a:ln/>
        </p:spPr>
        <p:txBody>
          <a:bodyPr wrap="square" lIns="0" tIns="0" rIns="0" bIns="0" rtlCol="0" anchor="ctr"/>
          <a:lstStyle/>
          <a:p>
            <a:pPr marL="0" indent="0">
              <a:buNone/>
            </a:pPr>
            <a:r>
              <a:rPr lang="en-US" sz="1100" b="1" dirty="0">
                <a:solidFill>
                  <a:srgbClr val="00C9A7"/>
                </a:solidFill>
                <a:latin typeface="Calibri" pitchFamily="34" charset="0"/>
                <a:ea typeface="Calibri" pitchFamily="34" charset="-122"/>
                <a:cs typeface="Calibri" pitchFamily="34" charset="-120"/>
              </a:rPr>
              <a:t>AUTOMATED  </a:t>
            </a:r>
            <a:r>
              <a:rPr lang="en-US" sz="1100" dirty="0">
                <a:solidFill>
                  <a:srgbClr val="D6E4F0"/>
                </a:solidFill>
                <a:latin typeface="Calibri" pitchFamily="34" charset="0"/>
                <a:ea typeface="Calibri" pitchFamily="34" charset="-122"/>
                <a:cs typeface="Calibri" pitchFamily="34" charset="-120"/>
              </a:rPr>
              <a:t>{ run_id } → deterministic Python, DynamoDB Query (not Scan), writes SK=pnl       </a:t>
            </a:r>
            <a:r>
              <a:rPr lang="en-US" sz="1100" b="1" dirty="0">
                <a:solidFill>
                  <a:srgbClr val="F5A623"/>
                </a:solidFill>
                <a:latin typeface="Calibri" pitchFamily="34" charset="0"/>
                <a:ea typeface="Calibri" pitchFamily="34" charset="-122"/>
                <a:cs typeface="Calibri" pitchFamily="34" charset="-120"/>
              </a:rPr>
              <a:t>AD-HOC  </a:t>
            </a:r>
            <a:r>
              <a:rPr lang="en-US" sz="1100" dirty="0">
                <a:solidFill>
                  <a:srgbClr val="D6E4F0"/>
                </a:solidFill>
                <a:latin typeface="Calibri" pitchFamily="34" charset="0"/>
                <a:ea typeface="Calibri" pitchFamily="34" charset="-122"/>
                <a:cs typeface="Calibri" pitchFamily="34" charset="-120"/>
              </a:rPr>
              <a:t>{ query: "P&amp;L for Q1 2026" } → Strands Agents + Bedrock Claude natural-language path, writes period-keyed record</a:t>
            </a:r>
            <a:endParaRPr lang="en-US" sz="1100" dirty="0"/>
          </a:p>
        </p:txBody>
      </p:sp>
      <p:sp>
        <p:nvSpPr>
          <p:cNvPr id="49" name="Shape 47"/>
          <p:cNvSpPr/>
          <p:nvPr/>
        </p:nvSpPr>
        <p:spPr>
          <a:xfrm>
            <a:off x="411480" y="5833872"/>
            <a:ext cx="11356848" cy="384048"/>
          </a:xfrm>
          <a:prstGeom prst="roundRect">
            <a:avLst>
              <a:gd name="adj" fmla="val 19048"/>
            </a:avLst>
          </a:prstGeom>
          <a:solidFill>
            <a:srgbClr val="1B2E45"/>
          </a:solidFill>
          <a:ln w="12700">
            <a:solidFill>
              <a:srgbClr val="243B55"/>
            </a:solidFill>
            <a:prstDash val="solid"/>
          </a:ln>
        </p:spPr>
        <p:txBody>
          <a:bodyPr/>
          <a:lstStyle/>
          <a:p>
            <a:endParaRPr lang="en-US"/>
          </a:p>
        </p:txBody>
      </p:sp>
      <p:sp>
        <p:nvSpPr>
          <p:cNvPr id="50" name="Shape 48"/>
          <p:cNvSpPr/>
          <p:nvPr/>
        </p:nvSpPr>
        <p:spPr>
          <a:xfrm>
            <a:off x="566928" y="5925312"/>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51" name="Text 49"/>
          <p:cNvSpPr/>
          <p:nvPr/>
        </p:nvSpPr>
        <p:spPr>
          <a:xfrm>
            <a:off x="566928" y="5925312"/>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INPUT</a:t>
            </a:r>
            <a:endParaRPr lang="en-US" sz="850" dirty="0"/>
          </a:p>
        </p:txBody>
      </p:sp>
      <p:sp>
        <p:nvSpPr>
          <p:cNvPr id="52" name="Text 50"/>
          <p:cNvSpPr/>
          <p:nvPr/>
        </p:nvSpPr>
        <p:spPr>
          <a:xfrm>
            <a:off x="1298448" y="5888736"/>
            <a:ext cx="425196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 run_id }</a:t>
            </a:r>
            <a:endParaRPr lang="en-US" sz="1100" dirty="0"/>
          </a:p>
        </p:txBody>
      </p:sp>
      <p:sp>
        <p:nvSpPr>
          <p:cNvPr id="53" name="Shape 51"/>
          <p:cNvSpPr/>
          <p:nvPr/>
        </p:nvSpPr>
        <p:spPr>
          <a:xfrm>
            <a:off x="6217920" y="5925312"/>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54" name="Text 52"/>
          <p:cNvSpPr/>
          <p:nvPr/>
        </p:nvSpPr>
        <p:spPr>
          <a:xfrm>
            <a:off x="6217920" y="5925312"/>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55" name="Text 53"/>
          <p:cNvSpPr/>
          <p:nvPr/>
        </p:nvSpPr>
        <p:spPr>
          <a:xfrm>
            <a:off x="6949440" y="5888736"/>
            <a:ext cx="470916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auditai-ledger  PK=run#{run_id}  SK=pnl  →  { status, period, revenue_items, cogs_items, expense_items, total_revenue, total_cogs, gross_profit, net_income }</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06</a:t>
            </a:r>
            <a:endParaRPr lang="en-US" sz="1400" dirty="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dirty="0">
                <a:solidFill>
                  <a:srgbClr val="7EC8E3"/>
                </a:solidFill>
                <a:latin typeface="Calibri" pitchFamily="34" charset="0"/>
                <a:ea typeface="Calibri" pitchFamily="34" charset="-122"/>
                <a:cs typeface="Calibri" pitchFamily="34" charset="-120"/>
              </a:rPr>
              <a:t>BALANCE SHEET AGENT</a:t>
            </a:r>
            <a:endParaRPr lang="en-US" sz="1100" dirty="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Balance Sheet Agent</a:t>
            </a:r>
            <a:endParaRPr lang="en-US" sz="3600" dirty="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dirty="0">
                <a:solidFill>
                  <a:srgbClr val="7A94B0"/>
                </a:solidFill>
                <a:latin typeface="Calibri" pitchFamily="34" charset="0"/>
                <a:ea typeface="Calibri" pitchFamily="34" charset="-122"/>
                <a:cs typeface="Calibri" pitchFamily="34" charset="-120"/>
              </a:rPr>
              <a:t>Reads P&amp;L net income → aggregates assets, liabilities, equity → verifies accounting equation</a:t>
            </a:r>
            <a:endParaRPr lang="en-US" sz="1500" dirty="0"/>
          </a:p>
        </p:txBody>
      </p:sp>
      <p:sp>
        <p:nvSpPr>
          <p:cNvPr id="8" name="Shape 6"/>
          <p:cNvSpPr/>
          <p:nvPr/>
        </p:nvSpPr>
        <p:spPr>
          <a:xfrm>
            <a:off x="411480" y="1901952"/>
            <a:ext cx="5394960" cy="2889504"/>
          </a:xfrm>
          <a:prstGeom prst="roundRect">
            <a:avLst>
              <a:gd name="adj" fmla="val 2532"/>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dirty="0">
                <a:solidFill>
                  <a:srgbClr val="4FC3F7"/>
                </a:solidFill>
                <a:latin typeface="Calibri" pitchFamily="34" charset="0"/>
                <a:ea typeface="Calibri" pitchFamily="34" charset="-122"/>
                <a:cs typeface="Calibri" pitchFamily="34" charset="-120"/>
              </a:rPr>
              <a:t>ACCOUNT CLASSIFICATION</a:t>
            </a:r>
            <a:endParaRPr lang="en-US" sz="900" dirty="0"/>
          </a:p>
        </p:txBody>
      </p:sp>
      <p:sp>
        <p:nvSpPr>
          <p:cNvPr id="10" name="Shape 8"/>
          <p:cNvSpPr/>
          <p:nvPr/>
        </p:nvSpPr>
        <p:spPr>
          <a:xfrm>
            <a:off x="566928" y="2249424"/>
            <a:ext cx="1005840" cy="292608"/>
          </a:xfrm>
          <a:prstGeom prst="roundRect">
            <a:avLst>
              <a:gd name="adj" fmla="val 12500"/>
            </a:avLst>
          </a:prstGeom>
          <a:solidFill>
            <a:srgbClr val="7EC8E3"/>
          </a:solidFill>
          <a:ln w="12700">
            <a:solidFill>
              <a:srgbClr val="7EC8E3"/>
            </a:solidFill>
            <a:prstDash val="solid"/>
          </a:ln>
        </p:spPr>
        <p:txBody>
          <a:bodyPr/>
          <a:lstStyle/>
          <a:p>
            <a:endParaRPr lang="en-US"/>
          </a:p>
        </p:txBody>
      </p:sp>
      <p:sp>
        <p:nvSpPr>
          <p:cNvPr id="11" name="Text 9"/>
          <p:cNvSpPr/>
          <p:nvPr/>
        </p:nvSpPr>
        <p:spPr>
          <a:xfrm>
            <a:off x="566928" y="2249424"/>
            <a:ext cx="1005840" cy="292608"/>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Asset</a:t>
            </a:r>
            <a:endParaRPr lang="en-US" sz="900" dirty="0"/>
          </a:p>
        </p:txBody>
      </p:sp>
      <p:sp>
        <p:nvSpPr>
          <p:cNvPr id="12" name="Text 10"/>
          <p:cNvSpPr/>
          <p:nvPr/>
        </p:nvSpPr>
        <p:spPr>
          <a:xfrm>
            <a:off x="1664208" y="2267712"/>
            <a:ext cx="3977640" cy="256032"/>
          </a:xfrm>
          <a:prstGeom prst="rect">
            <a:avLst/>
          </a:prstGeom>
          <a:noFill/>
          <a:ln/>
        </p:spPr>
        <p:txBody>
          <a:bodyPr wrap="square" lIns="0" tIns="0" rIns="0" bIns="0" rtlCol="0" anchor="ctr"/>
          <a:lstStyle/>
          <a:p>
            <a:pPr marL="0" indent="0">
              <a:buNone/>
            </a:pPr>
            <a:r>
              <a:rPr lang="en-US" sz="1050" dirty="0">
                <a:solidFill>
                  <a:srgbClr val="D6E4F0"/>
                </a:solidFill>
                <a:latin typeface="Calibri" pitchFamily="34" charset="0"/>
                <a:ea typeface="Calibri" pitchFamily="34" charset="-122"/>
                <a:cs typeface="Calibri" pitchFamily="34" charset="-120"/>
              </a:rPr>
              <a:t>net = debit − credit   (if &gt; 0 → include)</a:t>
            </a:r>
            <a:endParaRPr lang="en-US" sz="1050" dirty="0"/>
          </a:p>
        </p:txBody>
      </p:sp>
      <p:sp>
        <p:nvSpPr>
          <p:cNvPr id="13" name="Text 11"/>
          <p:cNvSpPr/>
          <p:nvPr/>
        </p:nvSpPr>
        <p:spPr>
          <a:xfrm>
            <a:off x="1664208" y="2542032"/>
            <a:ext cx="3977640" cy="237744"/>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Normal debit balance</a:t>
            </a:r>
            <a:endParaRPr lang="en-US" sz="950" dirty="0"/>
          </a:p>
        </p:txBody>
      </p:sp>
      <p:sp>
        <p:nvSpPr>
          <p:cNvPr id="14" name="Shape 12"/>
          <p:cNvSpPr/>
          <p:nvPr/>
        </p:nvSpPr>
        <p:spPr>
          <a:xfrm>
            <a:off x="566928" y="2926080"/>
            <a:ext cx="1005840" cy="292608"/>
          </a:xfrm>
          <a:prstGeom prst="roundRect">
            <a:avLst>
              <a:gd name="adj" fmla="val 12500"/>
            </a:avLst>
          </a:prstGeom>
          <a:solidFill>
            <a:srgbClr val="F26B5B"/>
          </a:solidFill>
          <a:ln w="12700">
            <a:solidFill>
              <a:srgbClr val="F26B5B"/>
            </a:solidFill>
            <a:prstDash val="solid"/>
          </a:ln>
        </p:spPr>
        <p:txBody>
          <a:bodyPr/>
          <a:lstStyle/>
          <a:p>
            <a:endParaRPr lang="en-US"/>
          </a:p>
        </p:txBody>
      </p:sp>
      <p:sp>
        <p:nvSpPr>
          <p:cNvPr id="15" name="Text 13"/>
          <p:cNvSpPr/>
          <p:nvPr/>
        </p:nvSpPr>
        <p:spPr>
          <a:xfrm>
            <a:off x="566928" y="2926080"/>
            <a:ext cx="1005840" cy="292608"/>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Liability</a:t>
            </a:r>
            <a:endParaRPr lang="en-US" sz="900" dirty="0"/>
          </a:p>
        </p:txBody>
      </p:sp>
      <p:sp>
        <p:nvSpPr>
          <p:cNvPr id="16" name="Text 14"/>
          <p:cNvSpPr/>
          <p:nvPr/>
        </p:nvSpPr>
        <p:spPr>
          <a:xfrm>
            <a:off x="1664208" y="2944368"/>
            <a:ext cx="3977640" cy="256032"/>
          </a:xfrm>
          <a:prstGeom prst="rect">
            <a:avLst/>
          </a:prstGeom>
          <a:noFill/>
          <a:ln/>
        </p:spPr>
        <p:txBody>
          <a:bodyPr wrap="square" lIns="0" tIns="0" rIns="0" bIns="0" rtlCol="0" anchor="ctr"/>
          <a:lstStyle/>
          <a:p>
            <a:pPr marL="0" indent="0">
              <a:buNone/>
            </a:pPr>
            <a:r>
              <a:rPr lang="en-US" sz="1050" dirty="0">
                <a:solidFill>
                  <a:srgbClr val="D6E4F0"/>
                </a:solidFill>
                <a:latin typeface="Calibri" pitchFamily="34" charset="0"/>
                <a:ea typeface="Calibri" pitchFamily="34" charset="-122"/>
                <a:cs typeface="Calibri" pitchFamily="34" charset="-120"/>
              </a:rPr>
              <a:t>net = credit − debit  (if &gt; 0 → include)</a:t>
            </a:r>
            <a:endParaRPr lang="en-US" sz="1050" dirty="0"/>
          </a:p>
        </p:txBody>
      </p:sp>
      <p:sp>
        <p:nvSpPr>
          <p:cNvPr id="17" name="Text 15"/>
          <p:cNvSpPr/>
          <p:nvPr/>
        </p:nvSpPr>
        <p:spPr>
          <a:xfrm>
            <a:off x="1664208" y="3218688"/>
            <a:ext cx="3977640" cy="237744"/>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Normal credit balance</a:t>
            </a:r>
            <a:endParaRPr lang="en-US" sz="950" dirty="0"/>
          </a:p>
        </p:txBody>
      </p:sp>
      <p:sp>
        <p:nvSpPr>
          <p:cNvPr id="18" name="Shape 16"/>
          <p:cNvSpPr/>
          <p:nvPr/>
        </p:nvSpPr>
        <p:spPr>
          <a:xfrm>
            <a:off x="566928" y="3602736"/>
            <a:ext cx="1005840" cy="292608"/>
          </a:xfrm>
          <a:prstGeom prst="roundRect">
            <a:avLst>
              <a:gd name="adj" fmla="val 12500"/>
            </a:avLst>
          </a:prstGeom>
          <a:solidFill>
            <a:srgbClr val="7B61FF"/>
          </a:solidFill>
          <a:ln w="12700">
            <a:solidFill>
              <a:srgbClr val="7B61FF"/>
            </a:solidFill>
            <a:prstDash val="solid"/>
          </a:ln>
        </p:spPr>
        <p:txBody>
          <a:bodyPr/>
          <a:lstStyle/>
          <a:p>
            <a:endParaRPr lang="en-US"/>
          </a:p>
        </p:txBody>
      </p:sp>
      <p:sp>
        <p:nvSpPr>
          <p:cNvPr id="19" name="Text 17"/>
          <p:cNvSpPr/>
          <p:nvPr/>
        </p:nvSpPr>
        <p:spPr>
          <a:xfrm>
            <a:off x="566928" y="3602736"/>
            <a:ext cx="1005840" cy="292608"/>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Equity</a:t>
            </a:r>
            <a:endParaRPr lang="en-US" sz="900" dirty="0"/>
          </a:p>
        </p:txBody>
      </p:sp>
      <p:sp>
        <p:nvSpPr>
          <p:cNvPr id="20" name="Text 18"/>
          <p:cNvSpPr/>
          <p:nvPr/>
        </p:nvSpPr>
        <p:spPr>
          <a:xfrm>
            <a:off x="1664208" y="3621024"/>
            <a:ext cx="3977640" cy="256032"/>
          </a:xfrm>
          <a:prstGeom prst="rect">
            <a:avLst/>
          </a:prstGeom>
          <a:noFill/>
          <a:ln/>
        </p:spPr>
        <p:txBody>
          <a:bodyPr wrap="square" lIns="0" tIns="0" rIns="0" bIns="0" rtlCol="0" anchor="ctr"/>
          <a:lstStyle/>
          <a:p>
            <a:pPr marL="0" indent="0">
              <a:buNone/>
            </a:pPr>
            <a:r>
              <a:rPr lang="en-US" sz="1050" dirty="0">
                <a:solidFill>
                  <a:srgbClr val="D6E4F0"/>
                </a:solidFill>
                <a:latin typeface="Calibri" pitchFamily="34" charset="0"/>
                <a:ea typeface="Calibri" pitchFamily="34" charset="-122"/>
                <a:cs typeface="Calibri" pitchFamily="34" charset="-120"/>
              </a:rPr>
              <a:t>net = credit − debit  (if &gt; 0 → include)</a:t>
            </a:r>
            <a:endParaRPr lang="en-US" sz="1050" dirty="0"/>
          </a:p>
        </p:txBody>
      </p:sp>
      <p:sp>
        <p:nvSpPr>
          <p:cNvPr id="21" name="Text 19"/>
          <p:cNvSpPr/>
          <p:nvPr/>
        </p:nvSpPr>
        <p:spPr>
          <a:xfrm>
            <a:off x="1664208" y="3895344"/>
            <a:ext cx="3977640" cy="237744"/>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Normal credit balance</a:t>
            </a:r>
            <a:endParaRPr lang="en-US" sz="950" dirty="0"/>
          </a:p>
        </p:txBody>
      </p:sp>
      <p:sp>
        <p:nvSpPr>
          <p:cNvPr id="22" name="Shape 20"/>
          <p:cNvSpPr/>
          <p:nvPr/>
        </p:nvSpPr>
        <p:spPr>
          <a:xfrm>
            <a:off x="566928" y="4279392"/>
            <a:ext cx="1005840" cy="292608"/>
          </a:xfrm>
          <a:prstGeom prst="roundRect">
            <a:avLst>
              <a:gd name="adj" fmla="val 12500"/>
            </a:avLst>
          </a:prstGeom>
          <a:solidFill>
            <a:srgbClr val="7A94B0"/>
          </a:solidFill>
          <a:ln w="12700">
            <a:solidFill>
              <a:srgbClr val="7A94B0"/>
            </a:solidFill>
            <a:prstDash val="solid"/>
          </a:ln>
        </p:spPr>
        <p:txBody>
          <a:bodyPr/>
          <a:lstStyle/>
          <a:p>
            <a:endParaRPr lang="en-US"/>
          </a:p>
        </p:txBody>
      </p:sp>
      <p:sp>
        <p:nvSpPr>
          <p:cNvPr id="23" name="Text 21"/>
          <p:cNvSpPr/>
          <p:nvPr/>
        </p:nvSpPr>
        <p:spPr>
          <a:xfrm>
            <a:off x="566928" y="4279392"/>
            <a:ext cx="1005840" cy="292608"/>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Rev/COGS/Exp</a:t>
            </a:r>
            <a:endParaRPr lang="en-US" sz="900" dirty="0"/>
          </a:p>
        </p:txBody>
      </p:sp>
      <p:sp>
        <p:nvSpPr>
          <p:cNvPr id="24" name="Text 22"/>
          <p:cNvSpPr/>
          <p:nvPr/>
        </p:nvSpPr>
        <p:spPr>
          <a:xfrm>
            <a:off x="1664208" y="4297680"/>
            <a:ext cx="3977640" cy="256032"/>
          </a:xfrm>
          <a:prstGeom prst="rect">
            <a:avLst/>
          </a:prstGeom>
          <a:noFill/>
          <a:ln/>
        </p:spPr>
        <p:txBody>
          <a:bodyPr wrap="square" lIns="0" tIns="0" rIns="0" bIns="0" rtlCol="0" anchor="ctr"/>
          <a:lstStyle/>
          <a:p>
            <a:pPr marL="0" indent="0">
              <a:buNone/>
            </a:pPr>
            <a:r>
              <a:rPr lang="en-US" sz="1050" dirty="0">
                <a:solidFill>
                  <a:srgbClr val="D6E4F0"/>
                </a:solidFill>
                <a:latin typeface="Calibri" pitchFamily="34" charset="0"/>
                <a:ea typeface="Calibri" pitchFamily="34" charset="-122"/>
                <a:cs typeface="Calibri" pitchFamily="34" charset="-120"/>
              </a:rPr>
              <a:t>EXCLUDED — flow into Net Income line instead</a:t>
            </a:r>
            <a:endParaRPr lang="en-US" sz="1050" dirty="0"/>
          </a:p>
        </p:txBody>
      </p:sp>
      <p:sp>
        <p:nvSpPr>
          <p:cNvPr id="25" name="Text 23"/>
          <p:cNvSpPr/>
          <p:nvPr/>
        </p:nvSpPr>
        <p:spPr>
          <a:xfrm>
            <a:off x="1664208" y="4572000"/>
            <a:ext cx="3977640" cy="237744"/>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Not on balance sheet</a:t>
            </a:r>
            <a:endParaRPr lang="en-US" sz="950" dirty="0"/>
          </a:p>
        </p:txBody>
      </p:sp>
      <p:sp>
        <p:nvSpPr>
          <p:cNvPr id="26" name="Shape 24"/>
          <p:cNvSpPr/>
          <p:nvPr/>
        </p:nvSpPr>
        <p:spPr>
          <a:xfrm>
            <a:off x="5943600" y="1901952"/>
            <a:ext cx="5833872" cy="2889504"/>
          </a:xfrm>
          <a:prstGeom prst="roundRect">
            <a:avLst>
              <a:gd name="adj" fmla="val 2532"/>
            </a:avLst>
          </a:prstGeom>
          <a:solidFill>
            <a:srgbClr val="1B2E45"/>
          </a:solidFill>
          <a:ln w="12700">
            <a:solidFill>
              <a:srgbClr val="243B55"/>
            </a:solidFill>
            <a:prstDash val="solid"/>
          </a:ln>
        </p:spPr>
        <p:txBody>
          <a:bodyPr/>
          <a:lstStyle/>
          <a:p>
            <a:endParaRPr lang="en-US"/>
          </a:p>
        </p:txBody>
      </p:sp>
      <p:sp>
        <p:nvSpPr>
          <p:cNvPr id="27" name="Text 25"/>
          <p:cNvSpPr/>
          <p:nvPr/>
        </p:nvSpPr>
        <p:spPr>
          <a:xfrm>
            <a:off x="6108192" y="1956816"/>
            <a:ext cx="4572000" cy="256032"/>
          </a:xfrm>
          <a:prstGeom prst="rect">
            <a:avLst/>
          </a:prstGeom>
          <a:noFill/>
          <a:ln/>
        </p:spPr>
        <p:txBody>
          <a:bodyPr wrap="square" lIns="0" tIns="0" rIns="0" bIns="0"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BALANCE SHEET FORMULA</a:t>
            </a:r>
            <a:endParaRPr lang="en-US" sz="900" dirty="0"/>
          </a:p>
        </p:txBody>
      </p:sp>
      <p:sp>
        <p:nvSpPr>
          <p:cNvPr id="28" name="Shape 26"/>
          <p:cNvSpPr/>
          <p:nvPr/>
        </p:nvSpPr>
        <p:spPr>
          <a:xfrm>
            <a:off x="6108192" y="2231136"/>
            <a:ext cx="5541264" cy="2505456"/>
          </a:xfrm>
          <a:prstGeom prst="roundRect">
            <a:avLst>
              <a:gd name="adj" fmla="val 2920"/>
            </a:avLst>
          </a:prstGeom>
          <a:solidFill>
            <a:srgbClr val="162032"/>
          </a:solidFill>
          <a:ln w="12700">
            <a:solidFill>
              <a:srgbClr val="243B55"/>
            </a:solidFill>
            <a:prstDash val="solid"/>
          </a:ln>
        </p:spPr>
        <p:txBody>
          <a:bodyPr/>
          <a:lstStyle/>
          <a:p>
            <a:endParaRPr lang="en-US"/>
          </a:p>
        </p:txBody>
      </p:sp>
      <p:sp>
        <p:nvSpPr>
          <p:cNvPr id="29" name="Shape 27"/>
          <p:cNvSpPr/>
          <p:nvPr/>
        </p:nvSpPr>
        <p:spPr>
          <a:xfrm>
            <a:off x="6108192" y="2231136"/>
            <a:ext cx="45720" cy="2505456"/>
          </a:xfrm>
          <a:prstGeom prst="rect">
            <a:avLst/>
          </a:prstGeom>
          <a:solidFill>
            <a:srgbClr val="F5A623"/>
          </a:solidFill>
          <a:ln w="12700">
            <a:solidFill>
              <a:srgbClr val="F5A623"/>
            </a:solidFill>
            <a:prstDash val="solid"/>
          </a:ln>
        </p:spPr>
        <p:txBody>
          <a:bodyPr/>
          <a:lstStyle/>
          <a:p>
            <a:endParaRPr lang="en-US"/>
          </a:p>
        </p:txBody>
      </p:sp>
      <p:sp>
        <p:nvSpPr>
          <p:cNvPr id="30" name="Text 28"/>
          <p:cNvSpPr/>
          <p:nvPr/>
        </p:nvSpPr>
        <p:spPr>
          <a:xfrm>
            <a:off x="6272784" y="2322576"/>
            <a:ext cx="5312664" cy="256032"/>
          </a:xfrm>
          <a:prstGeom prst="rect">
            <a:avLst/>
          </a:prstGeom>
          <a:noFill/>
          <a:ln/>
        </p:spPr>
        <p:txBody>
          <a:bodyPr wrap="square" lIns="0" tIns="0" rIns="0" bIns="0" rtlCol="0" anchor="ctr"/>
          <a:lstStyle/>
          <a:p>
            <a:pPr marL="0" indent="0">
              <a:buNone/>
            </a:pPr>
            <a:r>
              <a:rPr lang="en-US" sz="1100" b="1" dirty="0">
                <a:solidFill>
                  <a:srgbClr val="7EC8E3"/>
                </a:solidFill>
                <a:latin typeface="Courier New" pitchFamily="34" charset="0"/>
                <a:ea typeface="Courier New" pitchFamily="34" charset="-122"/>
                <a:cs typeface="Courier New" pitchFamily="34" charset="-120"/>
              </a:rPr>
              <a:t>total_assets      = Σ assets.values()</a:t>
            </a:r>
            <a:endParaRPr lang="en-US" sz="1100" dirty="0"/>
          </a:p>
        </p:txBody>
      </p:sp>
      <p:sp>
        <p:nvSpPr>
          <p:cNvPr id="31" name="Text 29"/>
          <p:cNvSpPr/>
          <p:nvPr/>
        </p:nvSpPr>
        <p:spPr>
          <a:xfrm>
            <a:off x="6272784" y="2596896"/>
            <a:ext cx="5312664" cy="256032"/>
          </a:xfrm>
          <a:prstGeom prst="rect">
            <a:avLst/>
          </a:prstGeom>
          <a:noFill/>
          <a:ln/>
        </p:spPr>
        <p:txBody>
          <a:bodyPr wrap="square" lIns="0" tIns="0" rIns="0" bIns="0" rtlCol="0" anchor="ctr"/>
          <a:lstStyle/>
          <a:p>
            <a:pPr marL="0" indent="0">
              <a:buNone/>
            </a:pPr>
            <a:r>
              <a:rPr lang="en-US" sz="1100" dirty="0">
                <a:solidFill>
                  <a:srgbClr val="F26B5B"/>
                </a:solidFill>
                <a:latin typeface="Courier New" pitchFamily="34" charset="0"/>
                <a:ea typeface="Courier New" pitchFamily="34" charset="-122"/>
                <a:cs typeface="Courier New" pitchFamily="34" charset="-120"/>
              </a:rPr>
              <a:t>total_liabilities = Σ liabilities.values()</a:t>
            </a:r>
            <a:endParaRPr lang="en-US" sz="1100" dirty="0"/>
          </a:p>
        </p:txBody>
      </p:sp>
      <p:sp>
        <p:nvSpPr>
          <p:cNvPr id="32" name="Text 30"/>
          <p:cNvSpPr/>
          <p:nvPr/>
        </p:nvSpPr>
        <p:spPr>
          <a:xfrm>
            <a:off x="6272784" y="2871216"/>
            <a:ext cx="5312664" cy="256032"/>
          </a:xfrm>
          <a:prstGeom prst="rect">
            <a:avLst/>
          </a:prstGeom>
          <a:noFill/>
          <a:ln/>
        </p:spPr>
        <p:txBody>
          <a:bodyPr wrap="square" lIns="0" tIns="0" rIns="0" bIns="0" rtlCol="0" anchor="ctr"/>
          <a:lstStyle/>
          <a:p>
            <a:pPr marL="0" indent="0">
              <a:buNone/>
            </a:pPr>
            <a:r>
              <a:rPr lang="en-US" sz="1100" dirty="0">
                <a:solidFill>
                  <a:srgbClr val="7B61FF"/>
                </a:solidFill>
                <a:latin typeface="Courier New" pitchFamily="34" charset="0"/>
                <a:ea typeface="Courier New" pitchFamily="34" charset="-122"/>
                <a:cs typeface="Courier New" pitchFamily="34" charset="-120"/>
              </a:rPr>
              <a:t>total_equity      = Σ equity.values()</a:t>
            </a:r>
            <a:endParaRPr lang="en-US" sz="1100" dirty="0"/>
          </a:p>
        </p:txBody>
      </p:sp>
      <p:sp>
        <p:nvSpPr>
          <p:cNvPr id="33" name="Text 31"/>
          <p:cNvSpPr/>
          <p:nvPr/>
        </p:nvSpPr>
        <p:spPr>
          <a:xfrm>
            <a:off x="6272784" y="3145536"/>
            <a:ext cx="5312664" cy="256032"/>
          </a:xfrm>
          <a:prstGeom prst="rect">
            <a:avLst/>
          </a:prstGeom>
          <a:noFill/>
          <a:ln/>
        </p:spPr>
        <p:txBody>
          <a:bodyPr wrap="square" lIns="0" tIns="0" rIns="0" bIns="0" rtlCol="0" anchor="ctr"/>
          <a:lstStyle/>
          <a:p>
            <a:pPr marL="0" indent="0">
              <a:buNone/>
            </a:pPr>
            <a:r>
              <a:rPr lang="en-US" sz="1100" dirty="0">
                <a:solidFill>
                  <a:srgbClr val="7A94B0"/>
                </a:solidFill>
                <a:latin typeface="Courier New" pitchFamily="34" charset="0"/>
                <a:ea typeface="Courier New" pitchFamily="34" charset="-122"/>
                <a:cs typeface="Courier New" pitchFamily="34" charset="-120"/>
              </a:rPr>
              <a:t>  (includes "Current Period Net Income"</a:t>
            </a:r>
            <a:endParaRPr lang="en-US" sz="1100" dirty="0"/>
          </a:p>
        </p:txBody>
      </p:sp>
      <p:sp>
        <p:nvSpPr>
          <p:cNvPr id="34" name="Text 32"/>
          <p:cNvSpPr/>
          <p:nvPr/>
        </p:nvSpPr>
        <p:spPr>
          <a:xfrm>
            <a:off x="6272784" y="3419856"/>
            <a:ext cx="5312664" cy="256032"/>
          </a:xfrm>
          <a:prstGeom prst="rect">
            <a:avLst/>
          </a:prstGeom>
          <a:noFill/>
          <a:ln/>
        </p:spPr>
        <p:txBody>
          <a:bodyPr wrap="square" lIns="0" tIns="0" rIns="0" bIns="0" rtlCol="0" anchor="ctr"/>
          <a:lstStyle/>
          <a:p>
            <a:pPr marL="0" indent="0">
              <a:buNone/>
            </a:pPr>
            <a:r>
              <a:rPr lang="en-US" sz="1100" dirty="0">
                <a:solidFill>
                  <a:srgbClr val="7A94B0"/>
                </a:solidFill>
                <a:latin typeface="Courier New" pitchFamily="34" charset="0"/>
                <a:ea typeface="Courier New" pitchFamily="34" charset="-122"/>
                <a:cs typeface="Courier New" pitchFamily="34" charset="-120"/>
              </a:rPr>
              <a:t>   read from P&amp;L item → net_income)</a:t>
            </a:r>
            <a:endParaRPr lang="en-US" sz="1100" dirty="0"/>
          </a:p>
        </p:txBody>
      </p:sp>
      <p:sp>
        <p:nvSpPr>
          <p:cNvPr id="35" name="Text 33"/>
          <p:cNvSpPr/>
          <p:nvPr/>
        </p:nvSpPr>
        <p:spPr>
          <a:xfrm>
            <a:off x="6272784" y="3694176"/>
            <a:ext cx="5312664" cy="256032"/>
          </a:xfrm>
          <a:prstGeom prst="rect">
            <a:avLst/>
          </a:prstGeom>
          <a:noFill/>
          <a:ln/>
        </p:spPr>
        <p:txBody>
          <a:bodyPr wrap="square" lIns="0" tIns="0" rIns="0" bIns="0" rtlCol="0" anchor="ctr"/>
          <a:lstStyle/>
          <a:p>
            <a:pPr marL="0" indent="0">
              <a:buNone/>
            </a:pPr>
            <a:endParaRPr lang="en-US" sz="1100" dirty="0"/>
          </a:p>
        </p:txBody>
      </p:sp>
      <p:sp>
        <p:nvSpPr>
          <p:cNvPr id="36" name="Text 34"/>
          <p:cNvSpPr/>
          <p:nvPr/>
        </p:nvSpPr>
        <p:spPr>
          <a:xfrm>
            <a:off x="6272784" y="3968496"/>
            <a:ext cx="5312664" cy="256032"/>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is_balanced = (total_assets ==</a:t>
            </a:r>
            <a:endParaRPr lang="en-US" sz="1100" dirty="0"/>
          </a:p>
        </p:txBody>
      </p:sp>
      <p:sp>
        <p:nvSpPr>
          <p:cNvPr id="37" name="Text 35"/>
          <p:cNvSpPr/>
          <p:nvPr/>
        </p:nvSpPr>
        <p:spPr>
          <a:xfrm>
            <a:off x="6272784" y="4242816"/>
            <a:ext cx="5312664" cy="256032"/>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               total_liabilities + total_equity)</a:t>
            </a:r>
            <a:endParaRPr lang="en-US" sz="1100" dirty="0"/>
          </a:p>
        </p:txBody>
      </p:sp>
      <p:sp>
        <p:nvSpPr>
          <p:cNvPr id="38" name="Text 36"/>
          <p:cNvSpPr/>
          <p:nvPr/>
        </p:nvSpPr>
        <p:spPr>
          <a:xfrm>
            <a:off x="6272784" y="4517136"/>
            <a:ext cx="5312664" cy="256032"/>
          </a:xfrm>
          <a:prstGeom prst="rect">
            <a:avLst/>
          </a:prstGeom>
          <a:noFill/>
          <a:ln/>
        </p:spPr>
        <p:txBody>
          <a:bodyPr wrap="square" lIns="0" tIns="0" rIns="0" bIns="0" rtlCol="0" anchor="ctr"/>
          <a:lstStyle/>
          <a:p>
            <a:pPr marL="0" indent="0">
              <a:buNone/>
            </a:pPr>
            <a:r>
              <a:rPr lang="en-US" sz="1100" dirty="0">
                <a:solidFill>
                  <a:srgbClr val="F5A623"/>
                </a:solidFill>
                <a:latin typeface="Courier New" pitchFamily="34" charset="0"/>
                <a:ea typeface="Courier New" pitchFamily="34" charset="-122"/>
                <a:cs typeface="Courier New" pitchFamily="34" charset="-120"/>
              </a:rPr>
              <a:t>imbalance   = |total_assets − (L + E)|</a:t>
            </a:r>
            <a:endParaRPr lang="en-US" sz="1100" dirty="0"/>
          </a:p>
        </p:txBody>
      </p:sp>
      <p:sp>
        <p:nvSpPr>
          <p:cNvPr id="39" name="Text 37"/>
          <p:cNvSpPr/>
          <p:nvPr/>
        </p:nvSpPr>
        <p:spPr>
          <a:xfrm>
            <a:off x="6272784" y="4791456"/>
            <a:ext cx="5312664" cy="256032"/>
          </a:xfrm>
          <a:prstGeom prst="rect">
            <a:avLst/>
          </a:prstGeom>
          <a:noFill/>
          <a:ln/>
        </p:spPr>
        <p:txBody>
          <a:bodyPr wrap="square" lIns="0" tIns="0" rIns="0" bIns="0" rtlCol="0" anchor="ctr"/>
          <a:lstStyle/>
          <a:p>
            <a:pPr marL="0" indent="0">
              <a:buNone/>
            </a:pPr>
            <a:endParaRPr lang="en-US" sz="1100" dirty="0"/>
          </a:p>
        </p:txBody>
      </p:sp>
      <p:sp>
        <p:nvSpPr>
          <p:cNvPr id="40" name="Text 38"/>
          <p:cNvSpPr/>
          <p:nvPr/>
        </p:nvSpPr>
        <p:spPr>
          <a:xfrm>
            <a:off x="6272784" y="5065776"/>
            <a:ext cx="5312664" cy="256032"/>
          </a:xfrm>
          <a:prstGeom prst="rect">
            <a:avLst/>
          </a:prstGeom>
          <a:noFill/>
          <a:ln/>
        </p:spPr>
        <p:txBody>
          <a:bodyPr wrap="square" lIns="0" tIns="0" rIns="0" bIns="0" rtlCol="0" anchor="ctr"/>
          <a:lstStyle/>
          <a:p>
            <a:pPr marL="0" indent="0">
              <a:buNone/>
            </a:pPr>
            <a:r>
              <a:rPr lang="en-US" sz="1000" dirty="0">
                <a:solidFill>
                  <a:srgbClr val="00C9A7"/>
                </a:solidFill>
                <a:latin typeface="Courier New" pitchFamily="34" charset="0"/>
                <a:ea typeface="Courier New" pitchFamily="34" charset="-122"/>
                <a:cs typeface="Courier New" pitchFamily="34" charset="-120"/>
              </a:rPr>
              <a:t>bs["cash"] = debit_1000 − credit_1000</a:t>
            </a:r>
            <a:endParaRPr lang="en-US" sz="1000" dirty="0"/>
          </a:p>
        </p:txBody>
      </p:sp>
      <p:sp>
        <p:nvSpPr>
          <p:cNvPr id="41" name="Text 39"/>
          <p:cNvSpPr/>
          <p:nvPr/>
        </p:nvSpPr>
        <p:spPr>
          <a:xfrm>
            <a:off x="6272784" y="5340096"/>
            <a:ext cx="5312664" cy="256032"/>
          </a:xfrm>
          <a:prstGeom prst="rect">
            <a:avLst/>
          </a:prstGeom>
          <a:noFill/>
          <a:ln/>
        </p:spPr>
        <p:txBody>
          <a:bodyPr wrap="square" lIns="0" tIns="0" rIns="0" bIns="0" rtlCol="0" anchor="ctr"/>
          <a:lstStyle/>
          <a:p>
            <a:pPr marL="0" indent="0">
              <a:buNone/>
            </a:pPr>
            <a:r>
              <a:rPr lang="en-US" sz="1000" dirty="0">
                <a:solidFill>
                  <a:srgbClr val="7A94B0"/>
                </a:solidFill>
                <a:latin typeface="Courier New" pitchFamily="34" charset="0"/>
                <a:ea typeface="Courier New" pitchFamily="34" charset="-122"/>
                <a:cs typeface="Courier New" pitchFamily="34" charset="-120"/>
              </a:rPr>
              <a:t>  (explicit cash field for Reconciliation)</a:t>
            </a:r>
            <a:endParaRPr lang="en-US" sz="1000" dirty="0"/>
          </a:p>
        </p:txBody>
      </p:sp>
      <p:sp>
        <p:nvSpPr>
          <p:cNvPr id="42" name="Shape 40"/>
          <p:cNvSpPr/>
          <p:nvPr/>
        </p:nvSpPr>
        <p:spPr>
          <a:xfrm>
            <a:off x="411480" y="4864608"/>
            <a:ext cx="5486400" cy="475488"/>
          </a:xfrm>
          <a:prstGeom prst="roundRect">
            <a:avLst>
              <a:gd name="adj" fmla="val 15385"/>
            </a:avLst>
          </a:prstGeom>
          <a:solidFill>
            <a:srgbClr val="162032"/>
          </a:solidFill>
          <a:ln w="12700">
            <a:solidFill>
              <a:srgbClr val="243B55"/>
            </a:solidFill>
            <a:prstDash val="solid"/>
          </a:ln>
        </p:spPr>
        <p:txBody>
          <a:bodyPr/>
          <a:lstStyle/>
          <a:p>
            <a:endParaRPr lang="en-US"/>
          </a:p>
        </p:txBody>
      </p:sp>
      <p:sp>
        <p:nvSpPr>
          <p:cNvPr id="43" name="Text 41"/>
          <p:cNvSpPr/>
          <p:nvPr/>
        </p:nvSpPr>
        <p:spPr>
          <a:xfrm>
            <a:off x="566928" y="4919472"/>
            <a:ext cx="5212080" cy="347472"/>
          </a:xfrm>
          <a:prstGeom prst="rect">
            <a:avLst/>
          </a:prstGeom>
          <a:noFill/>
          <a:ln/>
        </p:spPr>
        <p:txBody>
          <a:bodyPr wrap="square" lIns="0" tIns="0" rIns="0" bIns="0" rtlCol="0" anchor="ctr"/>
          <a:lstStyle/>
          <a:p>
            <a:pPr marL="0" indent="0">
              <a:buNone/>
            </a:pPr>
            <a:r>
              <a:rPr lang="en-US" sz="1050" b="1" dirty="0">
                <a:solidFill>
                  <a:srgbClr val="F5A623"/>
                </a:solidFill>
                <a:latin typeface="Calibri" pitchFamily="34" charset="0"/>
                <a:ea typeface="Calibri" pitchFamily="34" charset="-122"/>
                <a:cs typeface="Calibri" pitchFamily="34" charset="-120"/>
              </a:rPr>
              <a:t>⚡ DEPENDENCY: </a:t>
            </a:r>
            <a:r>
              <a:rPr lang="en-US" sz="1050" dirty="0">
                <a:solidFill>
                  <a:srgbClr val="D6E4F0"/>
                </a:solidFill>
                <a:latin typeface="Calibri" pitchFamily="34" charset="0"/>
                <a:ea typeface="Calibri" pitchFamily="34" charset="-122"/>
                <a:cs typeface="Calibri" pitchFamily="34" charset="-120"/>
              </a:rPr>
              <a:t>P&amp;L must have run first for this run_id — agent reads SK=pnl to get net_income. Returns error "missing_pnl" if absent.</a:t>
            </a:r>
            <a:endParaRPr lang="en-US" sz="1050" dirty="0"/>
          </a:p>
        </p:txBody>
      </p:sp>
      <p:sp>
        <p:nvSpPr>
          <p:cNvPr id="44" name="Shape 42"/>
          <p:cNvSpPr/>
          <p:nvPr/>
        </p:nvSpPr>
        <p:spPr>
          <a:xfrm>
            <a:off x="5943600" y="4864608"/>
            <a:ext cx="5833872" cy="475488"/>
          </a:xfrm>
          <a:prstGeom prst="roundRect">
            <a:avLst>
              <a:gd name="adj" fmla="val 15385"/>
            </a:avLst>
          </a:prstGeom>
          <a:solidFill>
            <a:srgbClr val="162032"/>
          </a:solidFill>
          <a:ln w="12700">
            <a:solidFill>
              <a:srgbClr val="243B55"/>
            </a:solidFill>
            <a:prstDash val="solid"/>
          </a:ln>
        </p:spPr>
        <p:txBody>
          <a:bodyPr/>
          <a:lstStyle/>
          <a:p>
            <a:endParaRPr lang="en-US"/>
          </a:p>
        </p:txBody>
      </p:sp>
      <p:sp>
        <p:nvSpPr>
          <p:cNvPr id="45" name="Text 43"/>
          <p:cNvSpPr/>
          <p:nvPr/>
        </p:nvSpPr>
        <p:spPr>
          <a:xfrm>
            <a:off x="6108192" y="4919472"/>
            <a:ext cx="5541264" cy="347472"/>
          </a:xfrm>
          <a:prstGeom prst="rect">
            <a:avLst/>
          </a:prstGeom>
          <a:noFill/>
          <a:ln/>
        </p:spPr>
        <p:txBody>
          <a:bodyPr wrap="square" lIns="0" tIns="0" rIns="0" bIns="0" rtlCol="0" anchor="ctr"/>
          <a:lstStyle/>
          <a:p>
            <a:pPr marL="0" indent="0">
              <a:buNone/>
            </a:pPr>
            <a:r>
              <a:rPr lang="en-US" sz="1050" b="1" dirty="0">
                <a:solidFill>
                  <a:srgbClr val="F26B5B"/>
                </a:solidFill>
                <a:latin typeface="Calibri" pitchFamily="34" charset="0"/>
                <a:ea typeface="Calibri" pitchFamily="34" charset="-122"/>
                <a:cs typeface="Calibri" pitchFamily="34" charset="-120"/>
              </a:rPr>
              <a:t>🛑 HARD STOP: </a:t>
            </a:r>
            <a:r>
              <a:rPr lang="en-US" sz="1050" dirty="0">
                <a:solidFill>
                  <a:srgbClr val="D6E4F0"/>
                </a:solidFill>
                <a:latin typeface="Calibri" pitchFamily="34" charset="0"/>
                <a:ea typeface="Calibri" pitchFamily="34" charset="-122"/>
                <a:cs typeface="Calibri" pitchFamily="34" charset="-120"/>
              </a:rPr>
              <a:t>If is_balanced = false → REFUSES to write to DynamoDB. Same discipline as Ledger Agent on imbalance.</a:t>
            </a:r>
            <a:endParaRPr lang="en-US" sz="1050" dirty="0"/>
          </a:p>
        </p:txBody>
      </p:sp>
      <p:sp>
        <p:nvSpPr>
          <p:cNvPr id="46" name="Shape 44"/>
          <p:cNvSpPr/>
          <p:nvPr/>
        </p:nvSpPr>
        <p:spPr>
          <a:xfrm>
            <a:off x="411480" y="5413248"/>
            <a:ext cx="11356848" cy="768096"/>
          </a:xfrm>
          <a:prstGeom prst="roundRect">
            <a:avLst>
              <a:gd name="adj" fmla="val 9524"/>
            </a:avLst>
          </a:prstGeom>
          <a:solidFill>
            <a:srgbClr val="1B2E45"/>
          </a:solidFill>
          <a:ln w="12700">
            <a:solidFill>
              <a:srgbClr val="243B55"/>
            </a:solidFill>
            <a:prstDash val="solid"/>
          </a:ln>
        </p:spPr>
        <p:txBody>
          <a:bodyPr/>
          <a:lstStyle/>
          <a:p>
            <a:endParaRPr lang="en-US"/>
          </a:p>
        </p:txBody>
      </p:sp>
      <p:sp>
        <p:nvSpPr>
          <p:cNvPr id="47" name="Text 45"/>
          <p:cNvSpPr/>
          <p:nvPr/>
        </p:nvSpPr>
        <p:spPr>
          <a:xfrm>
            <a:off x="566928" y="5468112"/>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INPUT / OUTPUT</a:t>
            </a:r>
            <a:endParaRPr lang="en-US" sz="900" dirty="0"/>
          </a:p>
        </p:txBody>
      </p:sp>
      <p:sp>
        <p:nvSpPr>
          <p:cNvPr id="48" name="Shape 46"/>
          <p:cNvSpPr/>
          <p:nvPr/>
        </p:nvSpPr>
        <p:spPr>
          <a:xfrm>
            <a:off x="566928" y="5742432"/>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49" name="Text 47"/>
          <p:cNvSpPr/>
          <p:nvPr/>
        </p:nvSpPr>
        <p:spPr>
          <a:xfrm>
            <a:off x="566928" y="5742432"/>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INPUT</a:t>
            </a:r>
            <a:endParaRPr lang="en-US" sz="850" dirty="0"/>
          </a:p>
        </p:txBody>
      </p:sp>
      <p:sp>
        <p:nvSpPr>
          <p:cNvPr id="50" name="Text 48"/>
          <p:cNvSpPr/>
          <p:nvPr/>
        </p:nvSpPr>
        <p:spPr>
          <a:xfrm>
            <a:off x="1298448" y="5705856"/>
            <a:ext cx="452628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 run_id }  +  reads SK=pnl for net_income  +  queries all SK=entry# records</a:t>
            </a:r>
            <a:endParaRPr lang="en-US" sz="1100" dirty="0"/>
          </a:p>
        </p:txBody>
      </p:sp>
      <p:sp>
        <p:nvSpPr>
          <p:cNvPr id="51" name="Shape 49"/>
          <p:cNvSpPr/>
          <p:nvPr/>
        </p:nvSpPr>
        <p:spPr>
          <a:xfrm>
            <a:off x="6217920" y="5742432"/>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52" name="Text 50"/>
          <p:cNvSpPr/>
          <p:nvPr/>
        </p:nvSpPr>
        <p:spPr>
          <a:xfrm>
            <a:off x="6217920" y="5742432"/>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53" name="Text 51"/>
          <p:cNvSpPr/>
          <p:nvPr/>
        </p:nvSpPr>
        <p:spPr>
          <a:xfrm>
            <a:off x="6949440" y="5705856"/>
            <a:ext cx="461772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auditai-ledger  PK=run#{run_id}  SK=balance_sheet  →  { status, assets, liabilities, equity, cash, total_assets, total_liabilities, total_equity, is_balanced }</a:t>
            </a:r>
            <a:endParaRPr lang="en-US" sz="1100" dirty="0"/>
          </a:p>
        </p:txBody>
      </p:sp>
      <p:sp>
        <p:nvSpPr>
          <p:cNvPr id="54" name="Text 52"/>
          <p:cNvSpPr/>
          <p:nvPr/>
        </p:nvSpPr>
        <p:spPr>
          <a:xfrm>
            <a:off x="411480" y="6355080"/>
            <a:ext cx="11338560" cy="256032"/>
          </a:xfrm>
          <a:prstGeom prst="rect">
            <a:avLst/>
          </a:prstGeom>
          <a:noFill/>
          <a:ln/>
        </p:spPr>
        <p:txBody>
          <a:bodyPr wrap="square" rtlCol="0" anchor="ctr"/>
          <a:lstStyle/>
          <a:p>
            <a:pPr marL="0" indent="0">
              <a:buNone/>
            </a:pPr>
            <a:r>
              <a:rPr lang="en-US" sz="1000" dirty="0">
                <a:solidFill>
                  <a:srgbClr val="7A94B0"/>
                </a:solidFill>
                <a:latin typeface="Calibri" pitchFamily="34" charset="0"/>
                <a:ea typeface="Calibri" pitchFamily="34" charset="-122"/>
                <a:cs typeface="Calibri" pitchFamily="34" charset="-120"/>
              </a:rPr>
              <a:t>No Bedrock calls — pure Python Decimal arithmetic  ·  DynamoDB Query (not Scan) for entries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07</a:t>
            </a:r>
            <a:endParaRPr lang="en-US" sz="1400" dirty="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dirty="0">
                <a:solidFill>
                  <a:srgbClr val="7EC8E3"/>
                </a:solidFill>
                <a:latin typeface="Calibri" pitchFamily="34" charset="0"/>
                <a:ea typeface="Calibri" pitchFamily="34" charset="-122"/>
                <a:cs typeface="Calibri" pitchFamily="34" charset="-120"/>
              </a:rPr>
              <a:t>RECONCILIATION AGENT</a:t>
            </a:r>
            <a:endParaRPr lang="en-US" sz="1100" dirty="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Reconciliation Agent</a:t>
            </a:r>
            <a:endParaRPr lang="en-US" sz="3600" dirty="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dirty="0">
                <a:solidFill>
                  <a:srgbClr val="7A94B0"/>
                </a:solidFill>
                <a:latin typeface="Calibri" pitchFamily="34" charset="0"/>
                <a:ea typeface="Calibri" pitchFamily="34" charset="-122"/>
                <a:cs typeface="Calibri" pitchFamily="34" charset="-120"/>
              </a:rPr>
              <a:t>9 arithmetic tie-out checks in Python → Strands + Claude writes the audit narrative → idempotency lock</a:t>
            </a:r>
            <a:endParaRPr lang="en-US" sz="1500" dirty="0"/>
          </a:p>
        </p:txBody>
      </p:sp>
      <p:sp>
        <p:nvSpPr>
          <p:cNvPr id="8" name="Shape 6"/>
          <p:cNvSpPr/>
          <p:nvPr/>
        </p:nvSpPr>
        <p:spPr>
          <a:xfrm>
            <a:off x="411480" y="1901952"/>
            <a:ext cx="11356848" cy="877824"/>
          </a:xfrm>
          <a:prstGeom prst="roundRect">
            <a:avLst>
              <a:gd name="adj" fmla="val 8333"/>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dirty="0">
                <a:solidFill>
                  <a:srgbClr val="FF9F40"/>
                </a:solidFill>
                <a:latin typeface="Calibri" pitchFamily="34" charset="0"/>
                <a:ea typeface="Calibri" pitchFamily="34" charset="-122"/>
                <a:cs typeface="Calibri" pitchFamily="34" charset="-120"/>
              </a:rPr>
              <a:t>PROCESSING PHASES  (model used ONLY in Phase 4)</a:t>
            </a:r>
            <a:endParaRPr lang="en-US" sz="900" dirty="0"/>
          </a:p>
        </p:txBody>
      </p:sp>
      <p:sp>
        <p:nvSpPr>
          <p:cNvPr id="10" name="Shape 8"/>
          <p:cNvSpPr/>
          <p:nvPr/>
        </p:nvSpPr>
        <p:spPr>
          <a:xfrm>
            <a:off x="566928" y="2231136"/>
            <a:ext cx="347472" cy="347472"/>
          </a:xfrm>
          <a:prstGeom prst="ellipse">
            <a:avLst/>
          </a:prstGeom>
          <a:solidFill>
            <a:srgbClr val="7EC8E3"/>
          </a:solidFill>
          <a:ln w="12700">
            <a:solidFill>
              <a:srgbClr val="7EC8E3"/>
            </a:solidFill>
            <a:prstDash val="solid"/>
          </a:ln>
        </p:spPr>
        <p:txBody>
          <a:bodyPr/>
          <a:lstStyle/>
          <a:p>
            <a:endParaRPr lang="en-US"/>
          </a:p>
        </p:txBody>
      </p:sp>
      <p:sp>
        <p:nvSpPr>
          <p:cNvPr id="11" name="Text 9"/>
          <p:cNvSpPr/>
          <p:nvPr/>
        </p:nvSpPr>
        <p:spPr>
          <a:xfrm>
            <a:off x="566928" y="2231136"/>
            <a:ext cx="347472" cy="34747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969264" y="2231136"/>
            <a:ext cx="155448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Read Artifacts</a:t>
            </a:r>
            <a:endParaRPr lang="en-US" sz="1000" dirty="0"/>
          </a:p>
        </p:txBody>
      </p:sp>
      <p:sp>
        <p:nvSpPr>
          <p:cNvPr id="13" name="Text 11"/>
          <p:cNvSpPr/>
          <p:nvPr/>
        </p:nvSpPr>
        <p:spPr>
          <a:xfrm>
            <a:off x="969264" y="2414016"/>
            <a:ext cx="1554480" cy="274320"/>
          </a:xfrm>
          <a:prstGeom prst="rect">
            <a:avLst/>
          </a:prstGeom>
          <a:noFill/>
          <a:ln/>
        </p:spPr>
        <p:txBody>
          <a:bodyPr wrap="square" lIns="0" tIns="0" rIns="0" bIns="0" rtlCol="0" anchor="ctr"/>
          <a:lstStyle/>
          <a:p>
            <a:pPr marL="0" indent="0">
              <a:buNone/>
            </a:pPr>
            <a:r>
              <a:rPr lang="en-US" sz="900" dirty="0">
                <a:solidFill>
                  <a:srgbClr val="7A94B0"/>
                </a:solidFill>
                <a:latin typeface="Calibri" pitchFamily="34" charset="0"/>
                <a:ea typeface="Calibri" pitchFamily="34" charset="-122"/>
                <a:cs typeface="Calibri" pitchFamily="34" charset="-120"/>
              </a:rPr>
              <a:t>trial_balance</a:t>
            </a:r>
            <a:endParaRPr lang="en-US" sz="900" dirty="0"/>
          </a:p>
          <a:p>
            <a:pPr marL="0" indent="0">
              <a:buNone/>
            </a:pPr>
            <a:r>
              <a:rPr lang="en-US" sz="900" dirty="0">
                <a:solidFill>
                  <a:srgbClr val="7A94B0"/>
                </a:solidFill>
                <a:latin typeface="Calibri" pitchFamily="34" charset="0"/>
                <a:ea typeface="Calibri" pitchFamily="34" charset="-122"/>
                <a:cs typeface="Calibri" pitchFamily="34" charset="-120"/>
              </a:rPr>
              <a:t>pnl · balance_sheet</a:t>
            </a:r>
            <a:endParaRPr lang="en-US" sz="900" dirty="0"/>
          </a:p>
        </p:txBody>
      </p:sp>
      <p:sp>
        <p:nvSpPr>
          <p:cNvPr id="14" name="Shape 12"/>
          <p:cNvSpPr/>
          <p:nvPr/>
        </p:nvSpPr>
        <p:spPr>
          <a:xfrm>
            <a:off x="2414016" y="2386584"/>
            <a:ext cx="347472" cy="36576"/>
          </a:xfrm>
          <a:prstGeom prst="rect">
            <a:avLst/>
          </a:prstGeom>
          <a:solidFill>
            <a:srgbClr val="243B55"/>
          </a:solidFill>
          <a:ln w="12700">
            <a:solidFill>
              <a:srgbClr val="243B55"/>
            </a:solidFill>
            <a:prstDash val="solid"/>
          </a:ln>
        </p:spPr>
        <p:txBody>
          <a:bodyPr/>
          <a:lstStyle/>
          <a:p>
            <a:endParaRPr lang="en-US"/>
          </a:p>
        </p:txBody>
      </p:sp>
      <p:sp>
        <p:nvSpPr>
          <p:cNvPr id="15" name="Shape 13"/>
          <p:cNvSpPr/>
          <p:nvPr/>
        </p:nvSpPr>
        <p:spPr>
          <a:xfrm>
            <a:off x="2816352" y="2231136"/>
            <a:ext cx="347472" cy="347472"/>
          </a:xfrm>
          <a:prstGeom prst="ellipse">
            <a:avLst/>
          </a:prstGeom>
          <a:solidFill>
            <a:srgbClr val="F5A623"/>
          </a:solidFill>
          <a:ln w="12700">
            <a:solidFill>
              <a:srgbClr val="F5A623"/>
            </a:solidFill>
            <a:prstDash val="solid"/>
          </a:ln>
        </p:spPr>
        <p:txBody>
          <a:bodyPr/>
          <a:lstStyle/>
          <a:p>
            <a:endParaRPr lang="en-US"/>
          </a:p>
        </p:txBody>
      </p:sp>
      <p:sp>
        <p:nvSpPr>
          <p:cNvPr id="16" name="Text 14"/>
          <p:cNvSpPr/>
          <p:nvPr/>
        </p:nvSpPr>
        <p:spPr>
          <a:xfrm>
            <a:off x="2816352" y="2231136"/>
            <a:ext cx="347472" cy="34747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2</a:t>
            </a:r>
            <a:endParaRPr lang="en-US" sz="1100" dirty="0"/>
          </a:p>
        </p:txBody>
      </p:sp>
      <p:sp>
        <p:nvSpPr>
          <p:cNvPr id="17" name="Text 15"/>
          <p:cNvSpPr/>
          <p:nvPr/>
        </p:nvSpPr>
        <p:spPr>
          <a:xfrm>
            <a:off x="3218688" y="2231136"/>
            <a:ext cx="155448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Run 9 Checks</a:t>
            </a:r>
            <a:endParaRPr lang="en-US" sz="1000" dirty="0"/>
          </a:p>
        </p:txBody>
      </p:sp>
      <p:sp>
        <p:nvSpPr>
          <p:cNvPr id="18" name="Text 16"/>
          <p:cNvSpPr/>
          <p:nvPr/>
        </p:nvSpPr>
        <p:spPr>
          <a:xfrm>
            <a:off x="3218688" y="2414016"/>
            <a:ext cx="1554480" cy="274320"/>
          </a:xfrm>
          <a:prstGeom prst="rect">
            <a:avLst/>
          </a:prstGeom>
          <a:noFill/>
          <a:ln/>
        </p:spPr>
        <p:txBody>
          <a:bodyPr wrap="square" lIns="0" tIns="0" rIns="0" bIns="0" rtlCol="0" anchor="ctr"/>
          <a:lstStyle/>
          <a:p>
            <a:pPr marL="0" indent="0">
              <a:buNone/>
            </a:pPr>
            <a:r>
              <a:rPr lang="en-US" sz="900" dirty="0">
                <a:solidFill>
                  <a:srgbClr val="7A94B0"/>
                </a:solidFill>
                <a:latin typeface="Calibri" pitchFamily="34" charset="0"/>
                <a:ea typeface="Calibri" pitchFamily="34" charset="-122"/>
                <a:cs typeface="Calibri" pitchFamily="34" charset="-120"/>
              </a:rPr>
              <a:t>Decimal math</a:t>
            </a:r>
            <a:endParaRPr lang="en-US" sz="900" dirty="0"/>
          </a:p>
          <a:p>
            <a:pPr marL="0" indent="0">
              <a:buNone/>
            </a:pPr>
            <a:r>
              <a:rPr lang="en-US" sz="900" dirty="0">
                <a:solidFill>
                  <a:srgbClr val="7A94B0"/>
                </a:solidFill>
                <a:latin typeface="Calibri" pitchFamily="34" charset="0"/>
                <a:ea typeface="Calibri" pitchFamily="34" charset="-122"/>
                <a:cs typeface="Calibri" pitchFamily="34" charset="-120"/>
              </a:rPr>
              <a:t>no LLM</a:t>
            </a:r>
            <a:endParaRPr lang="en-US" sz="900" dirty="0"/>
          </a:p>
        </p:txBody>
      </p:sp>
      <p:sp>
        <p:nvSpPr>
          <p:cNvPr id="19" name="Shape 17"/>
          <p:cNvSpPr/>
          <p:nvPr/>
        </p:nvSpPr>
        <p:spPr>
          <a:xfrm>
            <a:off x="4663440" y="2386584"/>
            <a:ext cx="347472" cy="36576"/>
          </a:xfrm>
          <a:prstGeom prst="rect">
            <a:avLst/>
          </a:prstGeom>
          <a:solidFill>
            <a:srgbClr val="243B55"/>
          </a:solidFill>
          <a:ln w="12700">
            <a:solidFill>
              <a:srgbClr val="243B55"/>
            </a:solidFill>
            <a:prstDash val="solid"/>
          </a:ln>
        </p:spPr>
        <p:txBody>
          <a:bodyPr/>
          <a:lstStyle/>
          <a:p>
            <a:endParaRPr lang="en-US"/>
          </a:p>
        </p:txBody>
      </p:sp>
      <p:sp>
        <p:nvSpPr>
          <p:cNvPr id="20" name="Shape 18"/>
          <p:cNvSpPr/>
          <p:nvPr/>
        </p:nvSpPr>
        <p:spPr>
          <a:xfrm>
            <a:off x="5065776" y="2231136"/>
            <a:ext cx="347472" cy="347472"/>
          </a:xfrm>
          <a:prstGeom prst="ellipse">
            <a:avLst/>
          </a:prstGeom>
          <a:solidFill>
            <a:srgbClr val="F26B5B"/>
          </a:solidFill>
          <a:ln w="12700">
            <a:solidFill>
              <a:srgbClr val="F26B5B"/>
            </a:solidFill>
            <a:prstDash val="solid"/>
          </a:ln>
        </p:spPr>
        <p:txBody>
          <a:bodyPr/>
          <a:lstStyle/>
          <a:p>
            <a:endParaRPr lang="en-US"/>
          </a:p>
        </p:txBody>
      </p:sp>
      <p:sp>
        <p:nvSpPr>
          <p:cNvPr id="21" name="Text 19"/>
          <p:cNvSpPr/>
          <p:nvPr/>
        </p:nvSpPr>
        <p:spPr>
          <a:xfrm>
            <a:off x="5065776" y="2231136"/>
            <a:ext cx="347472" cy="34747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5468112" y="2231136"/>
            <a:ext cx="155448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PASS / FAIL</a:t>
            </a:r>
            <a:endParaRPr lang="en-US" sz="1000" dirty="0"/>
          </a:p>
        </p:txBody>
      </p:sp>
      <p:sp>
        <p:nvSpPr>
          <p:cNvPr id="23" name="Text 21"/>
          <p:cNvSpPr/>
          <p:nvPr/>
        </p:nvSpPr>
        <p:spPr>
          <a:xfrm>
            <a:off x="5468112" y="2414016"/>
            <a:ext cx="1554480" cy="274320"/>
          </a:xfrm>
          <a:prstGeom prst="rect">
            <a:avLst/>
          </a:prstGeom>
          <a:noFill/>
          <a:ln/>
        </p:spPr>
        <p:txBody>
          <a:bodyPr wrap="square" lIns="0" tIns="0" rIns="0" bIns="0" rtlCol="0" anchor="ctr"/>
          <a:lstStyle/>
          <a:p>
            <a:pPr marL="0" indent="0">
              <a:buNone/>
            </a:pPr>
            <a:r>
              <a:rPr lang="en-US" sz="900" dirty="0">
                <a:solidFill>
                  <a:srgbClr val="7A94B0"/>
                </a:solidFill>
                <a:latin typeface="Calibri" pitchFamily="34" charset="0"/>
                <a:ea typeface="Calibri" pitchFamily="34" charset="-122"/>
                <a:cs typeface="Calibri" pitchFamily="34" charset="-120"/>
              </a:rPr>
              <a:t>Pure Python</a:t>
            </a:r>
            <a:endParaRPr lang="en-US" sz="900" dirty="0"/>
          </a:p>
          <a:p>
            <a:pPr marL="0" indent="0">
              <a:buNone/>
            </a:pPr>
            <a:r>
              <a:rPr lang="en-US" sz="900" dirty="0">
                <a:solidFill>
                  <a:srgbClr val="7A94B0"/>
                </a:solidFill>
                <a:latin typeface="Calibri" pitchFamily="34" charset="0"/>
                <a:ea typeface="Calibri" pitchFamily="34" charset="-122"/>
                <a:cs typeface="Calibri" pitchFamily="34" charset="-120"/>
              </a:rPr>
              <a:t>decision</a:t>
            </a:r>
            <a:endParaRPr lang="en-US" sz="900" dirty="0"/>
          </a:p>
        </p:txBody>
      </p:sp>
      <p:sp>
        <p:nvSpPr>
          <p:cNvPr id="24" name="Shape 22"/>
          <p:cNvSpPr/>
          <p:nvPr/>
        </p:nvSpPr>
        <p:spPr>
          <a:xfrm>
            <a:off x="6912864" y="2386584"/>
            <a:ext cx="347472" cy="36576"/>
          </a:xfrm>
          <a:prstGeom prst="rect">
            <a:avLst/>
          </a:prstGeom>
          <a:solidFill>
            <a:srgbClr val="243B55"/>
          </a:solidFill>
          <a:ln w="12700">
            <a:solidFill>
              <a:srgbClr val="243B55"/>
            </a:solidFill>
            <a:prstDash val="solid"/>
          </a:ln>
        </p:spPr>
        <p:txBody>
          <a:bodyPr/>
          <a:lstStyle/>
          <a:p>
            <a:endParaRPr lang="en-US"/>
          </a:p>
        </p:txBody>
      </p:sp>
      <p:sp>
        <p:nvSpPr>
          <p:cNvPr id="25" name="Shape 23"/>
          <p:cNvSpPr/>
          <p:nvPr/>
        </p:nvSpPr>
        <p:spPr>
          <a:xfrm>
            <a:off x="7315200" y="2231136"/>
            <a:ext cx="347472" cy="347472"/>
          </a:xfrm>
          <a:prstGeom prst="ellipse">
            <a:avLst/>
          </a:prstGeom>
          <a:solidFill>
            <a:srgbClr val="FF9F40"/>
          </a:solidFill>
          <a:ln w="12700">
            <a:solidFill>
              <a:srgbClr val="FF9F40"/>
            </a:solidFill>
            <a:prstDash val="solid"/>
          </a:ln>
        </p:spPr>
        <p:txBody>
          <a:bodyPr/>
          <a:lstStyle/>
          <a:p>
            <a:endParaRPr lang="en-US"/>
          </a:p>
        </p:txBody>
      </p:sp>
      <p:sp>
        <p:nvSpPr>
          <p:cNvPr id="26" name="Text 24"/>
          <p:cNvSpPr/>
          <p:nvPr/>
        </p:nvSpPr>
        <p:spPr>
          <a:xfrm>
            <a:off x="7315200" y="2231136"/>
            <a:ext cx="347472" cy="34747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7717536" y="2231136"/>
            <a:ext cx="155448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Bedrock Prose</a:t>
            </a:r>
            <a:endParaRPr lang="en-US" sz="1000" dirty="0"/>
          </a:p>
        </p:txBody>
      </p:sp>
      <p:sp>
        <p:nvSpPr>
          <p:cNvPr id="28" name="Text 26"/>
          <p:cNvSpPr/>
          <p:nvPr/>
        </p:nvSpPr>
        <p:spPr>
          <a:xfrm>
            <a:off x="7717536" y="2414016"/>
            <a:ext cx="1554480" cy="274320"/>
          </a:xfrm>
          <a:prstGeom prst="rect">
            <a:avLst/>
          </a:prstGeom>
          <a:noFill/>
          <a:ln/>
        </p:spPr>
        <p:txBody>
          <a:bodyPr wrap="square" lIns="0" tIns="0" rIns="0" bIns="0" rtlCol="0" anchor="ctr"/>
          <a:lstStyle/>
          <a:p>
            <a:pPr marL="0" indent="0">
              <a:buNone/>
            </a:pPr>
            <a:r>
              <a:rPr lang="en-US" sz="900" dirty="0">
                <a:solidFill>
                  <a:srgbClr val="7A94B0"/>
                </a:solidFill>
                <a:latin typeface="Calibri" pitchFamily="34" charset="0"/>
                <a:ea typeface="Calibri" pitchFamily="34" charset="-122"/>
                <a:cs typeface="Calibri" pitchFamily="34" charset="-120"/>
              </a:rPr>
              <a:t>Claude writes</a:t>
            </a:r>
            <a:endParaRPr lang="en-US" sz="900" dirty="0"/>
          </a:p>
          <a:p>
            <a:pPr marL="0" indent="0">
              <a:buNone/>
            </a:pPr>
            <a:r>
              <a:rPr lang="en-US" sz="900" dirty="0">
                <a:solidFill>
                  <a:srgbClr val="7A94B0"/>
                </a:solidFill>
                <a:latin typeface="Calibri" pitchFamily="34" charset="0"/>
                <a:ea typeface="Calibri" pitchFamily="34" charset="-122"/>
                <a:cs typeface="Calibri" pitchFamily="34" charset="-120"/>
              </a:rPr>
              <a:t>audit narrative</a:t>
            </a:r>
            <a:endParaRPr lang="en-US" sz="900" dirty="0"/>
          </a:p>
        </p:txBody>
      </p:sp>
      <p:sp>
        <p:nvSpPr>
          <p:cNvPr id="29" name="Shape 27"/>
          <p:cNvSpPr/>
          <p:nvPr/>
        </p:nvSpPr>
        <p:spPr>
          <a:xfrm>
            <a:off x="9162288" y="2386584"/>
            <a:ext cx="347472" cy="36576"/>
          </a:xfrm>
          <a:prstGeom prst="rect">
            <a:avLst/>
          </a:prstGeom>
          <a:solidFill>
            <a:srgbClr val="243B55"/>
          </a:solidFill>
          <a:ln w="12700">
            <a:solidFill>
              <a:srgbClr val="243B55"/>
            </a:solidFill>
            <a:prstDash val="solid"/>
          </a:ln>
        </p:spPr>
        <p:txBody>
          <a:bodyPr/>
          <a:lstStyle/>
          <a:p>
            <a:endParaRPr lang="en-US"/>
          </a:p>
        </p:txBody>
      </p:sp>
      <p:sp>
        <p:nvSpPr>
          <p:cNvPr id="30" name="Shape 28"/>
          <p:cNvSpPr/>
          <p:nvPr/>
        </p:nvSpPr>
        <p:spPr>
          <a:xfrm>
            <a:off x="9564624" y="2231136"/>
            <a:ext cx="347472" cy="347472"/>
          </a:xfrm>
          <a:prstGeom prst="ellipse">
            <a:avLst/>
          </a:prstGeom>
          <a:solidFill>
            <a:srgbClr val="00C9A7"/>
          </a:solidFill>
          <a:ln w="12700">
            <a:solidFill>
              <a:srgbClr val="00C9A7"/>
            </a:solidFill>
            <a:prstDash val="solid"/>
          </a:ln>
        </p:spPr>
        <p:txBody>
          <a:bodyPr/>
          <a:lstStyle/>
          <a:p>
            <a:endParaRPr lang="en-US"/>
          </a:p>
        </p:txBody>
      </p:sp>
      <p:sp>
        <p:nvSpPr>
          <p:cNvPr id="31" name="Text 29"/>
          <p:cNvSpPr/>
          <p:nvPr/>
        </p:nvSpPr>
        <p:spPr>
          <a:xfrm>
            <a:off x="9564624" y="2231136"/>
            <a:ext cx="347472" cy="347472"/>
          </a:xfrm>
          <a:prstGeom prst="rect">
            <a:avLst/>
          </a:prstGeom>
          <a:noFill/>
          <a:ln/>
        </p:spPr>
        <p:txBody>
          <a:bodyPr wrap="square" lIns="0" tIns="0" rIns="0" bIns="0" rtlCol="0" anchor="ctr"/>
          <a:lstStyle/>
          <a:p>
            <a:pPr marL="0" indent="0" algn="ctr">
              <a:buNone/>
            </a:pPr>
            <a:r>
              <a:rPr lang="en-US" sz="1100" b="1" dirty="0">
                <a:solidFill>
                  <a:srgbClr val="0D1B2A"/>
                </a:solidFill>
                <a:latin typeface="Calibri" pitchFamily="34" charset="0"/>
                <a:ea typeface="Calibri" pitchFamily="34" charset="-122"/>
                <a:cs typeface="Calibri" pitchFamily="34" charset="-120"/>
              </a:rPr>
              <a:t>5</a:t>
            </a:r>
            <a:endParaRPr lang="en-US" sz="1100" dirty="0"/>
          </a:p>
        </p:txBody>
      </p:sp>
      <p:sp>
        <p:nvSpPr>
          <p:cNvPr id="32" name="Text 30"/>
          <p:cNvSpPr/>
          <p:nvPr/>
        </p:nvSpPr>
        <p:spPr>
          <a:xfrm>
            <a:off x="9966960" y="2231136"/>
            <a:ext cx="1554480" cy="18288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Persist</a:t>
            </a:r>
            <a:endParaRPr lang="en-US" sz="1000" dirty="0"/>
          </a:p>
        </p:txBody>
      </p:sp>
      <p:sp>
        <p:nvSpPr>
          <p:cNvPr id="33" name="Text 31"/>
          <p:cNvSpPr/>
          <p:nvPr/>
        </p:nvSpPr>
        <p:spPr>
          <a:xfrm>
            <a:off x="9966960" y="2414016"/>
            <a:ext cx="1554480" cy="274320"/>
          </a:xfrm>
          <a:prstGeom prst="rect">
            <a:avLst/>
          </a:prstGeom>
          <a:noFill/>
          <a:ln/>
        </p:spPr>
        <p:txBody>
          <a:bodyPr wrap="square" lIns="0" tIns="0" rIns="0" bIns="0" rtlCol="0" anchor="ctr"/>
          <a:lstStyle/>
          <a:p>
            <a:pPr marL="0" indent="0">
              <a:buNone/>
            </a:pPr>
            <a:r>
              <a:rPr lang="en-US" sz="900" dirty="0">
                <a:solidFill>
                  <a:srgbClr val="7A94B0"/>
                </a:solidFill>
                <a:latin typeface="Calibri" pitchFamily="34" charset="0"/>
                <a:ea typeface="Calibri" pitchFamily="34" charset="-122"/>
                <a:cs typeface="Calibri" pitchFamily="34" charset="-120"/>
              </a:rPr>
              <a:t>Write to</a:t>
            </a:r>
            <a:endParaRPr lang="en-US" sz="900" dirty="0"/>
          </a:p>
          <a:p>
            <a:pPr marL="0" indent="0">
              <a:buNone/>
            </a:pPr>
            <a:r>
              <a:rPr lang="en-US" sz="900" dirty="0">
                <a:solidFill>
                  <a:srgbClr val="7A94B0"/>
                </a:solidFill>
                <a:latin typeface="Calibri" pitchFamily="34" charset="0"/>
                <a:ea typeface="Calibri" pitchFamily="34" charset="-122"/>
                <a:cs typeface="Calibri" pitchFamily="34" charset="-120"/>
              </a:rPr>
              <a:t>auditai-ledger</a:t>
            </a:r>
            <a:endParaRPr lang="en-US" sz="900" dirty="0"/>
          </a:p>
        </p:txBody>
      </p:sp>
      <p:sp>
        <p:nvSpPr>
          <p:cNvPr id="34" name="Shape 32"/>
          <p:cNvSpPr/>
          <p:nvPr/>
        </p:nvSpPr>
        <p:spPr>
          <a:xfrm>
            <a:off x="411480" y="2852928"/>
            <a:ext cx="6949440" cy="2706624"/>
          </a:xfrm>
          <a:prstGeom prst="roundRect">
            <a:avLst>
              <a:gd name="adj" fmla="val 2703"/>
            </a:avLst>
          </a:prstGeom>
          <a:solidFill>
            <a:srgbClr val="1B2E45"/>
          </a:solidFill>
          <a:ln w="12700">
            <a:solidFill>
              <a:srgbClr val="243B55"/>
            </a:solidFill>
            <a:prstDash val="solid"/>
          </a:ln>
        </p:spPr>
        <p:txBody>
          <a:bodyPr/>
          <a:lstStyle/>
          <a:p>
            <a:endParaRPr lang="en-US"/>
          </a:p>
        </p:txBody>
      </p:sp>
      <p:sp>
        <p:nvSpPr>
          <p:cNvPr id="35" name="Text 33"/>
          <p:cNvSpPr/>
          <p:nvPr/>
        </p:nvSpPr>
        <p:spPr>
          <a:xfrm>
            <a:off x="566928" y="2907792"/>
            <a:ext cx="4572000" cy="256032"/>
          </a:xfrm>
          <a:prstGeom prst="rect">
            <a:avLst/>
          </a:prstGeom>
          <a:noFill/>
          <a:ln/>
        </p:spPr>
        <p:txBody>
          <a:bodyPr wrap="square" lIns="0" tIns="0" rIns="0" bIns="0"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9 TIE-OUT CHECKS (all Python Decimal)</a:t>
            </a:r>
            <a:endParaRPr lang="en-US" sz="900" dirty="0"/>
          </a:p>
        </p:txBody>
      </p:sp>
      <p:sp>
        <p:nvSpPr>
          <p:cNvPr id="36" name="Shape 34"/>
          <p:cNvSpPr/>
          <p:nvPr/>
        </p:nvSpPr>
        <p:spPr>
          <a:xfrm>
            <a:off x="566928" y="3200400"/>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37" name="Shape 35"/>
          <p:cNvSpPr/>
          <p:nvPr/>
        </p:nvSpPr>
        <p:spPr>
          <a:xfrm>
            <a:off x="621792" y="3255264"/>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38" name="Text 36"/>
          <p:cNvSpPr/>
          <p:nvPr/>
        </p:nvSpPr>
        <p:spPr>
          <a:xfrm>
            <a:off x="621792" y="3255264"/>
            <a:ext cx="548640" cy="164592"/>
          </a:xfrm>
          <a:prstGeom prst="rect">
            <a:avLst/>
          </a:prstGeom>
          <a:noFill/>
          <a:ln/>
        </p:spPr>
        <p:txBody>
          <a:bodyPr wrap="square" lIns="0" tIns="0" rIns="0" bIns="0" rtlCol="0" anchor="ctr"/>
          <a:lstStyle/>
          <a:p>
            <a:pPr marL="0" indent="0" algn="ctr">
              <a:buNone/>
            </a:pPr>
            <a:r>
              <a:rPr lang="en-US" sz="700" b="1" dirty="0">
                <a:solidFill>
                  <a:srgbClr val="0D1B2A"/>
                </a:solidFill>
                <a:latin typeface="Calibri" pitchFamily="34" charset="0"/>
                <a:ea typeface="Calibri" pitchFamily="34" charset="-122"/>
                <a:cs typeface="Calibri" pitchFamily="34" charset="-120"/>
              </a:rPr>
              <a:t>CRITICAL</a:t>
            </a:r>
            <a:endParaRPr lang="en-US" sz="700" dirty="0"/>
          </a:p>
        </p:txBody>
      </p:sp>
      <p:sp>
        <p:nvSpPr>
          <p:cNvPr id="39" name="Text 37"/>
          <p:cNvSpPr/>
          <p:nvPr/>
        </p:nvSpPr>
        <p:spPr>
          <a:xfrm>
            <a:off x="640080" y="3438144"/>
            <a:ext cx="2048256" cy="1828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trial_​balance_​balanced</a:t>
            </a:r>
            <a:endParaRPr lang="en-US" sz="850" dirty="0"/>
          </a:p>
        </p:txBody>
      </p:sp>
      <p:sp>
        <p:nvSpPr>
          <p:cNvPr id="40" name="Text 38"/>
          <p:cNvSpPr/>
          <p:nvPr/>
        </p:nvSpPr>
        <p:spPr>
          <a:xfrm>
            <a:off x="640080" y="3621024"/>
            <a:ext cx="2048256" cy="182880"/>
          </a:xfrm>
          <a:prstGeom prst="rect">
            <a:avLst/>
          </a:prstGeom>
          <a:noFill/>
          <a:ln/>
        </p:spPr>
        <p:txBody>
          <a:bodyPr wrap="square" lIns="0" tIns="0" rIns="0" bIns="0" rtlCol="0" anchor="ctr"/>
          <a:lstStyle/>
          <a:p>
            <a:pPr marL="0" indent="0">
              <a:buNone/>
            </a:pPr>
            <a:r>
              <a:rPr lang="en-US" sz="780" dirty="0">
                <a:solidFill>
                  <a:srgbClr val="7A94B0"/>
                </a:solidFill>
                <a:latin typeface="Courier New" pitchFamily="34" charset="0"/>
                <a:ea typeface="Courier New" pitchFamily="34" charset="-122"/>
                <a:cs typeface="Courier New" pitchFamily="34" charset="-120"/>
              </a:rPr>
              <a:t>total_debit == total_credit</a:t>
            </a:r>
            <a:endParaRPr lang="en-US" sz="780" dirty="0"/>
          </a:p>
        </p:txBody>
      </p:sp>
      <p:sp>
        <p:nvSpPr>
          <p:cNvPr id="41" name="Shape 39"/>
          <p:cNvSpPr/>
          <p:nvPr/>
        </p:nvSpPr>
        <p:spPr>
          <a:xfrm>
            <a:off x="2871216" y="3200400"/>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42" name="Shape 40"/>
          <p:cNvSpPr/>
          <p:nvPr/>
        </p:nvSpPr>
        <p:spPr>
          <a:xfrm>
            <a:off x="2926080" y="3255264"/>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43" name="Text 41"/>
          <p:cNvSpPr/>
          <p:nvPr/>
        </p:nvSpPr>
        <p:spPr>
          <a:xfrm>
            <a:off x="2926080" y="3255264"/>
            <a:ext cx="548640" cy="164592"/>
          </a:xfrm>
          <a:prstGeom prst="rect">
            <a:avLst/>
          </a:prstGeom>
          <a:noFill/>
          <a:ln/>
        </p:spPr>
        <p:txBody>
          <a:bodyPr wrap="square" lIns="0" tIns="0" rIns="0" bIns="0" rtlCol="0" anchor="ctr"/>
          <a:lstStyle/>
          <a:p>
            <a:pPr marL="0" indent="0" algn="ctr">
              <a:buNone/>
            </a:pPr>
            <a:r>
              <a:rPr lang="en-US" sz="700" b="1" dirty="0">
                <a:solidFill>
                  <a:srgbClr val="0D1B2A"/>
                </a:solidFill>
                <a:latin typeface="Calibri" pitchFamily="34" charset="0"/>
                <a:ea typeface="Calibri" pitchFamily="34" charset="-122"/>
                <a:cs typeface="Calibri" pitchFamily="34" charset="-120"/>
              </a:rPr>
              <a:t>CRITICAL</a:t>
            </a:r>
            <a:endParaRPr lang="en-US" sz="700" dirty="0"/>
          </a:p>
        </p:txBody>
      </p:sp>
      <p:sp>
        <p:nvSpPr>
          <p:cNvPr id="44" name="Text 42"/>
          <p:cNvSpPr/>
          <p:nvPr/>
        </p:nvSpPr>
        <p:spPr>
          <a:xfrm>
            <a:off x="2944368" y="3438144"/>
            <a:ext cx="2048256" cy="1828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assets_​equal_​liab_​plus_​equity</a:t>
            </a:r>
            <a:endParaRPr lang="en-US" sz="850" dirty="0"/>
          </a:p>
        </p:txBody>
      </p:sp>
      <p:sp>
        <p:nvSpPr>
          <p:cNvPr id="45" name="Text 43"/>
          <p:cNvSpPr/>
          <p:nvPr/>
        </p:nvSpPr>
        <p:spPr>
          <a:xfrm>
            <a:off x="2944368" y="3621024"/>
            <a:ext cx="2048256" cy="182880"/>
          </a:xfrm>
          <a:prstGeom prst="rect">
            <a:avLst/>
          </a:prstGeom>
          <a:noFill/>
          <a:ln/>
        </p:spPr>
        <p:txBody>
          <a:bodyPr wrap="square" lIns="0" tIns="0" rIns="0" bIns="0" rtlCol="0" anchor="ctr"/>
          <a:lstStyle/>
          <a:p>
            <a:pPr marL="0" indent="0">
              <a:buNone/>
            </a:pPr>
            <a:r>
              <a:rPr lang="en-US" sz="780" dirty="0">
                <a:solidFill>
                  <a:srgbClr val="7A94B0"/>
                </a:solidFill>
                <a:latin typeface="Courier New" pitchFamily="34" charset="0"/>
                <a:ea typeface="Courier New" pitchFamily="34" charset="-122"/>
                <a:cs typeface="Courier New" pitchFamily="34" charset="-120"/>
              </a:rPr>
              <a:t>total_assets == total_liabilities + total_equity</a:t>
            </a:r>
            <a:endParaRPr lang="en-US" sz="780" dirty="0"/>
          </a:p>
        </p:txBody>
      </p:sp>
      <p:sp>
        <p:nvSpPr>
          <p:cNvPr id="46" name="Shape 44"/>
          <p:cNvSpPr/>
          <p:nvPr/>
        </p:nvSpPr>
        <p:spPr>
          <a:xfrm>
            <a:off x="5175504" y="3200400"/>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47" name="Shape 45"/>
          <p:cNvSpPr/>
          <p:nvPr/>
        </p:nvSpPr>
        <p:spPr>
          <a:xfrm>
            <a:off x="5230368" y="3255264"/>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48" name="Text 46"/>
          <p:cNvSpPr/>
          <p:nvPr/>
        </p:nvSpPr>
        <p:spPr>
          <a:xfrm>
            <a:off x="5230368" y="3255264"/>
            <a:ext cx="548640" cy="164592"/>
          </a:xfrm>
          <a:prstGeom prst="rect">
            <a:avLst/>
          </a:prstGeom>
          <a:noFill/>
          <a:ln/>
        </p:spPr>
        <p:txBody>
          <a:bodyPr wrap="square" lIns="0" tIns="0" rIns="0" bIns="0" rtlCol="0" anchor="ctr"/>
          <a:lstStyle/>
          <a:p>
            <a:pPr marL="0" indent="0" algn="ctr">
              <a:buNone/>
            </a:pPr>
            <a:r>
              <a:rPr lang="en-US" sz="700" b="1" dirty="0">
                <a:solidFill>
                  <a:srgbClr val="0D1B2A"/>
                </a:solidFill>
                <a:latin typeface="Calibri" pitchFamily="34" charset="0"/>
                <a:ea typeface="Calibri" pitchFamily="34" charset="-122"/>
                <a:cs typeface="Calibri" pitchFamily="34" charset="-120"/>
              </a:rPr>
              <a:t>CRITICAL</a:t>
            </a:r>
            <a:endParaRPr lang="en-US" sz="700" dirty="0"/>
          </a:p>
        </p:txBody>
      </p:sp>
      <p:sp>
        <p:nvSpPr>
          <p:cNvPr id="49" name="Text 47"/>
          <p:cNvSpPr/>
          <p:nvPr/>
        </p:nvSpPr>
        <p:spPr>
          <a:xfrm>
            <a:off x="5248656" y="3438144"/>
            <a:ext cx="2048256" cy="1828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net_​income_​ties_​to_​pnl</a:t>
            </a:r>
            <a:endParaRPr lang="en-US" sz="850" dirty="0"/>
          </a:p>
        </p:txBody>
      </p:sp>
      <p:sp>
        <p:nvSpPr>
          <p:cNvPr id="50" name="Text 48"/>
          <p:cNvSpPr/>
          <p:nvPr/>
        </p:nvSpPr>
        <p:spPr>
          <a:xfrm>
            <a:off x="5248656" y="3621024"/>
            <a:ext cx="2048256" cy="182880"/>
          </a:xfrm>
          <a:prstGeom prst="rect">
            <a:avLst/>
          </a:prstGeom>
          <a:noFill/>
          <a:ln/>
        </p:spPr>
        <p:txBody>
          <a:bodyPr wrap="square" lIns="0" tIns="0" rIns="0" bIns="0" rtlCol="0" anchor="ctr"/>
          <a:lstStyle/>
          <a:p>
            <a:pPr marL="0" indent="0">
              <a:buNone/>
            </a:pPr>
            <a:r>
              <a:rPr lang="en-US" sz="780" dirty="0">
                <a:solidFill>
                  <a:srgbClr val="7A94B0"/>
                </a:solidFill>
                <a:latin typeface="Courier New" pitchFamily="34" charset="0"/>
                <a:ea typeface="Courier New" pitchFamily="34" charset="-122"/>
                <a:cs typeface="Courier New" pitchFamily="34" charset="-120"/>
              </a:rPr>
              <a:t>equity["Current Period Net Income"] == pnl.net_income</a:t>
            </a:r>
            <a:endParaRPr lang="en-US" sz="780" dirty="0"/>
          </a:p>
        </p:txBody>
      </p:sp>
      <p:sp>
        <p:nvSpPr>
          <p:cNvPr id="51" name="Shape 49"/>
          <p:cNvSpPr/>
          <p:nvPr/>
        </p:nvSpPr>
        <p:spPr>
          <a:xfrm>
            <a:off x="566928" y="3950208"/>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52" name="Shape 50"/>
          <p:cNvSpPr/>
          <p:nvPr/>
        </p:nvSpPr>
        <p:spPr>
          <a:xfrm>
            <a:off x="621792" y="4005072"/>
            <a:ext cx="548640" cy="164592"/>
          </a:xfrm>
          <a:prstGeom prst="roundRect">
            <a:avLst>
              <a:gd name="adj" fmla="val 16667"/>
            </a:avLst>
          </a:prstGeom>
          <a:solidFill>
            <a:srgbClr val="F5A623"/>
          </a:solidFill>
          <a:ln w="12700">
            <a:solidFill>
              <a:srgbClr val="F5A623"/>
            </a:solidFill>
            <a:prstDash val="solid"/>
          </a:ln>
        </p:spPr>
        <p:txBody>
          <a:bodyPr/>
          <a:lstStyle/>
          <a:p>
            <a:endParaRPr lang="en-US"/>
          </a:p>
        </p:txBody>
      </p:sp>
      <p:sp>
        <p:nvSpPr>
          <p:cNvPr id="53" name="Text 51"/>
          <p:cNvSpPr/>
          <p:nvPr/>
        </p:nvSpPr>
        <p:spPr>
          <a:xfrm>
            <a:off x="621792" y="4005072"/>
            <a:ext cx="548640" cy="164592"/>
          </a:xfrm>
          <a:prstGeom prst="rect">
            <a:avLst/>
          </a:prstGeom>
          <a:noFill/>
          <a:ln/>
        </p:spPr>
        <p:txBody>
          <a:bodyPr wrap="square" lIns="0" tIns="0" rIns="0" bIns="0" rtlCol="0" anchor="ctr"/>
          <a:lstStyle/>
          <a:p>
            <a:pPr marL="0" indent="0" algn="ctr">
              <a:buNone/>
            </a:pPr>
            <a:r>
              <a:rPr lang="en-US" sz="700" b="1" dirty="0">
                <a:solidFill>
                  <a:srgbClr val="0D1B2A"/>
                </a:solidFill>
                <a:latin typeface="Calibri" pitchFamily="34" charset="0"/>
                <a:ea typeface="Calibri" pitchFamily="34" charset="-122"/>
                <a:cs typeface="Calibri" pitchFamily="34" charset="-120"/>
              </a:rPr>
              <a:t>WARN</a:t>
            </a:r>
            <a:endParaRPr lang="en-US" sz="700" dirty="0"/>
          </a:p>
        </p:txBody>
      </p:sp>
      <p:sp>
        <p:nvSpPr>
          <p:cNvPr id="54" name="Text 52"/>
          <p:cNvSpPr/>
          <p:nvPr/>
        </p:nvSpPr>
        <p:spPr>
          <a:xfrm>
            <a:off x="640080" y="4187952"/>
            <a:ext cx="2048256" cy="1828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revenue_​ties_​to_​ledger</a:t>
            </a:r>
            <a:endParaRPr lang="en-US" sz="850" dirty="0"/>
          </a:p>
        </p:txBody>
      </p:sp>
      <p:sp>
        <p:nvSpPr>
          <p:cNvPr id="55" name="Text 53"/>
          <p:cNvSpPr/>
          <p:nvPr/>
        </p:nvSpPr>
        <p:spPr>
          <a:xfrm>
            <a:off x="640080" y="4370832"/>
            <a:ext cx="2048256" cy="182880"/>
          </a:xfrm>
          <a:prstGeom prst="rect">
            <a:avLst/>
          </a:prstGeom>
          <a:noFill/>
          <a:ln/>
        </p:spPr>
        <p:txBody>
          <a:bodyPr wrap="square" lIns="0" tIns="0" rIns="0" bIns="0" rtlCol="0" anchor="ctr"/>
          <a:lstStyle/>
          <a:p>
            <a:pPr marL="0" indent="0">
              <a:buNone/>
            </a:pPr>
            <a:r>
              <a:rPr lang="en-US" sz="780" dirty="0">
                <a:solidFill>
                  <a:srgbClr val="7A94B0"/>
                </a:solidFill>
                <a:latin typeface="Courier New" pitchFamily="34" charset="0"/>
                <a:ea typeface="Courier New" pitchFamily="34" charset="-122"/>
                <a:cs typeface="Courier New" pitchFamily="34" charset="-120"/>
              </a:rPr>
              <a:t>pnl.total_revenue == Σ Revenue net credits in TB</a:t>
            </a:r>
            <a:endParaRPr lang="en-US" sz="780" dirty="0"/>
          </a:p>
        </p:txBody>
      </p:sp>
      <p:sp>
        <p:nvSpPr>
          <p:cNvPr id="56" name="Shape 54"/>
          <p:cNvSpPr/>
          <p:nvPr/>
        </p:nvSpPr>
        <p:spPr>
          <a:xfrm>
            <a:off x="2871216" y="3950208"/>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57" name="Shape 55"/>
          <p:cNvSpPr/>
          <p:nvPr/>
        </p:nvSpPr>
        <p:spPr>
          <a:xfrm>
            <a:off x="2926080" y="4005072"/>
            <a:ext cx="548640" cy="164592"/>
          </a:xfrm>
          <a:prstGeom prst="roundRect">
            <a:avLst>
              <a:gd name="adj" fmla="val 16667"/>
            </a:avLst>
          </a:prstGeom>
          <a:solidFill>
            <a:srgbClr val="F5A623"/>
          </a:solidFill>
          <a:ln w="12700">
            <a:solidFill>
              <a:srgbClr val="F5A623"/>
            </a:solidFill>
            <a:prstDash val="solid"/>
          </a:ln>
        </p:spPr>
        <p:txBody>
          <a:bodyPr/>
          <a:lstStyle/>
          <a:p>
            <a:endParaRPr lang="en-US"/>
          </a:p>
        </p:txBody>
      </p:sp>
      <p:sp>
        <p:nvSpPr>
          <p:cNvPr id="58" name="Text 56"/>
          <p:cNvSpPr/>
          <p:nvPr/>
        </p:nvSpPr>
        <p:spPr>
          <a:xfrm>
            <a:off x="2926080" y="4005072"/>
            <a:ext cx="548640" cy="164592"/>
          </a:xfrm>
          <a:prstGeom prst="rect">
            <a:avLst/>
          </a:prstGeom>
          <a:noFill/>
          <a:ln/>
        </p:spPr>
        <p:txBody>
          <a:bodyPr wrap="square" lIns="0" tIns="0" rIns="0" bIns="0" rtlCol="0" anchor="ctr"/>
          <a:lstStyle/>
          <a:p>
            <a:pPr marL="0" indent="0" algn="ctr">
              <a:buNone/>
            </a:pPr>
            <a:r>
              <a:rPr lang="en-US" sz="700" b="1" dirty="0">
                <a:solidFill>
                  <a:srgbClr val="0D1B2A"/>
                </a:solidFill>
                <a:latin typeface="Calibri" pitchFamily="34" charset="0"/>
                <a:ea typeface="Calibri" pitchFamily="34" charset="-122"/>
                <a:cs typeface="Calibri" pitchFamily="34" charset="-120"/>
              </a:rPr>
              <a:t>WARN</a:t>
            </a:r>
            <a:endParaRPr lang="en-US" sz="700" dirty="0"/>
          </a:p>
        </p:txBody>
      </p:sp>
      <p:sp>
        <p:nvSpPr>
          <p:cNvPr id="59" name="Text 57"/>
          <p:cNvSpPr/>
          <p:nvPr/>
        </p:nvSpPr>
        <p:spPr>
          <a:xfrm>
            <a:off x="2944368" y="4187952"/>
            <a:ext cx="2048256" cy="1828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expenses_​tie_​to_​ledger</a:t>
            </a:r>
            <a:endParaRPr lang="en-US" sz="850" dirty="0"/>
          </a:p>
        </p:txBody>
      </p:sp>
      <p:sp>
        <p:nvSpPr>
          <p:cNvPr id="60" name="Text 58"/>
          <p:cNvSpPr/>
          <p:nvPr/>
        </p:nvSpPr>
        <p:spPr>
          <a:xfrm>
            <a:off x="2944368" y="4370832"/>
            <a:ext cx="2048256" cy="182880"/>
          </a:xfrm>
          <a:prstGeom prst="rect">
            <a:avLst/>
          </a:prstGeom>
          <a:noFill/>
          <a:ln/>
        </p:spPr>
        <p:txBody>
          <a:bodyPr wrap="square" lIns="0" tIns="0" rIns="0" bIns="0" rtlCol="0" anchor="ctr"/>
          <a:lstStyle/>
          <a:p>
            <a:pPr marL="0" indent="0">
              <a:buNone/>
            </a:pPr>
            <a:r>
              <a:rPr lang="en-US" sz="780" dirty="0">
                <a:solidFill>
                  <a:srgbClr val="7A94B0"/>
                </a:solidFill>
                <a:latin typeface="Courier New" pitchFamily="34" charset="0"/>
                <a:ea typeface="Courier New" pitchFamily="34" charset="-122"/>
                <a:cs typeface="Courier New" pitchFamily="34" charset="-120"/>
              </a:rPr>
              <a:t>pnl.total_operating_expenses == Σ Expense net debits in TB</a:t>
            </a:r>
            <a:endParaRPr lang="en-US" sz="780" dirty="0"/>
          </a:p>
        </p:txBody>
      </p:sp>
      <p:sp>
        <p:nvSpPr>
          <p:cNvPr id="61" name="Shape 59"/>
          <p:cNvSpPr/>
          <p:nvPr/>
        </p:nvSpPr>
        <p:spPr>
          <a:xfrm>
            <a:off x="5175504" y="3950208"/>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62" name="Shape 60"/>
          <p:cNvSpPr/>
          <p:nvPr/>
        </p:nvSpPr>
        <p:spPr>
          <a:xfrm>
            <a:off x="5230368" y="4005072"/>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63" name="Text 61"/>
          <p:cNvSpPr/>
          <p:nvPr/>
        </p:nvSpPr>
        <p:spPr>
          <a:xfrm>
            <a:off x="5230368" y="4005072"/>
            <a:ext cx="548640" cy="164592"/>
          </a:xfrm>
          <a:prstGeom prst="rect">
            <a:avLst/>
          </a:prstGeom>
          <a:noFill/>
          <a:ln/>
        </p:spPr>
        <p:txBody>
          <a:bodyPr wrap="square" lIns="0" tIns="0" rIns="0" bIns="0" rtlCol="0" anchor="ctr"/>
          <a:lstStyle/>
          <a:p>
            <a:pPr marL="0" indent="0" algn="ctr">
              <a:buNone/>
            </a:pPr>
            <a:r>
              <a:rPr lang="en-US" sz="700" b="1" dirty="0">
                <a:solidFill>
                  <a:srgbClr val="0D1B2A"/>
                </a:solidFill>
                <a:latin typeface="Calibri" pitchFamily="34" charset="0"/>
                <a:ea typeface="Calibri" pitchFamily="34" charset="-122"/>
                <a:cs typeface="Calibri" pitchFamily="34" charset="-120"/>
              </a:rPr>
              <a:t>CRITICAL</a:t>
            </a:r>
            <a:endParaRPr lang="en-US" sz="700" dirty="0"/>
          </a:p>
        </p:txBody>
      </p:sp>
      <p:sp>
        <p:nvSpPr>
          <p:cNvPr id="64" name="Text 62"/>
          <p:cNvSpPr/>
          <p:nvPr/>
        </p:nvSpPr>
        <p:spPr>
          <a:xfrm>
            <a:off x="5248656" y="4187952"/>
            <a:ext cx="2048256" cy="1828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pnl_​arithmetic</a:t>
            </a:r>
            <a:endParaRPr lang="en-US" sz="850" dirty="0"/>
          </a:p>
        </p:txBody>
      </p:sp>
      <p:sp>
        <p:nvSpPr>
          <p:cNvPr id="65" name="Text 63"/>
          <p:cNvSpPr/>
          <p:nvPr/>
        </p:nvSpPr>
        <p:spPr>
          <a:xfrm>
            <a:off x="5248656" y="4370832"/>
            <a:ext cx="2048256" cy="182880"/>
          </a:xfrm>
          <a:prstGeom prst="rect">
            <a:avLst/>
          </a:prstGeom>
          <a:noFill/>
          <a:ln/>
        </p:spPr>
        <p:txBody>
          <a:bodyPr wrap="square" lIns="0" tIns="0" rIns="0" bIns="0" rtlCol="0" anchor="ctr"/>
          <a:lstStyle/>
          <a:p>
            <a:pPr marL="0" indent="0">
              <a:buNone/>
            </a:pPr>
            <a:r>
              <a:rPr lang="en-US" sz="780" dirty="0">
                <a:solidFill>
                  <a:srgbClr val="7A94B0"/>
                </a:solidFill>
                <a:latin typeface="Courier New" pitchFamily="34" charset="0"/>
                <a:ea typeface="Courier New" pitchFamily="34" charset="-122"/>
                <a:cs typeface="Courier New" pitchFamily="34" charset="-120"/>
              </a:rPr>
              <a:t>gross_profit == revenue − cogs  AND  net_income == GP − expenses</a:t>
            </a:r>
            <a:endParaRPr lang="en-US" sz="780" dirty="0"/>
          </a:p>
        </p:txBody>
      </p:sp>
      <p:sp>
        <p:nvSpPr>
          <p:cNvPr id="66" name="Shape 64"/>
          <p:cNvSpPr/>
          <p:nvPr/>
        </p:nvSpPr>
        <p:spPr>
          <a:xfrm>
            <a:off x="566928" y="4700016"/>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67" name="Shape 65"/>
          <p:cNvSpPr/>
          <p:nvPr/>
        </p:nvSpPr>
        <p:spPr>
          <a:xfrm>
            <a:off x="621792" y="4754880"/>
            <a:ext cx="548640" cy="164592"/>
          </a:xfrm>
          <a:prstGeom prst="roundRect">
            <a:avLst>
              <a:gd name="adj" fmla="val 16667"/>
            </a:avLst>
          </a:prstGeom>
          <a:solidFill>
            <a:srgbClr val="F5A623"/>
          </a:solidFill>
          <a:ln w="12700">
            <a:solidFill>
              <a:srgbClr val="F5A623"/>
            </a:solidFill>
            <a:prstDash val="solid"/>
          </a:ln>
        </p:spPr>
        <p:txBody>
          <a:bodyPr/>
          <a:lstStyle/>
          <a:p>
            <a:endParaRPr lang="en-US"/>
          </a:p>
        </p:txBody>
      </p:sp>
      <p:sp>
        <p:nvSpPr>
          <p:cNvPr id="68" name="Text 66"/>
          <p:cNvSpPr/>
          <p:nvPr/>
        </p:nvSpPr>
        <p:spPr>
          <a:xfrm>
            <a:off x="621792" y="4754880"/>
            <a:ext cx="548640" cy="164592"/>
          </a:xfrm>
          <a:prstGeom prst="rect">
            <a:avLst/>
          </a:prstGeom>
          <a:noFill/>
          <a:ln/>
        </p:spPr>
        <p:txBody>
          <a:bodyPr wrap="square" lIns="0" tIns="0" rIns="0" bIns="0" rtlCol="0" anchor="ctr"/>
          <a:lstStyle/>
          <a:p>
            <a:pPr marL="0" indent="0" algn="ctr">
              <a:buNone/>
            </a:pPr>
            <a:r>
              <a:rPr lang="en-US" sz="700" b="1" dirty="0">
                <a:solidFill>
                  <a:srgbClr val="0D1B2A"/>
                </a:solidFill>
                <a:latin typeface="Calibri" pitchFamily="34" charset="0"/>
                <a:ea typeface="Calibri" pitchFamily="34" charset="-122"/>
                <a:cs typeface="Calibri" pitchFamily="34" charset="-120"/>
              </a:rPr>
              <a:t>WARN</a:t>
            </a:r>
            <a:endParaRPr lang="en-US" sz="700" dirty="0"/>
          </a:p>
        </p:txBody>
      </p:sp>
      <p:sp>
        <p:nvSpPr>
          <p:cNvPr id="69" name="Text 67"/>
          <p:cNvSpPr/>
          <p:nvPr/>
        </p:nvSpPr>
        <p:spPr>
          <a:xfrm>
            <a:off x="640080" y="4937760"/>
            <a:ext cx="2048256" cy="1828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cash_​agrees_​with_​ledger</a:t>
            </a:r>
            <a:endParaRPr lang="en-US" sz="850" dirty="0"/>
          </a:p>
        </p:txBody>
      </p:sp>
      <p:sp>
        <p:nvSpPr>
          <p:cNvPr id="70" name="Text 68"/>
          <p:cNvSpPr/>
          <p:nvPr/>
        </p:nvSpPr>
        <p:spPr>
          <a:xfrm>
            <a:off x="640080" y="5120640"/>
            <a:ext cx="2048256" cy="182880"/>
          </a:xfrm>
          <a:prstGeom prst="rect">
            <a:avLst/>
          </a:prstGeom>
          <a:noFill/>
          <a:ln/>
        </p:spPr>
        <p:txBody>
          <a:bodyPr wrap="square" lIns="0" tIns="0" rIns="0" bIns="0" rtlCol="0" anchor="ctr"/>
          <a:lstStyle/>
          <a:p>
            <a:pPr marL="0" indent="0">
              <a:buNone/>
            </a:pPr>
            <a:r>
              <a:rPr lang="en-US" sz="780" dirty="0">
                <a:solidFill>
                  <a:srgbClr val="7A94B0"/>
                </a:solidFill>
                <a:latin typeface="Courier New" pitchFamily="34" charset="0"/>
                <a:ea typeface="Courier New" pitchFamily="34" charset="-122"/>
                <a:cs typeface="Courier New" pitchFamily="34" charset="-120"/>
              </a:rPr>
              <a:t>bs.cash == debit_1000 − credit_1000 in trial balance</a:t>
            </a:r>
            <a:endParaRPr lang="en-US" sz="780" dirty="0"/>
          </a:p>
        </p:txBody>
      </p:sp>
      <p:sp>
        <p:nvSpPr>
          <p:cNvPr id="71" name="Shape 69"/>
          <p:cNvSpPr/>
          <p:nvPr/>
        </p:nvSpPr>
        <p:spPr>
          <a:xfrm>
            <a:off x="2871216" y="4700016"/>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72" name="Shape 70"/>
          <p:cNvSpPr/>
          <p:nvPr/>
        </p:nvSpPr>
        <p:spPr>
          <a:xfrm>
            <a:off x="2926080" y="4754880"/>
            <a:ext cx="548640" cy="164592"/>
          </a:xfrm>
          <a:prstGeom prst="roundRect">
            <a:avLst>
              <a:gd name="adj" fmla="val 16667"/>
            </a:avLst>
          </a:prstGeom>
          <a:solidFill>
            <a:srgbClr val="7A94B0"/>
          </a:solidFill>
          <a:ln w="12700">
            <a:solidFill>
              <a:srgbClr val="7A94B0"/>
            </a:solidFill>
            <a:prstDash val="solid"/>
          </a:ln>
        </p:spPr>
        <p:txBody>
          <a:bodyPr/>
          <a:lstStyle/>
          <a:p>
            <a:endParaRPr lang="en-US"/>
          </a:p>
        </p:txBody>
      </p:sp>
      <p:sp>
        <p:nvSpPr>
          <p:cNvPr id="73" name="Text 71"/>
          <p:cNvSpPr/>
          <p:nvPr/>
        </p:nvSpPr>
        <p:spPr>
          <a:xfrm>
            <a:off x="2926080" y="4754880"/>
            <a:ext cx="548640" cy="164592"/>
          </a:xfrm>
          <a:prstGeom prst="rect">
            <a:avLst/>
          </a:prstGeom>
          <a:noFill/>
          <a:ln/>
        </p:spPr>
        <p:txBody>
          <a:bodyPr wrap="square" lIns="0" tIns="0" rIns="0" bIns="0" rtlCol="0" anchor="ctr"/>
          <a:lstStyle/>
          <a:p>
            <a:pPr marL="0" indent="0" algn="ctr">
              <a:buNone/>
            </a:pPr>
            <a:r>
              <a:rPr lang="en-US" sz="700" b="1" dirty="0">
                <a:solidFill>
                  <a:srgbClr val="0D1B2A"/>
                </a:solidFill>
                <a:latin typeface="Calibri" pitchFamily="34" charset="0"/>
                <a:ea typeface="Calibri" pitchFamily="34" charset="-122"/>
                <a:cs typeface="Calibri" pitchFamily="34" charset="-120"/>
              </a:rPr>
              <a:t>OPTIONAL</a:t>
            </a:r>
            <a:endParaRPr lang="en-US" sz="700" dirty="0"/>
          </a:p>
        </p:txBody>
      </p:sp>
      <p:sp>
        <p:nvSpPr>
          <p:cNvPr id="74" name="Text 72"/>
          <p:cNvSpPr/>
          <p:nvPr/>
        </p:nvSpPr>
        <p:spPr>
          <a:xfrm>
            <a:off x="2944368" y="4937760"/>
            <a:ext cx="2048256" cy="1828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bank_​vs_​book_​cash</a:t>
            </a:r>
            <a:endParaRPr lang="en-US" sz="850" dirty="0"/>
          </a:p>
        </p:txBody>
      </p:sp>
      <p:sp>
        <p:nvSpPr>
          <p:cNvPr id="75" name="Text 73"/>
          <p:cNvSpPr/>
          <p:nvPr/>
        </p:nvSpPr>
        <p:spPr>
          <a:xfrm>
            <a:off x="2944368" y="5120640"/>
            <a:ext cx="2048256" cy="182880"/>
          </a:xfrm>
          <a:prstGeom prst="rect">
            <a:avLst/>
          </a:prstGeom>
          <a:noFill/>
          <a:ln/>
        </p:spPr>
        <p:txBody>
          <a:bodyPr wrap="square" lIns="0" tIns="0" rIns="0" bIns="0" rtlCol="0" anchor="ctr"/>
          <a:lstStyle/>
          <a:p>
            <a:pPr marL="0" indent="0">
              <a:buNone/>
            </a:pPr>
            <a:r>
              <a:rPr lang="en-US" sz="780" dirty="0">
                <a:solidFill>
                  <a:srgbClr val="7A94B0"/>
                </a:solidFill>
                <a:latin typeface="Courier New" pitchFamily="34" charset="0"/>
                <a:ea typeface="Courier New" pitchFamily="34" charset="-122"/>
                <a:cs typeface="Courier New" pitchFamily="34" charset="-120"/>
              </a:rPr>
              <a:t>book_cash + deposits_in_transit − outstanding_cheques == bank_balance</a:t>
            </a:r>
            <a:endParaRPr lang="en-US" sz="780" dirty="0"/>
          </a:p>
        </p:txBody>
      </p:sp>
      <p:sp>
        <p:nvSpPr>
          <p:cNvPr id="76" name="Shape 74"/>
          <p:cNvSpPr/>
          <p:nvPr/>
        </p:nvSpPr>
        <p:spPr>
          <a:xfrm>
            <a:off x="5175504" y="4700016"/>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77" name="Shape 75"/>
          <p:cNvSpPr/>
          <p:nvPr/>
        </p:nvSpPr>
        <p:spPr>
          <a:xfrm>
            <a:off x="5230368" y="4754880"/>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78" name="Text 76"/>
          <p:cNvSpPr/>
          <p:nvPr/>
        </p:nvSpPr>
        <p:spPr>
          <a:xfrm>
            <a:off x="5230368" y="4754880"/>
            <a:ext cx="548640" cy="164592"/>
          </a:xfrm>
          <a:prstGeom prst="rect">
            <a:avLst/>
          </a:prstGeom>
          <a:noFill/>
          <a:ln/>
        </p:spPr>
        <p:txBody>
          <a:bodyPr wrap="square" lIns="0" tIns="0" rIns="0" bIns="0" rtlCol="0" anchor="ctr"/>
          <a:lstStyle/>
          <a:p>
            <a:pPr marL="0" indent="0" algn="ctr">
              <a:buNone/>
            </a:pPr>
            <a:r>
              <a:rPr lang="en-US" sz="700" b="1" dirty="0">
                <a:solidFill>
                  <a:srgbClr val="0D1B2A"/>
                </a:solidFill>
                <a:latin typeface="Calibri" pitchFamily="34" charset="0"/>
                <a:ea typeface="Calibri" pitchFamily="34" charset="-122"/>
                <a:cs typeface="Calibri" pitchFamily="34" charset="-120"/>
              </a:rPr>
              <a:t>CRITICAL</a:t>
            </a:r>
            <a:endParaRPr lang="en-US" sz="700" dirty="0"/>
          </a:p>
        </p:txBody>
      </p:sp>
      <p:sp>
        <p:nvSpPr>
          <p:cNvPr id="79" name="Text 77"/>
          <p:cNvSpPr/>
          <p:nvPr/>
        </p:nvSpPr>
        <p:spPr>
          <a:xfrm>
            <a:off x="5248656" y="4937760"/>
            <a:ext cx="2048256" cy="182880"/>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journal_​entry_​count_​nonzero</a:t>
            </a:r>
            <a:endParaRPr lang="en-US" sz="850" dirty="0"/>
          </a:p>
        </p:txBody>
      </p:sp>
      <p:sp>
        <p:nvSpPr>
          <p:cNvPr id="80" name="Text 78"/>
          <p:cNvSpPr/>
          <p:nvPr/>
        </p:nvSpPr>
        <p:spPr>
          <a:xfrm>
            <a:off x="5248656" y="5120640"/>
            <a:ext cx="2048256" cy="182880"/>
          </a:xfrm>
          <a:prstGeom prst="rect">
            <a:avLst/>
          </a:prstGeom>
          <a:noFill/>
          <a:ln/>
        </p:spPr>
        <p:txBody>
          <a:bodyPr wrap="square" lIns="0" tIns="0" rIns="0" bIns="0" rtlCol="0" anchor="ctr"/>
          <a:lstStyle/>
          <a:p>
            <a:pPr marL="0" indent="0">
              <a:buNone/>
            </a:pPr>
            <a:r>
              <a:rPr lang="en-US" sz="780" dirty="0">
                <a:solidFill>
                  <a:srgbClr val="7A94B0"/>
                </a:solidFill>
                <a:latin typeface="Courier New" pitchFamily="34" charset="0"/>
                <a:ea typeface="Courier New" pitchFamily="34" charset="-122"/>
                <a:cs typeface="Courier New" pitchFamily="34" charset="-120"/>
              </a:rPr>
              <a:t>journal_entry_count &gt; 0</a:t>
            </a:r>
            <a:endParaRPr lang="en-US" sz="780" dirty="0"/>
          </a:p>
        </p:txBody>
      </p:sp>
      <p:sp>
        <p:nvSpPr>
          <p:cNvPr id="81" name="Shape 79"/>
          <p:cNvSpPr/>
          <p:nvPr/>
        </p:nvSpPr>
        <p:spPr>
          <a:xfrm>
            <a:off x="7498080" y="2852928"/>
            <a:ext cx="4315968" cy="1261872"/>
          </a:xfrm>
          <a:prstGeom prst="roundRect">
            <a:avLst>
              <a:gd name="adj" fmla="val 5797"/>
            </a:avLst>
          </a:prstGeom>
          <a:solidFill>
            <a:srgbClr val="1B2E45"/>
          </a:solidFill>
          <a:ln w="12700">
            <a:solidFill>
              <a:srgbClr val="243B55"/>
            </a:solidFill>
            <a:prstDash val="solid"/>
          </a:ln>
        </p:spPr>
        <p:txBody>
          <a:bodyPr/>
          <a:lstStyle/>
          <a:p>
            <a:endParaRPr lang="en-US"/>
          </a:p>
        </p:txBody>
      </p:sp>
      <p:sp>
        <p:nvSpPr>
          <p:cNvPr id="82" name="Text 80"/>
          <p:cNvSpPr/>
          <p:nvPr/>
        </p:nvSpPr>
        <p:spPr>
          <a:xfrm>
            <a:off x="7662672" y="2907792"/>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IDEMPOTENCY LOCK</a:t>
            </a:r>
            <a:endParaRPr lang="en-US" sz="900" dirty="0"/>
          </a:p>
        </p:txBody>
      </p:sp>
      <p:sp>
        <p:nvSpPr>
          <p:cNvPr id="83" name="Text 81"/>
          <p:cNvSpPr/>
          <p:nvPr/>
        </p:nvSpPr>
        <p:spPr>
          <a:xfrm>
            <a:off x="7662672" y="3200400"/>
            <a:ext cx="4023360" cy="292608"/>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  </a:t>
            </a:r>
            <a:r>
              <a:rPr lang="en-US" sz="1000" dirty="0">
                <a:solidFill>
                  <a:srgbClr val="D6E4F0"/>
                </a:solidFill>
                <a:latin typeface="Calibri" pitchFamily="34" charset="0"/>
                <a:ea typeface="Calibri" pitchFamily="34" charset="-122"/>
                <a:cs typeface="Calibri" pitchFamily="34" charset="-120"/>
              </a:rPr>
              <a:t>Conditional PutItem on SK=reconciliation_lock</a:t>
            </a:r>
            <a:endParaRPr lang="en-US" sz="1000" dirty="0"/>
          </a:p>
        </p:txBody>
      </p:sp>
      <p:sp>
        <p:nvSpPr>
          <p:cNvPr id="84" name="Text 82"/>
          <p:cNvSpPr/>
          <p:nvPr/>
        </p:nvSpPr>
        <p:spPr>
          <a:xfrm>
            <a:off x="7662672" y="3493008"/>
            <a:ext cx="4023360" cy="292608"/>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  </a:t>
            </a:r>
            <a:r>
              <a:rPr lang="en-US" sz="1000" dirty="0">
                <a:solidFill>
                  <a:srgbClr val="D6E4F0"/>
                </a:solidFill>
                <a:latin typeface="Calibri" pitchFamily="34" charset="0"/>
                <a:ea typeface="Calibri" pitchFamily="34" charset="-122"/>
                <a:cs typeface="Calibri" pitchFamily="34" charset="-120"/>
              </a:rPr>
              <a:t>expires_at = now + 900s — prevents duplicate Bedrock calls</a:t>
            </a:r>
            <a:endParaRPr lang="en-US" sz="1000" dirty="0"/>
          </a:p>
        </p:txBody>
      </p:sp>
      <p:sp>
        <p:nvSpPr>
          <p:cNvPr id="85" name="Text 83"/>
          <p:cNvSpPr/>
          <p:nvPr/>
        </p:nvSpPr>
        <p:spPr>
          <a:xfrm>
            <a:off x="7662672" y="3785616"/>
            <a:ext cx="4023360" cy="292608"/>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  </a:t>
            </a:r>
            <a:r>
              <a:rPr lang="en-US" sz="1000" dirty="0">
                <a:solidFill>
                  <a:srgbClr val="D6E4F0"/>
                </a:solidFill>
                <a:latin typeface="Calibri" pitchFamily="34" charset="0"/>
                <a:ea typeface="Calibri" pitchFamily="34" charset="-122"/>
                <a:cs typeface="Calibri" pitchFamily="34" charset="-120"/>
              </a:rPr>
              <a:t>Existing result returned immediately (durable dedup)</a:t>
            </a:r>
            <a:endParaRPr lang="en-US" sz="1000" dirty="0"/>
          </a:p>
        </p:txBody>
      </p:sp>
      <p:sp>
        <p:nvSpPr>
          <p:cNvPr id="86" name="Text 84"/>
          <p:cNvSpPr/>
          <p:nvPr/>
        </p:nvSpPr>
        <p:spPr>
          <a:xfrm>
            <a:off x="7662672" y="4078224"/>
            <a:ext cx="4023360" cy="292608"/>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  </a:t>
            </a:r>
            <a:r>
              <a:rPr lang="en-US" sz="1000" dirty="0">
                <a:solidFill>
                  <a:srgbClr val="D6E4F0"/>
                </a:solidFill>
                <a:latin typeface="Calibri" pitchFamily="34" charset="0"/>
                <a:ea typeface="Calibri" pitchFamily="34" charset="-122"/>
                <a:cs typeface="Calibri" pitchFamily="34" charset="-120"/>
              </a:rPr>
              <a:t>Lock released on exception → allows retry</a:t>
            </a:r>
            <a:endParaRPr lang="en-US" sz="1000" dirty="0"/>
          </a:p>
        </p:txBody>
      </p:sp>
      <p:sp>
        <p:nvSpPr>
          <p:cNvPr id="87" name="Shape 85"/>
          <p:cNvSpPr/>
          <p:nvPr/>
        </p:nvSpPr>
        <p:spPr>
          <a:xfrm>
            <a:off x="7498080" y="4187952"/>
            <a:ext cx="4315968" cy="1371600"/>
          </a:xfrm>
          <a:prstGeom prst="roundRect">
            <a:avLst>
              <a:gd name="adj" fmla="val 5333"/>
            </a:avLst>
          </a:prstGeom>
          <a:solidFill>
            <a:srgbClr val="1B2E45"/>
          </a:solidFill>
          <a:ln w="12700">
            <a:solidFill>
              <a:srgbClr val="243B55"/>
            </a:solidFill>
            <a:prstDash val="solid"/>
          </a:ln>
        </p:spPr>
        <p:txBody>
          <a:bodyPr/>
          <a:lstStyle/>
          <a:p>
            <a:endParaRPr lang="en-US"/>
          </a:p>
        </p:txBody>
      </p:sp>
      <p:sp>
        <p:nvSpPr>
          <p:cNvPr id="88" name="Text 86"/>
          <p:cNvSpPr/>
          <p:nvPr/>
        </p:nvSpPr>
        <p:spPr>
          <a:xfrm>
            <a:off x="7662672" y="4242816"/>
            <a:ext cx="4572000" cy="256032"/>
          </a:xfrm>
          <a:prstGeom prst="rect">
            <a:avLst/>
          </a:prstGeom>
          <a:noFill/>
          <a:ln/>
        </p:spPr>
        <p:txBody>
          <a:bodyPr wrap="square" lIns="0" tIns="0" rIns="0" bIns="0" rtlCol="0" anchor="ctr"/>
          <a:lstStyle/>
          <a:p>
            <a:pPr marL="0" indent="0">
              <a:buNone/>
            </a:pPr>
            <a:r>
              <a:rPr lang="en-US" sz="900" b="1" kern="0" spc="300" dirty="0">
                <a:solidFill>
                  <a:srgbClr val="FF9F40"/>
                </a:solidFill>
                <a:latin typeface="Calibri" pitchFamily="34" charset="0"/>
                <a:ea typeface="Calibri" pitchFamily="34" charset="-122"/>
                <a:cs typeface="Calibri" pitchFamily="34" charset="-120"/>
              </a:rPr>
              <a:t>STRANDS INVESTIGATION (FAIL path only)</a:t>
            </a:r>
            <a:endParaRPr lang="en-US" sz="900" dirty="0"/>
          </a:p>
        </p:txBody>
      </p:sp>
      <p:sp>
        <p:nvSpPr>
          <p:cNvPr id="89" name="Text 87"/>
          <p:cNvSpPr/>
          <p:nvPr/>
        </p:nvSpPr>
        <p:spPr>
          <a:xfrm>
            <a:off x="7662672" y="4535424"/>
            <a:ext cx="4023360" cy="292608"/>
          </a:xfrm>
          <a:prstGeom prst="rect">
            <a:avLst/>
          </a:prstGeom>
          <a:noFill/>
          <a:ln/>
        </p:spPr>
        <p:txBody>
          <a:bodyPr wrap="square" lIns="0" tIns="0" rIns="0" bIns="0" rtlCol="0" anchor="ctr"/>
          <a:lstStyle/>
          <a:p>
            <a:pPr marL="0" indent="0">
              <a:buNone/>
            </a:pPr>
            <a:r>
              <a:rPr lang="en-US" sz="980" b="1" dirty="0">
                <a:solidFill>
                  <a:srgbClr val="FF9F40"/>
                </a:solidFill>
                <a:latin typeface="Calibri" pitchFamily="34" charset="0"/>
                <a:ea typeface="Calibri" pitchFamily="34" charset="-122"/>
                <a:cs typeface="Calibri" pitchFamily="34" charset="-120"/>
              </a:rPr>
              <a:t>▸  </a:t>
            </a:r>
            <a:r>
              <a:rPr lang="en-US" sz="980" dirty="0">
                <a:solidFill>
                  <a:srgbClr val="D6E4F0"/>
                </a:solidFill>
                <a:latin typeface="Calibri" pitchFamily="34" charset="0"/>
                <a:ea typeface="Calibri" pitchFamily="34" charset="-122"/>
                <a:cs typeface="Calibri" pitchFamily="34" charset="-120"/>
              </a:rPr>
              <a:t>get_chart_of_accounts — orient before investigating</a:t>
            </a:r>
            <a:endParaRPr lang="en-US" sz="980" dirty="0"/>
          </a:p>
        </p:txBody>
      </p:sp>
      <p:sp>
        <p:nvSpPr>
          <p:cNvPr id="90" name="Text 88"/>
          <p:cNvSpPr/>
          <p:nvPr/>
        </p:nvSpPr>
        <p:spPr>
          <a:xfrm>
            <a:off x="7662672" y="4828032"/>
            <a:ext cx="4023360" cy="292608"/>
          </a:xfrm>
          <a:prstGeom prst="rect">
            <a:avLst/>
          </a:prstGeom>
          <a:noFill/>
          <a:ln/>
        </p:spPr>
        <p:txBody>
          <a:bodyPr wrap="square" lIns="0" tIns="0" rIns="0" bIns="0" rtlCol="0" anchor="ctr"/>
          <a:lstStyle/>
          <a:p>
            <a:pPr marL="0" indent="0">
              <a:buNone/>
            </a:pPr>
            <a:r>
              <a:rPr lang="en-US" sz="980" b="1" dirty="0">
                <a:solidFill>
                  <a:srgbClr val="FF9F40"/>
                </a:solidFill>
                <a:latin typeface="Calibri" pitchFamily="34" charset="0"/>
                <a:ea typeface="Calibri" pitchFamily="34" charset="-122"/>
                <a:cs typeface="Calibri" pitchFamily="34" charset="-120"/>
              </a:rPr>
              <a:t>▸  </a:t>
            </a:r>
            <a:r>
              <a:rPr lang="en-US" sz="980" dirty="0">
                <a:solidFill>
                  <a:srgbClr val="D6E4F0"/>
                </a:solidFill>
                <a:latin typeface="Calibri" pitchFamily="34" charset="0"/>
                <a:ea typeface="Calibri" pitchFamily="34" charset="-122"/>
                <a:cs typeface="Calibri" pitchFamily="34" charset="-120"/>
              </a:rPr>
              <a:t>get_account_postings — find which entries broke a check</a:t>
            </a:r>
            <a:endParaRPr lang="en-US" sz="980" dirty="0"/>
          </a:p>
        </p:txBody>
      </p:sp>
      <p:sp>
        <p:nvSpPr>
          <p:cNvPr id="91" name="Text 89"/>
          <p:cNvSpPr/>
          <p:nvPr/>
        </p:nvSpPr>
        <p:spPr>
          <a:xfrm>
            <a:off x="7662672" y="5120640"/>
            <a:ext cx="4023360" cy="292608"/>
          </a:xfrm>
          <a:prstGeom prst="rect">
            <a:avLst/>
          </a:prstGeom>
          <a:noFill/>
          <a:ln/>
        </p:spPr>
        <p:txBody>
          <a:bodyPr wrap="square" lIns="0" tIns="0" rIns="0" bIns="0" rtlCol="0" anchor="ctr"/>
          <a:lstStyle/>
          <a:p>
            <a:pPr marL="0" indent="0">
              <a:buNone/>
            </a:pPr>
            <a:r>
              <a:rPr lang="en-US" sz="980" b="1" dirty="0">
                <a:solidFill>
                  <a:srgbClr val="FF9F40"/>
                </a:solidFill>
                <a:latin typeface="Calibri" pitchFamily="34" charset="0"/>
                <a:ea typeface="Calibri" pitchFamily="34" charset="-122"/>
                <a:cs typeface="Calibri" pitchFamily="34" charset="-120"/>
              </a:rPr>
              <a:t>▸  </a:t>
            </a:r>
            <a:r>
              <a:rPr lang="en-US" sz="980" dirty="0">
                <a:solidFill>
                  <a:srgbClr val="D6E4F0"/>
                </a:solidFill>
                <a:latin typeface="Calibri" pitchFamily="34" charset="0"/>
                <a:ea typeface="Calibri" pitchFamily="34" charset="-122"/>
                <a:cs typeface="Calibri" pitchFamily="34" charset="-120"/>
              </a:rPr>
              <a:t>get_unmatched_bank_lines — explain bank difference</a:t>
            </a:r>
            <a:endParaRPr lang="en-US" sz="980" dirty="0"/>
          </a:p>
        </p:txBody>
      </p:sp>
      <p:sp>
        <p:nvSpPr>
          <p:cNvPr id="92" name="Text 90"/>
          <p:cNvSpPr/>
          <p:nvPr/>
        </p:nvSpPr>
        <p:spPr>
          <a:xfrm>
            <a:off x="7662672" y="5413248"/>
            <a:ext cx="4023360" cy="292608"/>
          </a:xfrm>
          <a:prstGeom prst="rect">
            <a:avLst/>
          </a:prstGeom>
          <a:noFill/>
          <a:ln/>
        </p:spPr>
        <p:txBody>
          <a:bodyPr wrap="square" lIns="0" tIns="0" rIns="0" bIns="0" rtlCol="0" anchor="ctr"/>
          <a:lstStyle/>
          <a:p>
            <a:pPr marL="0" indent="0">
              <a:buNone/>
            </a:pPr>
            <a:r>
              <a:rPr lang="en-US" sz="980" b="1" dirty="0">
                <a:solidFill>
                  <a:srgbClr val="FF9F40"/>
                </a:solidFill>
                <a:latin typeface="Calibri" pitchFamily="34" charset="0"/>
                <a:ea typeface="Calibri" pitchFamily="34" charset="-122"/>
                <a:cs typeface="Calibri" pitchFamily="34" charset="-120"/>
              </a:rPr>
              <a:t>▸  </a:t>
            </a:r>
            <a:r>
              <a:rPr lang="en-US" sz="980" dirty="0">
                <a:solidFill>
                  <a:srgbClr val="D6E4F0"/>
                </a:solidFill>
                <a:latin typeface="Calibri" pitchFamily="34" charset="0"/>
                <a:ea typeface="Calibri" pitchFamily="34" charset="-122"/>
                <a:cs typeface="Calibri" pitchFamily="34" charset="-120"/>
              </a:rPr>
              <a:t>Budget: MAX_TOOL_CALLS (default 4) to cap Bedrock cost</a:t>
            </a:r>
            <a:endParaRPr lang="en-US" sz="980" dirty="0"/>
          </a:p>
        </p:txBody>
      </p:sp>
      <p:sp>
        <p:nvSpPr>
          <p:cNvPr id="93" name="Text 91"/>
          <p:cNvSpPr/>
          <p:nvPr/>
        </p:nvSpPr>
        <p:spPr>
          <a:xfrm>
            <a:off x="7662672" y="5705856"/>
            <a:ext cx="4023360" cy="292608"/>
          </a:xfrm>
          <a:prstGeom prst="rect">
            <a:avLst/>
          </a:prstGeom>
          <a:noFill/>
          <a:ln/>
        </p:spPr>
        <p:txBody>
          <a:bodyPr wrap="square" lIns="0" tIns="0" rIns="0" bIns="0" rtlCol="0" anchor="ctr"/>
          <a:lstStyle/>
          <a:p>
            <a:pPr marL="0" indent="0">
              <a:buNone/>
            </a:pPr>
            <a:r>
              <a:rPr lang="en-US" sz="980" b="1" dirty="0">
                <a:solidFill>
                  <a:srgbClr val="FF9F40"/>
                </a:solidFill>
                <a:latin typeface="Calibri" pitchFamily="34" charset="0"/>
                <a:ea typeface="Calibri" pitchFamily="34" charset="-122"/>
                <a:cs typeface="Calibri" pitchFamily="34" charset="-120"/>
              </a:rPr>
              <a:t>▸  </a:t>
            </a:r>
            <a:r>
              <a:rPr lang="en-US" sz="980" dirty="0">
                <a:solidFill>
                  <a:srgbClr val="D6E4F0"/>
                </a:solidFill>
                <a:latin typeface="Calibri" pitchFamily="34" charset="0"/>
                <a:ea typeface="Calibri" pitchFamily="34" charset="-122"/>
                <a:cs typeface="Calibri" pitchFamily="34" charset="-120"/>
              </a:rPr>
              <a:t>PASS path → simple narrative, no tools, ~$0.02/run</a:t>
            </a:r>
            <a:endParaRPr lang="en-US" sz="980" dirty="0"/>
          </a:p>
        </p:txBody>
      </p:sp>
      <p:sp>
        <p:nvSpPr>
          <p:cNvPr id="94" name="Shape 92"/>
          <p:cNvSpPr/>
          <p:nvPr/>
        </p:nvSpPr>
        <p:spPr>
          <a:xfrm>
            <a:off x="411480" y="5614416"/>
            <a:ext cx="11356848" cy="621792"/>
          </a:xfrm>
          <a:prstGeom prst="roundRect">
            <a:avLst>
              <a:gd name="adj" fmla="val 11765"/>
            </a:avLst>
          </a:prstGeom>
          <a:solidFill>
            <a:srgbClr val="1B2E45"/>
          </a:solidFill>
          <a:ln w="12700">
            <a:solidFill>
              <a:srgbClr val="243B55"/>
            </a:solidFill>
            <a:prstDash val="solid"/>
          </a:ln>
        </p:spPr>
        <p:txBody>
          <a:bodyPr/>
          <a:lstStyle/>
          <a:p>
            <a:endParaRPr lang="en-US"/>
          </a:p>
        </p:txBody>
      </p:sp>
      <p:sp>
        <p:nvSpPr>
          <p:cNvPr id="95" name="Shape 93"/>
          <p:cNvSpPr/>
          <p:nvPr/>
        </p:nvSpPr>
        <p:spPr>
          <a:xfrm>
            <a:off x="566928" y="5705856"/>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96" name="Text 94"/>
          <p:cNvSpPr/>
          <p:nvPr/>
        </p:nvSpPr>
        <p:spPr>
          <a:xfrm>
            <a:off x="566928" y="5705856"/>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INPUT</a:t>
            </a:r>
            <a:endParaRPr lang="en-US" sz="850" dirty="0"/>
          </a:p>
        </p:txBody>
      </p:sp>
      <p:sp>
        <p:nvSpPr>
          <p:cNvPr id="97" name="Text 95"/>
          <p:cNvSpPr/>
          <p:nvPr/>
        </p:nvSpPr>
        <p:spPr>
          <a:xfrm>
            <a:off x="1298448" y="5669280"/>
            <a:ext cx="461772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 run_id }  +  reads trial_balance · pnl · balance_sheet from auditai-ledger  +  optional bank statement from auditai-documents</a:t>
            </a:r>
            <a:endParaRPr lang="en-US" sz="1100" dirty="0"/>
          </a:p>
        </p:txBody>
      </p:sp>
      <p:sp>
        <p:nvSpPr>
          <p:cNvPr id="98" name="Shape 96"/>
          <p:cNvSpPr/>
          <p:nvPr/>
        </p:nvSpPr>
        <p:spPr>
          <a:xfrm>
            <a:off x="6217920" y="5705856"/>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99" name="Text 97"/>
          <p:cNvSpPr/>
          <p:nvPr/>
        </p:nvSpPr>
        <p:spPr>
          <a:xfrm>
            <a:off x="6217920" y="5705856"/>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100" name="Text 98"/>
          <p:cNvSpPr/>
          <p:nvPr/>
        </p:nvSpPr>
        <p:spPr>
          <a:xfrm>
            <a:off x="6949440" y="5669280"/>
            <a:ext cx="461772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auditai-ledger SK=reconciliation  →  { status: PASS|FAIL, checks[], exceptions[], narrative, reconciliation (bank recon or SKIPPED) }</a:t>
            </a:r>
            <a:endParaRPr lang="en-US" sz="1100" dirty="0"/>
          </a:p>
        </p:txBody>
      </p:sp>
      <p:sp>
        <p:nvSpPr>
          <p:cNvPr id="101" name="Text 99"/>
          <p:cNvSpPr/>
          <p:nvPr/>
        </p:nvSpPr>
        <p:spPr>
          <a:xfrm>
            <a:off x="411480" y="6355080"/>
            <a:ext cx="11338560" cy="256032"/>
          </a:xfrm>
          <a:prstGeom prst="rect">
            <a:avLst/>
          </a:prstGeom>
          <a:noFill/>
          <a:ln/>
        </p:spPr>
        <p:txBody>
          <a:bodyPr wrap="square" rtlCol="0" anchor="ctr"/>
          <a:lstStyle/>
          <a:p>
            <a:pPr marL="0" indent="0">
              <a:buNone/>
            </a:pPr>
            <a:r>
              <a:rPr lang="en-US" sz="1000" dirty="0">
                <a:solidFill>
                  <a:srgbClr val="7A94B0"/>
                </a:solidFill>
                <a:latin typeface="Calibri" pitchFamily="34" charset="0"/>
                <a:ea typeface="Calibri" pitchFamily="34" charset="-122"/>
                <a:cs typeface="Calibri" pitchFamily="34" charset="-120"/>
              </a:rPr>
              <a:t>bank_vs_book_cash check SKIPPED if no bank statement exists — disclosed in narrative, not counted as failure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dirty="0">
                <a:solidFill>
                  <a:srgbClr val="0D1B2A"/>
                </a:solidFill>
                <a:latin typeface="Calibri" pitchFamily="34" charset="0"/>
                <a:ea typeface="Calibri" pitchFamily="34" charset="-122"/>
                <a:cs typeface="Calibri" pitchFamily="34" charset="-120"/>
              </a:rPr>
              <a:t>08</a:t>
            </a:r>
            <a:endParaRPr lang="en-US" sz="1400" dirty="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dirty="0">
                <a:solidFill>
                  <a:srgbClr val="7EC8E3"/>
                </a:solidFill>
                <a:latin typeface="Calibri" pitchFamily="34" charset="0"/>
                <a:ea typeface="Calibri" pitchFamily="34" charset="-122"/>
                <a:cs typeface="Calibri" pitchFamily="34" charset="-120"/>
              </a:rPr>
              <a:t>RESULTS API</a:t>
            </a:r>
            <a:endParaRPr lang="en-US" sz="1100" dirty="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Results API</a:t>
            </a:r>
            <a:endParaRPr lang="en-US" sz="3600" dirty="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dirty="0">
                <a:solidFill>
                  <a:srgbClr val="7A94B0"/>
                </a:solidFill>
                <a:latin typeface="Calibri" pitchFamily="34" charset="0"/>
                <a:ea typeface="Calibri" pitchFamily="34" charset="-122"/>
                <a:cs typeface="Calibri" pitchFamily="34" charset="-120"/>
              </a:rPr>
              <a:t>Returns the latest completed pipeline result for a given financial year and quarter</a:t>
            </a:r>
            <a:endParaRPr lang="en-US" sz="1500" dirty="0"/>
          </a:p>
        </p:txBody>
      </p:sp>
      <p:sp>
        <p:nvSpPr>
          <p:cNvPr id="8" name="Shape 6"/>
          <p:cNvSpPr/>
          <p:nvPr/>
        </p:nvSpPr>
        <p:spPr>
          <a:xfrm>
            <a:off x="411480" y="1901952"/>
            <a:ext cx="5394960" cy="2267712"/>
          </a:xfrm>
          <a:prstGeom prst="roundRect">
            <a:avLst>
              <a:gd name="adj" fmla="val 3226"/>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dirty="0">
                <a:solidFill>
                  <a:srgbClr val="7EC8E3"/>
                </a:solidFill>
                <a:latin typeface="Calibri" pitchFamily="34" charset="0"/>
                <a:ea typeface="Calibri" pitchFamily="34" charset="-122"/>
                <a:cs typeface="Calibri" pitchFamily="34" charset="-120"/>
              </a:rPr>
              <a:t>PURPOSE &amp; LOGIC</a:t>
            </a:r>
            <a:endParaRPr lang="en-US" sz="900" dirty="0"/>
          </a:p>
        </p:txBody>
      </p:sp>
      <p:sp>
        <p:nvSpPr>
          <p:cNvPr id="10" name="Text 8"/>
          <p:cNvSpPr/>
          <p:nvPr/>
        </p:nvSpPr>
        <p:spPr>
          <a:xfrm>
            <a:off x="566928" y="2249424"/>
            <a:ext cx="5120640"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Exposed via API Gateway → Lambda → DynamoDB Scan</a:t>
            </a:r>
            <a:endParaRPr lang="en-US" sz="1150" dirty="0"/>
          </a:p>
        </p:txBody>
      </p:sp>
      <p:sp>
        <p:nvSpPr>
          <p:cNvPr id="11" name="Text 9"/>
          <p:cNvSpPr/>
          <p:nvPr/>
        </p:nvSpPr>
        <p:spPr>
          <a:xfrm>
            <a:off x="566928" y="2542032"/>
            <a:ext cx="5120640"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Accepts { financial_year, quarter } e.g. { 2026, "Q4" }</a:t>
            </a:r>
            <a:endParaRPr lang="en-US" sz="1150" dirty="0"/>
          </a:p>
        </p:txBody>
      </p:sp>
      <p:sp>
        <p:nvSpPr>
          <p:cNvPr id="12" name="Text 10"/>
          <p:cNvSpPr/>
          <p:nvPr/>
        </p:nvSpPr>
        <p:spPr>
          <a:xfrm>
            <a:off x="566928" y="2834640"/>
            <a:ext cx="5120640"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Builds prefix = "{year}-{quarter}" (e.g. "2026-Q4")</a:t>
            </a:r>
            <a:endParaRPr lang="en-US" sz="1150" dirty="0"/>
          </a:p>
        </p:txBody>
      </p:sp>
      <p:sp>
        <p:nvSpPr>
          <p:cNvPr id="13" name="Text 11"/>
          <p:cNvSpPr/>
          <p:nvPr/>
        </p:nvSpPr>
        <p:spPr>
          <a:xfrm>
            <a:off x="566928" y="3127248"/>
            <a:ext cx="5120640"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Scans auditai-output for run_id begins_with prefix</a:t>
            </a:r>
            <a:endParaRPr lang="en-US" sz="1150" dirty="0"/>
          </a:p>
        </p:txBody>
      </p:sp>
      <p:sp>
        <p:nvSpPr>
          <p:cNvPr id="14" name="Text 12"/>
          <p:cNvSpPr/>
          <p:nvPr/>
        </p:nvSpPr>
        <p:spPr>
          <a:xfrm>
            <a:off x="566928" y="3419856"/>
            <a:ext cx="5120640"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Returns item with the latest completed_at timestamp</a:t>
            </a:r>
            <a:endParaRPr lang="en-US" sz="1150" dirty="0"/>
          </a:p>
        </p:txBody>
      </p:sp>
      <p:sp>
        <p:nvSpPr>
          <p:cNvPr id="15" name="Text 13"/>
          <p:cNvSpPr/>
          <p:nvPr/>
        </p:nvSpPr>
        <p:spPr>
          <a:xfrm>
            <a:off x="566928" y="3712464"/>
            <a:ext cx="5120640"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CORS headers on every response — frontend safe</a:t>
            </a:r>
            <a:endParaRPr lang="en-US" sz="1150" dirty="0"/>
          </a:p>
        </p:txBody>
      </p:sp>
      <p:sp>
        <p:nvSpPr>
          <p:cNvPr id="16" name="Text 14"/>
          <p:cNvSpPr/>
          <p:nvPr/>
        </p:nvSpPr>
        <p:spPr>
          <a:xfrm>
            <a:off x="566928" y="4005072"/>
            <a:ext cx="5120640" cy="292608"/>
          </a:xfrm>
          <a:prstGeom prst="rect">
            <a:avLst/>
          </a:prstGeom>
          <a:noFill/>
          <a:ln/>
        </p:spPr>
        <p:txBody>
          <a:bodyPr wrap="square" lIns="0" tIns="0" rIns="0" bIns="0" rtlCol="0" anchor="ctr"/>
          <a:lstStyle/>
          <a:p>
            <a:pPr marL="0" indent="0">
              <a:buNone/>
            </a:pPr>
            <a:r>
              <a:rPr lang="en-US" sz="1150" b="1" dirty="0">
                <a:solidFill>
                  <a:srgbClr val="7EC8E3"/>
                </a:solidFill>
                <a:latin typeface="Calibri" pitchFamily="34" charset="0"/>
                <a:ea typeface="Calibri" pitchFamily="34" charset="-122"/>
                <a:cs typeface="Calibri" pitchFamily="34" charset="-120"/>
              </a:rPr>
              <a:t>▸  </a:t>
            </a:r>
            <a:r>
              <a:rPr lang="en-US" sz="1150" dirty="0">
                <a:solidFill>
                  <a:srgbClr val="D6E4F0"/>
                </a:solidFill>
                <a:latin typeface="Calibri" pitchFamily="34" charset="0"/>
                <a:ea typeface="Calibri" pitchFamily="34" charset="-122"/>
                <a:cs typeface="Calibri" pitchFamily="34" charset="-120"/>
              </a:rPr>
              <a:t>HTTP 404 if no records found for that prefix</a:t>
            </a:r>
            <a:endParaRPr lang="en-US" sz="1150" dirty="0"/>
          </a:p>
        </p:txBody>
      </p:sp>
      <p:sp>
        <p:nvSpPr>
          <p:cNvPr id="17" name="Shape 15"/>
          <p:cNvSpPr/>
          <p:nvPr/>
        </p:nvSpPr>
        <p:spPr>
          <a:xfrm>
            <a:off x="411480" y="4242816"/>
            <a:ext cx="5394960" cy="1499616"/>
          </a:xfrm>
          <a:prstGeom prst="roundRect">
            <a:avLst>
              <a:gd name="adj" fmla="val 4878"/>
            </a:avLst>
          </a:prstGeom>
          <a:solidFill>
            <a:srgbClr val="1B2E45"/>
          </a:solidFill>
          <a:ln w="12700">
            <a:solidFill>
              <a:srgbClr val="243B55"/>
            </a:solidFill>
            <a:prstDash val="solid"/>
          </a:ln>
        </p:spPr>
        <p:txBody>
          <a:bodyPr/>
          <a:lstStyle/>
          <a:p>
            <a:endParaRPr lang="en-US"/>
          </a:p>
        </p:txBody>
      </p:sp>
      <p:sp>
        <p:nvSpPr>
          <p:cNvPr id="18" name="Text 16"/>
          <p:cNvSpPr/>
          <p:nvPr/>
        </p:nvSpPr>
        <p:spPr>
          <a:xfrm>
            <a:off x="566928" y="4297680"/>
            <a:ext cx="4572000" cy="256032"/>
          </a:xfrm>
          <a:prstGeom prst="rect">
            <a:avLst/>
          </a:prstGeom>
          <a:noFill/>
          <a:ln/>
        </p:spPr>
        <p:txBody>
          <a:bodyPr wrap="square" lIns="0" tIns="0" rIns="0" bIns="0" rtlCol="0" anchor="ctr"/>
          <a:lstStyle/>
          <a:p>
            <a:pPr marL="0" indent="0">
              <a:buNone/>
            </a:pPr>
            <a:r>
              <a:rPr lang="en-US" sz="900" b="1" kern="0" spc="300" dirty="0">
                <a:solidFill>
                  <a:srgbClr val="00C9A7"/>
                </a:solidFill>
                <a:latin typeface="Calibri" pitchFamily="34" charset="0"/>
                <a:ea typeface="Calibri" pitchFamily="34" charset="-122"/>
                <a:cs typeface="Calibri" pitchFamily="34" charset="-120"/>
              </a:rPr>
              <a:t>FINAL OUTPUT STRUCTURE (from auditai-output)</a:t>
            </a:r>
            <a:endParaRPr lang="en-US" sz="900" dirty="0"/>
          </a:p>
        </p:txBody>
      </p:sp>
      <p:sp>
        <p:nvSpPr>
          <p:cNvPr id="19" name="Text 17"/>
          <p:cNvSpPr/>
          <p:nvPr/>
        </p:nvSpPr>
        <p:spPr>
          <a:xfrm>
            <a:off x="566928" y="4572000"/>
            <a:ext cx="5120640" cy="237744"/>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pipeline_status  </a:t>
            </a:r>
            <a:r>
              <a:rPr lang="en-US" sz="1000" dirty="0">
                <a:solidFill>
                  <a:srgbClr val="D6E4F0"/>
                </a:solidFill>
                <a:latin typeface="Calibri" pitchFamily="34" charset="0"/>
                <a:ea typeface="Calibri" pitchFamily="34" charset="-122"/>
                <a:cs typeface="Calibri" pitchFamily="34" charset="-120"/>
              </a:rPr>
              <a:t>"success" | "awaiting_human_review" | stage_failed</a:t>
            </a:r>
            <a:endParaRPr lang="en-US" sz="1000" dirty="0"/>
          </a:p>
        </p:txBody>
      </p:sp>
      <p:sp>
        <p:nvSpPr>
          <p:cNvPr id="20" name="Text 18"/>
          <p:cNvSpPr/>
          <p:nvPr/>
        </p:nvSpPr>
        <p:spPr>
          <a:xfrm>
            <a:off x="566928" y="4800600"/>
            <a:ext cx="5120640" cy="237744"/>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run_id  </a:t>
            </a:r>
            <a:r>
              <a:rPr lang="en-US" sz="1000" dirty="0">
                <a:solidFill>
                  <a:srgbClr val="D6E4F0"/>
                </a:solidFill>
                <a:latin typeface="Calibri" pitchFamily="34" charset="0"/>
                <a:ea typeface="Calibri" pitchFamily="34" charset="-122"/>
                <a:cs typeface="Calibri" pitchFamily="34" charset="-120"/>
              </a:rPr>
              <a:t>{FY}-{Q}_{original_run_id}_{uuid4}</a:t>
            </a:r>
            <a:endParaRPr lang="en-US" sz="1000" dirty="0"/>
          </a:p>
        </p:txBody>
      </p:sp>
      <p:sp>
        <p:nvSpPr>
          <p:cNvPr id="21" name="Text 19"/>
          <p:cNvSpPr/>
          <p:nvPr/>
        </p:nvSpPr>
        <p:spPr>
          <a:xfrm>
            <a:off x="566928" y="5029200"/>
            <a:ext cx="5120640" cy="237744"/>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completed_at  </a:t>
            </a:r>
            <a:r>
              <a:rPr lang="en-US" sz="1000" dirty="0">
                <a:solidFill>
                  <a:srgbClr val="D6E4F0"/>
                </a:solidFill>
                <a:latin typeface="Calibri" pitchFamily="34" charset="0"/>
                <a:ea typeface="Calibri" pitchFamily="34" charset="-122"/>
                <a:cs typeface="Calibri" pitchFamily="34" charset="-120"/>
              </a:rPr>
              <a:t>ISO 8601 UTC timestamp</a:t>
            </a:r>
            <a:endParaRPr lang="en-US" sz="1000" dirty="0"/>
          </a:p>
        </p:txBody>
      </p:sp>
      <p:sp>
        <p:nvSpPr>
          <p:cNvPr id="22" name="Text 20"/>
          <p:cNvSpPr/>
          <p:nvPr/>
        </p:nvSpPr>
        <p:spPr>
          <a:xfrm>
            <a:off x="566928" y="5257800"/>
            <a:ext cx="5120640" cy="237744"/>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extraction_summary  </a:t>
            </a:r>
            <a:r>
              <a:rPr lang="en-US" sz="1000" dirty="0">
                <a:solidFill>
                  <a:srgbClr val="D6E4F0"/>
                </a:solidFill>
                <a:latin typeface="Calibri" pitchFamily="34" charset="0"/>
                <a:ea typeface="Calibri" pitchFamily="34" charset="-122"/>
                <a:cs typeface="Calibri" pitchFamily="34" charset="-120"/>
              </a:rPr>
              <a:t>doc_id, status, review_reasons, total_amount, currency</a:t>
            </a:r>
            <a:endParaRPr lang="en-US" sz="1000" dirty="0"/>
          </a:p>
        </p:txBody>
      </p:sp>
      <p:sp>
        <p:nvSpPr>
          <p:cNvPr id="23" name="Text 21"/>
          <p:cNvSpPr/>
          <p:nvPr/>
        </p:nvSpPr>
        <p:spPr>
          <a:xfrm>
            <a:off x="566928" y="5486400"/>
            <a:ext cx="5120640" cy="237744"/>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ledger_output  </a:t>
            </a:r>
            <a:r>
              <a:rPr lang="en-US" sz="1000" dirty="0">
                <a:solidFill>
                  <a:srgbClr val="D6E4F0"/>
                </a:solidFill>
                <a:latin typeface="Calibri" pitchFamily="34" charset="0"/>
                <a:ea typeface="Calibri" pitchFamily="34" charset="-122"/>
                <a:cs typeface="Calibri" pitchFamily="34" charset="-120"/>
              </a:rPr>
              <a:t>trial_balance, journal_entry_count, status: "balanced"</a:t>
            </a:r>
            <a:endParaRPr lang="en-US" sz="1000" dirty="0"/>
          </a:p>
        </p:txBody>
      </p:sp>
      <p:sp>
        <p:nvSpPr>
          <p:cNvPr id="24" name="Text 22"/>
          <p:cNvSpPr/>
          <p:nvPr/>
        </p:nvSpPr>
        <p:spPr>
          <a:xfrm>
            <a:off x="566928" y="5715000"/>
            <a:ext cx="5120640" cy="237744"/>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pnl_output  </a:t>
            </a:r>
            <a:r>
              <a:rPr lang="en-US" sz="1000" dirty="0">
                <a:solidFill>
                  <a:srgbClr val="D6E4F0"/>
                </a:solidFill>
                <a:latin typeface="Calibri" pitchFamily="34" charset="0"/>
                <a:ea typeface="Calibri" pitchFamily="34" charset="-122"/>
                <a:cs typeface="Calibri" pitchFamily="34" charset="-120"/>
              </a:rPr>
              <a:t>revenue, cogs, expenses, gross_profit, net_income, period</a:t>
            </a:r>
            <a:endParaRPr lang="en-US" sz="1000" dirty="0"/>
          </a:p>
        </p:txBody>
      </p:sp>
      <p:sp>
        <p:nvSpPr>
          <p:cNvPr id="25" name="Text 23"/>
          <p:cNvSpPr/>
          <p:nvPr/>
        </p:nvSpPr>
        <p:spPr>
          <a:xfrm>
            <a:off x="566928" y="5943600"/>
            <a:ext cx="5120640" cy="237744"/>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balance_sheet_output  </a:t>
            </a:r>
            <a:r>
              <a:rPr lang="en-US" sz="1000" dirty="0">
                <a:solidFill>
                  <a:srgbClr val="D6E4F0"/>
                </a:solidFill>
                <a:latin typeface="Calibri" pitchFamily="34" charset="0"/>
                <a:ea typeface="Calibri" pitchFamily="34" charset="-122"/>
                <a:cs typeface="Calibri" pitchFamily="34" charset="-120"/>
              </a:rPr>
              <a:t>assets, liabilities, equity, total_*, is_balanced</a:t>
            </a:r>
            <a:endParaRPr lang="en-US" sz="1000" dirty="0"/>
          </a:p>
        </p:txBody>
      </p:sp>
      <p:sp>
        <p:nvSpPr>
          <p:cNvPr id="26" name="Text 24"/>
          <p:cNvSpPr/>
          <p:nvPr/>
        </p:nvSpPr>
        <p:spPr>
          <a:xfrm>
            <a:off x="566928" y="6172200"/>
            <a:ext cx="5120640" cy="237744"/>
          </a:xfrm>
          <a:prstGeom prst="rect">
            <a:avLst/>
          </a:prstGeom>
          <a:noFill/>
          <a:ln/>
        </p:spPr>
        <p:txBody>
          <a:bodyPr wrap="square" lIns="0" tIns="0" rIns="0" bIns="0" rtlCol="0" anchor="ctr"/>
          <a:lstStyle/>
          <a:p>
            <a:pPr marL="0" indent="0">
              <a:buNone/>
            </a:pPr>
            <a:r>
              <a:rPr lang="en-US" sz="1000" b="1" dirty="0">
                <a:solidFill>
                  <a:srgbClr val="7EC8E3"/>
                </a:solidFill>
                <a:latin typeface="Calibri" pitchFamily="34" charset="0"/>
                <a:ea typeface="Calibri" pitchFamily="34" charset="-122"/>
                <a:cs typeface="Calibri" pitchFamily="34" charset="-120"/>
              </a:rPr>
              <a:t>reconciliation_output  </a:t>
            </a:r>
            <a:r>
              <a:rPr lang="en-US" sz="1000" dirty="0">
                <a:solidFill>
                  <a:srgbClr val="D6E4F0"/>
                </a:solidFill>
                <a:latin typeface="Calibri" pitchFamily="34" charset="0"/>
                <a:ea typeface="Calibri" pitchFamily="34" charset="-122"/>
                <a:cs typeface="Calibri" pitchFamily="34" charset="-120"/>
              </a:rPr>
              <a:t>status: PASS|FAIL, checks[], narrative, exceptions[]</a:t>
            </a:r>
            <a:endParaRPr lang="en-US" sz="1000" dirty="0"/>
          </a:p>
        </p:txBody>
      </p:sp>
      <p:sp>
        <p:nvSpPr>
          <p:cNvPr id="27" name="Shape 25"/>
          <p:cNvSpPr/>
          <p:nvPr/>
        </p:nvSpPr>
        <p:spPr>
          <a:xfrm>
            <a:off x="5943600" y="1901952"/>
            <a:ext cx="5833872" cy="3840480"/>
          </a:xfrm>
          <a:prstGeom prst="roundRect">
            <a:avLst>
              <a:gd name="adj" fmla="val 1905"/>
            </a:avLst>
          </a:prstGeom>
          <a:solidFill>
            <a:srgbClr val="1B2E45"/>
          </a:solidFill>
          <a:ln w="12700">
            <a:solidFill>
              <a:srgbClr val="243B55"/>
            </a:solidFill>
            <a:prstDash val="solid"/>
          </a:ln>
        </p:spPr>
        <p:txBody>
          <a:bodyPr/>
          <a:lstStyle/>
          <a:p>
            <a:endParaRPr lang="en-US"/>
          </a:p>
        </p:txBody>
      </p:sp>
      <p:sp>
        <p:nvSpPr>
          <p:cNvPr id="28" name="Text 26"/>
          <p:cNvSpPr/>
          <p:nvPr/>
        </p:nvSpPr>
        <p:spPr>
          <a:xfrm>
            <a:off x="6108192" y="1956816"/>
            <a:ext cx="4572000" cy="256032"/>
          </a:xfrm>
          <a:prstGeom prst="rect">
            <a:avLst/>
          </a:prstGeom>
          <a:noFill/>
          <a:ln/>
        </p:spPr>
        <p:txBody>
          <a:bodyPr wrap="square" lIns="0" tIns="0" rIns="0" bIns="0" rtlCol="0" anchor="ctr"/>
          <a:lstStyle/>
          <a:p>
            <a:pPr marL="0" indent="0">
              <a:buNone/>
            </a:pPr>
            <a:r>
              <a:rPr lang="en-US" sz="900" b="1" kern="0" spc="300" dirty="0">
                <a:solidFill>
                  <a:srgbClr val="F5A623"/>
                </a:solidFill>
                <a:latin typeface="Calibri" pitchFamily="34" charset="0"/>
                <a:ea typeface="Calibri" pitchFamily="34" charset="-122"/>
                <a:cs typeface="Calibri" pitchFamily="34" charset="-120"/>
              </a:rPr>
              <a:t>END-TO-END PIPELINE SUMMARY</a:t>
            </a:r>
            <a:endParaRPr lang="en-US" sz="900" dirty="0"/>
          </a:p>
        </p:txBody>
      </p:sp>
      <p:sp>
        <p:nvSpPr>
          <p:cNvPr id="29" name="Shape 27"/>
          <p:cNvSpPr/>
          <p:nvPr/>
        </p:nvSpPr>
        <p:spPr>
          <a:xfrm>
            <a:off x="6144768" y="2322576"/>
            <a:ext cx="310896" cy="310896"/>
          </a:xfrm>
          <a:prstGeom prst="ellipse">
            <a:avLst/>
          </a:prstGeom>
          <a:solidFill>
            <a:srgbClr val="F26B5B"/>
          </a:solidFill>
          <a:ln w="12700">
            <a:solidFill>
              <a:srgbClr val="F26B5B"/>
            </a:solidFill>
            <a:prstDash val="solid"/>
          </a:ln>
        </p:spPr>
        <p:txBody>
          <a:bodyPr/>
          <a:lstStyle/>
          <a:p>
            <a:endParaRPr lang="en-US"/>
          </a:p>
        </p:txBody>
      </p:sp>
      <p:sp>
        <p:nvSpPr>
          <p:cNvPr id="30" name="Text 28"/>
          <p:cNvSpPr/>
          <p:nvPr/>
        </p:nvSpPr>
        <p:spPr>
          <a:xfrm>
            <a:off x="6144768" y="2322576"/>
            <a:ext cx="310896" cy="31089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01</a:t>
            </a:r>
            <a:endParaRPr lang="en-US" sz="850" dirty="0"/>
          </a:p>
        </p:txBody>
      </p:sp>
      <p:sp>
        <p:nvSpPr>
          <p:cNvPr id="31" name="Shape 29"/>
          <p:cNvSpPr/>
          <p:nvPr/>
        </p:nvSpPr>
        <p:spPr>
          <a:xfrm>
            <a:off x="6272784" y="2633472"/>
            <a:ext cx="54864" cy="128016"/>
          </a:xfrm>
          <a:prstGeom prst="rect">
            <a:avLst/>
          </a:prstGeom>
          <a:solidFill>
            <a:srgbClr val="243B55"/>
          </a:solidFill>
          <a:ln w="12700">
            <a:solidFill>
              <a:srgbClr val="243B55"/>
            </a:solidFill>
            <a:prstDash val="solid"/>
          </a:ln>
        </p:spPr>
        <p:txBody>
          <a:bodyPr/>
          <a:lstStyle/>
          <a:p>
            <a:endParaRPr lang="en-US"/>
          </a:p>
        </p:txBody>
      </p:sp>
      <p:sp>
        <p:nvSpPr>
          <p:cNvPr id="32" name="Text 30"/>
          <p:cNvSpPr/>
          <p:nvPr/>
        </p:nvSpPr>
        <p:spPr>
          <a:xfrm>
            <a:off x="6547104" y="2322576"/>
            <a:ext cx="2286000" cy="1828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Upload Agent</a:t>
            </a:r>
            <a:endParaRPr lang="en-US" sz="1100" dirty="0"/>
          </a:p>
        </p:txBody>
      </p:sp>
      <p:sp>
        <p:nvSpPr>
          <p:cNvPr id="33" name="Text 31"/>
          <p:cNvSpPr/>
          <p:nvPr/>
        </p:nvSpPr>
        <p:spPr>
          <a:xfrm>
            <a:off x="6547104" y="2487168"/>
            <a:ext cx="5102352" cy="182880"/>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S3 + auditai-upload</a:t>
            </a:r>
            <a:endParaRPr lang="en-US" sz="950" dirty="0"/>
          </a:p>
        </p:txBody>
      </p:sp>
      <p:sp>
        <p:nvSpPr>
          <p:cNvPr id="34" name="Shape 32"/>
          <p:cNvSpPr/>
          <p:nvPr/>
        </p:nvSpPr>
        <p:spPr>
          <a:xfrm>
            <a:off x="6144768" y="2752344"/>
            <a:ext cx="310896" cy="310896"/>
          </a:xfrm>
          <a:prstGeom prst="ellipse">
            <a:avLst/>
          </a:prstGeom>
          <a:solidFill>
            <a:srgbClr val="F5A623"/>
          </a:solidFill>
          <a:ln w="12700">
            <a:solidFill>
              <a:srgbClr val="F5A623"/>
            </a:solidFill>
            <a:prstDash val="solid"/>
          </a:ln>
        </p:spPr>
        <p:txBody>
          <a:bodyPr/>
          <a:lstStyle/>
          <a:p>
            <a:endParaRPr lang="en-US"/>
          </a:p>
        </p:txBody>
      </p:sp>
      <p:sp>
        <p:nvSpPr>
          <p:cNvPr id="35" name="Text 33"/>
          <p:cNvSpPr/>
          <p:nvPr/>
        </p:nvSpPr>
        <p:spPr>
          <a:xfrm>
            <a:off x="6144768" y="2752344"/>
            <a:ext cx="310896" cy="31089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02</a:t>
            </a:r>
            <a:endParaRPr lang="en-US" sz="850" dirty="0"/>
          </a:p>
        </p:txBody>
      </p:sp>
      <p:sp>
        <p:nvSpPr>
          <p:cNvPr id="36" name="Shape 34"/>
          <p:cNvSpPr/>
          <p:nvPr/>
        </p:nvSpPr>
        <p:spPr>
          <a:xfrm>
            <a:off x="6272784" y="3063240"/>
            <a:ext cx="54864" cy="128016"/>
          </a:xfrm>
          <a:prstGeom prst="rect">
            <a:avLst/>
          </a:prstGeom>
          <a:solidFill>
            <a:srgbClr val="243B55"/>
          </a:solidFill>
          <a:ln w="12700">
            <a:solidFill>
              <a:srgbClr val="243B55"/>
            </a:solidFill>
            <a:prstDash val="solid"/>
          </a:ln>
        </p:spPr>
        <p:txBody>
          <a:bodyPr/>
          <a:lstStyle/>
          <a:p>
            <a:endParaRPr lang="en-US"/>
          </a:p>
        </p:txBody>
      </p:sp>
      <p:sp>
        <p:nvSpPr>
          <p:cNvPr id="37" name="Text 35"/>
          <p:cNvSpPr/>
          <p:nvPr/>
        </p:nvSpPr>
        <p:spPr>
          <a:xfrm>
            <a:off x="6547104" y="2752344"/>
            <a:ext cx="2286000" cy="1828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Runner Agent</a:t>
            </a:r>
            <a:endParaRPr lang="en-US" sz="1100" dirty="0"/>
          </a:p>
        </p:txBody>
      </p:sp>
      <p:sp>
        <p:nvSpPr>
          <p:cNvPr id="38" name="Text 36"/>
          <p:cNvSpPr/>
          <p:nvPr/>
        </p:nvSpPr>
        <p:spPr>
          <a:xfrm>
            <a:off x="6547104" y="2916936"/>
            <a:ext cx="5102352" cy="182880"/>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Orchestrates all lambdas</a:t>
            </a:r>
            <a:endParaRPr lang="en-US" sz="950" dirty="0"/>
          </a:p>
        </p:txBody>
      </p:sp>
      <p:sp>
        <p:nvSpPr>
          <p:cNvPr id="39" name="Shape 37"/>
          <p:cNvSpPr/>
          <p:nvPr/>
        </p:nvSpPr>
        <p:spPr>
          <a:xfrm>
            <a:off x="6144768" y="3182112"/>
            <a:ext cx="310896" cy="310896"/>
          </a:xfrm>
          <a:prstGeom prst="ellipse">
            <a:avLst/>
          </a:prstGeom>
          <a:solidFill>
            <a:srgbClr val="7EC8E3"/>
          </a:solidFill>
          <a:ln w="12700">
            <a:solidFill>
              <a:srgbClr val="7EC8E3"/>
            </a:solidFill>
            <a:prstDash val="solid"/>
          </a:ln>
        </p:spPr>
        <p:txBody>
          <a:bodyPr/>
          <a:lstStyle/>
          <a:p>
            <a:endParaRPr lang="en-US"/>
          </a:p>
        </p:txBody>
      </p:sp>
      <p:sp>
        <p:nvSpPr>
          <p:cNvPr id="40" name="Text 38"/>
          <p:cNvSpPr/>
          <p:nvPr/>
        </p:nvSpPr>
        <p:spPr>
          <a:xfrm>
            <a:off x="6144768" y="3182112"/>
            <a:ext cx="310896" cy="31089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03</a:t>
            </a:r>
            <a:endParaRPr lang="en-US" sz="850" dirty="0"/>
          </a:p>
        </p:txBody>
      </p:sp>
      <p:sp>
        <p:nvSpPr>
          <p:cNvPr id="41" name="Shape 39"/>
          <p:cNvSpPr/>
          <p:nvPr/>
        </p:nvSpPr>
        <p:spPr>
          <a:xfrm>
            <a:off x="6272784" y="3493008"/>
            <a:ext cx="54864" cy="128016"/>
          </a:xfrm>
          <a:prstGeom prst="rect">
            <a:avLst/>
          </a:prstGeom>
          <a:solidFill>
            <a:srgbClr val="243B55"/>
          </a:solidFill>
          <a:ln w="12700">
            <a:solidFill>
              <a:srgbClr val="243B55"/>
            </a:solidFill>
            <a:prstDash val="solid"/>
          </a:ln>
        </p:spPr>
        <p:txBody>
          <a:bodyPr/>
          <a:lstStyle/>
          <a:p>
            <a:endParaRPr lang="en-US"/>
          </a:p>
        </p:txBody>
      </p:sp>
      <p:sp>
        <p:nvSpPr>
          <p:cNvPr id="42" name="Text 40"/>
          <p:cNvSpPr/>
          <p:nvPr/>
        </p:nvSpPr>
        <p:spPr>
          <a:xfrm>
            <a:off x="6547104" y="3182112"/>
            <a:ext cx="2286000" cy="1828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Extraction Agent</a:t>
            </a:r>
            <a:endParaRPr lang="en-US" sz="1100" dirty="0"/>
          </a:p>
        </p:txBody>
      </p:sp>
      <p:sp>
        <p:nvSpPr>
          <p:cNvPr id="43" name="Text 41"/>
          <p:cNvSpPr/>
          <p:nvPr/>
        </p:nvSpPr>
        <p:spPr>
          <a:xfrm>
            <a:off x="6547104" y="3346704"/>
            <a:ext cx="5102352" cy="182880"/>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Textract + Claude → auditai-documents</a:t>
            </a:r>
            <a:endParaRPr lang="en-US" sz="950" dirty="0"/>
          </a:p>
        </p:txBody>
      </p:sp>
      <p:sp>
        <p:nvSpPr>
          <p:cNvPr id="44" name="Shape 42"/>
          <p:cNvSpPr/>
          <p:nvPr/>
        </p:nvSpPr>
        <p:spPr>
          <a:xfrm>
            <a:off x="6144768" y="3611880"/>
            <a:ext cx="310896" cy="310896"/>
          </a:xfrm>
          <a:prstGeom prst="ellipse">
            <a:avLst/>
          </a:prstGeom>
          <a:solidFill>
            <a:srgbClr val="7B61FF"/>
          </a:solidFill>
          <a:ln w="12700">
            <a:solidFill>
              <a:srgbClr val="7B61FF"/>
            </a:solidFill>
            <a:prstDash val="solid"/>
          </a:ln>
        </p:spPr>
        <p:txBody>
          <a:bodyPr/>
          <a:lstStyle/>
          <a:p>
            <a:endParaRPr lang="en-US"/>
          </a:p>
        </p:txBody>
      </p:sp>
      <p:sp>
        <p:nvSpPr>
          <p:cNvPr id="45" name="Text 43"/>
          <p:cNvSpPr/>
          <p:nvPr/>
        </p:nvSpPr>
        <p:spPr>
          <a:xfrm>
            <a:off x="6144768" y="3611880"/>
            <a:ext cx="310896" cy="31089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04</a:t>
            </a:r>
            <a:endParaRPr lang="en-US" sz="850" dirty="0"/>
          </a:p>
        </p:txBody>
      </p:sp>
      <p:sp>
        <p:nvSpPr>
          <p:cNvPr id="46" name="Shape 44"/>
          <p:cNvSpPr/>
          <p:nvPr/>
        </p:nvSpPr>
        <p:spPr>
          <a:xfrm>
            <a:off x="6272784" y="3922776"/>
            <a:ext cx="54864" cy="128016"/>
          </a:xfrm>
          <a:prstGeom prst="rect">
            <a:avLst/>
          </a:prstGeom>
          <a:solidFill>
            <a:srgbClr val="243B55"/>
          </a:solidFill>
          <a:ln w="12700">
            <a:solidFill>
              <a:srgbClr val="243B55"/>
            </a:solidFill>
            <a:prstDash val="solid"/>
          </a:ln>
        </p:spPr>
        <p:txBody>
          <a:bodyPr/>
          <a:lstStyle/>
          <a:p>
            <a:endParaRPr lang="en-US"/>
          </a:p>
        </p:txBody>
      </p:sp>
      <p:sp>
        <p:nvSpPr>
          <p:cNvPr id="47" name="Text 45"/>
          <p:cNvSpPr/>
          <p:nvPr/>
        </p:nvSpPr>
        <p:spPr>
          <a:xfrm>
            <a:off x="6547104" y="3611880"/>
            <a:ext cx="2286000" cy="1828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Ledger Agent</a:t>
            </a:r>
            <a:endParaRPr lang="en-US" sz="1100" dirty="0"/>
          </a:p>
        </p:txBody>
      </p:sp>
      <p:sp>
        <p:nvSpPr>
          <p:cNvPr id="48" name="Text 46"/>
          <p:cNvSpPr/>
          <p:nvPr/>
        </p:nvSpPr>
        <p:spPr>
          <a:xfrm>
            <a:off x="6547104" y="3776472"/>
            <a:ext cx="5102352" cy="182880"/>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Double-entry → auditai-ledger entries</a:t>
            </a:r>
            <a:endParaRPr lang="en-US" sz="950" dirty="0"/>
          </a:p>
        </p:txBody>
      </p:sp>
      <p:sp>
        <p:nvSpPr>
          <p:cNvPr id="49" name="Shape 47"/>
          <p:cNvSpPr/>
          <p:nvPr/>
        </p:nvSpPr>
        <p:spPr>
          <a:xfrm>
            <a:off x="6144768" y="4041648"/>
            <a:ext cx="310896" cy="310896"/>
          </a:xfrm>
          <a:prstGeom prst="ellipse">
            <a:avLst/>
          </a:prstGeom>
          <a:solidFill>
            <a:srgbClr val="00C9A7"/>
          </a:solidFill>
          <a:ln w="12700">
            <a:solidFill>
              <a:srgbClr val="00C9A7"/>
            </a:solidFill>
            <a:prstDash val="solid"/>
          </a:ln>
        </p:spPr>
        <p:txBody>
          <a:bodyPr/>
          <a:lstStyle/>
          <a:p>
            <a:endParaRPr lang="en-US"/>
          </a:p>
        </p:txBody>
      </p:sp>
      <p:sp>
        <p:nvSpPr>
          <p:cNvPr id="50" name="Text 48"/>
          <p:cNvSpPr/>
          <p:nvPr/>
        </p:nvSpPr>
        <p:spPr>
          <a:xfrm>
            <a:off x="6144768" y="4041648"/>
            <a:ext cx="310896" cy="31089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05</a:t>
            </a:r>
            <a:endParaRPr lang="en-US" sz="850" dirty="0"/>
          </a:p>
        </p:txBody>
      </p:sp>
      <p:sp>
        <p:nvSpPr>
          <p:cNvPr id="51" name="Shape 49"/>
          <p:cNvSpPr/>
          <p:nvPr/>
        </p:nvSpPr>
        <p:spPr>
          <a:xfrm>
            <a:off x="6272784" y="4352544"/>
            <a:ext cx="54864" cy="128016"/>
          </a:xfrm>
          <a:prstGeom prst="rect">
            <a:avLst/>
          </a:prstGeom>
          <a:solidFill>
            <a:srgbClr val="243B55"/>
          </a:solidFill>
          <a:ln w="12700">
            <a:solidFill>
              <a:srgbClr val="243B55"/>
            </a:solidFill>
            <a:prstDash val="solid"/>
          </a:ln>
        </p:spPr>
        <p:txBody>
          <a:bodyPr/>
          <a:lstStyle/>
          <a:p>
            <a:endParaRPr lang="en-US"/>
          </a:p>
        </p:txBody>
      </p:sp>
      <p:sp>
        <p:nvSpPr>
          <p:cNvPr id="52" name="Text 50"/>
          <p:cNvSpPr/>
          <p:nvPr/>
        </p:nvSpPr>
        <p:spPr>
          <a:xfrm>
            <a:off x="6547104" y="4041648"/>
            <a:ext cx="2286000" cy="1828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P&amp;L Agent</a:t>
            </a:r>
            <a:endParaRPr lang="en-US" sz="1100" dirty="0"/>
          </a:p>
        </p:txBody>
      </p:sp>
      <p:sp>
        <p:nvSpPr>
          <p:cNvPr id="53" name="Text 51"/>
          <p:cNvSpPr/>
          <p:nvPr/>
        </p:nvSpPr>
        <p:spPr>
          <a:xfrm>
            <a:off x="6547104" y="4206240"/>
            <a:ext cx="5102352" cy="182880"/>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Gross Profit + Net Income → SK=pnl</a:t>
            </a:r>
            <a:endParaRPr lang="en-US" sz="950" dirty="0"/>
          </a:p>
        </p:txBody>
      </p:sp>
      <p:sp>
        <p:nvSpPr>
          <p:cNvPr id="54" name="Shape 52"/>
          <p:cNvSpPr/>
          <p:nvPr/>
        </p:nvSpPr>
        <p:spPr>
          <a:xfrm>
            <a:off x="6144768" y="4471416"/>
            <a:ext cx="310896" cy="310896"/>
          </a:xfrm>
          <a:prstGeom prst="ellipse">
            <a:avLst/>
          </a:prstGeom>
          <a:solidFill>
            <a:srgbClr val="4FC3F7"/>
          </a:solidFill>
          <a:ln w="12700">
            <a:solidFill>
              <a:srgbClr val="4FC3F7"/>
            </a:solidFill>
            <a:prstDash val="solid"/>
          </a:ln>
        </p:spPr>
        <p:txBody>
          <a:bodyPr/>
          <a:lstStyle/>
          <a:p>
            <a:endParaRPr lang="en-US"/>
          </a:p>
        </p:txBody>
      </p:sp>
      <p:sp>
        <p:nvSpPr>
          <p:cNvPr id="55" name="Text 53"/>
          <p:cNvSpPr/>
          <p:nvPr/>
        </p:nvSpPr>
        <p:spPr>
          <a:xfrm>
            <a:off x="6144768" y="4471416"/>
            <a:ext cx="310896" cy="31089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06</a:t>
            </a:r>
            <a:endParaRPr lang="en-US" sz="850" dirty="0"/>
          </a:p>
        </p:txBody>
      </p:sp>
      <p:sp>
        <p:nvSpPr>
          <p:cNvPr id="56" name="Shape 54"/>
          <p:cNvSpPr/>
          <p:nvPr/>
        </p:nvSpPr>
        <p:spPr>
          <a:xfrm>
            <a:off x="6272784" y="4782312"/>
            <a:ext cx="54864" cy="128016"/>
          </a:xfrm>
          <a:prstGeom prst="rect">
            <a:avLst/>
          </a:prstGeom>
          <a:solidFill>
            <a:srgbClr val="243B55"/>
          </a:solidFill>
          <a:ln w="12700">
            <a:solidFill>
              <a:srgbClr val="243B55"/>
            </a:solidFill>
            <a:prstDash val="solid"/>
          </a:ln>
        </p:spPr>
        <p:txBody>
          <a:bodyPr/>
          <a:lstStyle/>
          <a:p>
            <a:endParaRPr lang="en-US"/>
          </a:p>
        </p:txBody>
      </p:sp>
      <p:sp>
        <p:nvSpPr>
          <p:cNvPr id="57" name="Text 55"/>
          <p:cNvSpPr/>
          <p:nvPr/>
        </p:nvSpPr>
        <p:spPr>
          <a:xfrm>
            <a:off x="6547104" y="4471416"/>
            <a:ext cx="2286000" cy="1828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Balance Sheet Agent</a:t>
            </a:r>
            <a:endParaRPr lang="en-US" sz="1100" dirty="0"/>
          </a:p>
        </p:txBody>
      </p:sp>
      <p:sp>
        <p:nvSpPr>
          <p:cNvPr id="58" name="Text 56"/>
          <p:cNvSpPr/>
          <p:nvPr/>
        </p:nvSpPr>
        <p:spPr>
          <a:xfrm>
            <a:off x="6547104" y="4636008"/>
            <a:ext cx="5102352" cy="182880"/>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Assets = L + E → SK=balance_sheet</a:t>
            </a:r>
            <a:endParaRPr lang="en-US" sz="950" dirty="0"/>
          </a:p>
        </p:txBody>
      </p:sp>
      <p:sp>
        <p:nvSpPr>
          <p:cNvPr id="59" name="Shape 57"/>
          <p:cNvSpPr/>
          <p:nvPr/>
        </p:nvSpPr>
        <p:spPr>
          <a:xfrm>
            <a:off x="6144768" y="4901184"/>
            <a:ext cx="310896" cy="310896"/>
          </a:xfrm>
          <a:prstGeom prst="ellipse">
            <a:avLst/>
          </a:prstGeom>
          <a:solidFill>
            <a:srgbClr val="FF9F40"/>
          </a:solidFill>
          <a:ln w="12700">
            <a:solidFill>
              <a:srgbClr val="FF9F40"/>
            </a:solidFill>
            <a:prstDash val="solid"/>
          </a:ln>
        </p:spPr>
        <p:txBody>
          <a:bodyPr/>
          <a:lstStyle/>
          <a:p>
            <a:endParaRPr lang="en-US"/>
          </a:p>
        </p:txBody>
      </p:sp>
      <p:sp>
        <p:nvSpPr>
          <p:cNvPr id="60" name="Text 58"/>
          <p:cNvSpPr/>
          <p:nvPr/>
        </p:nvSpPr>
        <p:spPr>
          <a:xfrm>
            <a:off x="6144768" y="4901184"/>
            <a:ext cx="310896" cy="31089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07</a:t>
            </a:r>
            <a:endParaRPr lang="en-US" sz="850" dirty="0"/>
          </a:p>
        </p:txBody>
      </p:sp>
      <p:sp>
        <p:nvSpPr>
          <p:cNvPr id="61" name="Shape 59"/>
          <p:cNvSpPr/>
          <p:nvPr/>
        </p:nvSpPr>
        <p:spPr>
          <a:xfrm>
            <a:off x="6272784" y="5212080"/>
            <a:ext cx="54864" cy="128016"/>
          </a:xfrm>
          <a:prstGeom prst="rect">
            <a:avLst/>
          </a:prstGeom>
          <a:solidFill>
            <a:srgbClr val="243B55"/>
          </a:solidFill>
          <a:ln w="12700">
            <a:solidFill>
              <a:srgbClr val="243B55"/>
            </a:solidFill>
            <a:prstDash val="solid"/>
          </a:ln>
        </p:spPr>
        <p:txBody>
          <a:bodyPr/>
          <a:lstStyle/>
          <a:p>
            <a:endParaRPr lang="en-US"/>
          </a:p>
        </p:txBody>
      </p:sp>
      <p:sp>
        <p:nvSpPr>
          <p:cNvPr id="62" name="Text 60"/>
          <p:cNvSpPr/>
          <p:nvPr/>
        </p:nvSpPr>
        <p:spPr>
          <a:xfrm>
            <a:off x="6547104" y="4901184"/>
            <a:ext cx="2286000" cy="1828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Reconciliation Agent</a:t>
            </a:r>
            <a:endParaRPr lang="en-US" sz="1100" dirty="0"/>
          </a:p>
        </p:txBody>
      </p:sp>
      <p:sp>
        <p:nvSpPr>
          <p:cNvPr id="63" name="Text 61"/>
          <p:cNvSpPr/>
          <p:nvPr/>
        </p:nvSpPr>
        <p:spPr>
          <a:xfrm>
            <a:off x="6547104" y="5065776"/>
            <a:ext cx="5102352" cy="182880"/>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9 checks + narrative → SK=reconciliation</a:t>
            </a:r>
            <a:endParaRPr lang="en-US" sz="950" dirty="0"/>
          </a:p>
        </p:txBody>
      </p:sp>
      <p:sp>
        <p:nvSpPr>
          <p:cNvPr id="64" name="Shape 62"/>
          <p:cNvSpPr/>
          <p:nvPr/>
        </p:nvSpPr>
        <p:spPr>
          <a:xfrm>
            <a:off x="6144768" y="5330952"/>
            <a:ext cx="310896" cy="310896"/>
          </a:xfrm>
          <a:prstGeom prst="ellipse">
            <a:avLst/>
          </a:prstGeom>
          <a:solidFill>
            <a:srgbClr val="A5D6A7"/>
          </a:solidFill>
          <a:ln w="12700">
            <a:solidFill>
              <a:srgbClr val="A5D6A7"/>
            </a:solidFill>
            <a:prstDash val="solid"/>
          </a:ln>
        </p:spPr>
        <p:txBody>
          <a:bodyPr/>
          <a:lstStyle/>
          <a:p>
            <a:endParaRPr lang="en-US"/>
          </a:p>
        </p:txBody>
      </p:sp>
      <p:sp>
        <p:nvSpPr>
          <p:cNvPr id="65" name="Text 63"/>
          <p:cNvSpPr/>
          <p:nvPr/>
        </p:nvSpPr>
        <p:spPr>
          <a:xfrm>
            <a:off x="6144768" y="5330952"/>
            <a:ext cx="310896" cy="310896"/>
          </a:xfrm>
          <a:prstGeom prst="rect">
            <a:avLst/>
          </a:prstGeom>
          <a:noFill/>
          <a:ln/>
        </p:spPr>
        <p:txBody>
          <a:bodyPr wrap="square" lIns="0" tIns="0" rIns="0" bIns="0" rtlCol="0" anchor="ctr"/>
          <a:lstStyle/>
          <a:p>
            <a:pPr marL="0" indent="0" algn="ctr">
              <a:buNone/>
            </a:pPr>
            <a:r>
              <a:rPr lang="en-US" sz="850" b="1" dirty="0">
                <a:solidFill>
                  <a:srgbClr val="0D1B2A"/>
                </a:solidFill>
                <a:latin typeface="Calibri" pitchFamily="34" charset="0"/>
                <a:ea typeface="Calibri" pitchFamily="34" charset="-122"/>
                <a:cs typeface="Calibri" pitchFamily="34" charset="-120"/>
              </a:rPr>
              <a:t>08</a:t>
            </a:r>
            <a:endParaRPr lang="en-US" sz="850" dirty="0"/>
          </a:p>
        </p:txBody>
      </p:sp>
      <p:sp>
        <p:nvSpPr>
          <p:cNvPr id="66" name="Text 64"/>
          <p:cNvSpPr/>
          <p:nvPr/>
        </p:nvSpPr>
        <p:spPr>
          <a:xfrm>
            <a:off x="6547104" y="5330952"/>
            <a:ext cx="2286000" cy="1828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Results API</a:t>
            </a:r>
            <a:endParaRPr lang="en-US" sz="1100" dirty="0"/>
          </a:p>
        </p:txBody>
      </p:sp>
      <p:sp>
        <p:nvSpPr>
          <p:cNvPr id="67" name="Text 65"/>
          <p:cNvSpPr/>
          <p:nvPr/>
        </p:nvSpPr>
        <p:spPr>
          <a:xfrm>
            <a:off x="6547104" y="5495544"/>
            <a:ext cx="5102352" cy="182880"/>
          </a:xfrm>
          <a:prstGeom prst="rect">
            <a:avLst/>
          </a:prstGeom>
          <a:noFill/>
          <a:ln/>
        </p:spPr>
        <p:txBody>
          <a:bodyPr wrap="square" lIns="0" tIns="0" rIns="0" bIns="0" rtlCol="0" anchor="ctr"/>
          <a:lstStyle/>
          <a:p>
            <a:pPr marL="0" indent="0">
              <a:buNone/>
            </a:pPr>
            <a:r>
              <a:rPr lang="en-US" sz="950" dirty="0">
                <a:solidFill>
                  <a:srgbClr val="7A94B0"/>
                </a:solidFill>
                <a:latin typeface="Calibri" pitchFamily="34" charset="0"/>
                <a:ea typeface="Calibri" pitchFamily="34" charset="-122"/>
                <a:cs typeface="Calibri" pitchFamily="34" charset="-120"/>
              </a:rPr>
              <a:t>→ auditai-output (FY + Q prefix scan)</a:t>
            </a:r>
            <a:endParaRPr lang="en-US" sz="950" dirty="0"/>
          </a:p>
        </p:txBody>
      </p:sp>
      <p:sp>
        <p:nvSpPr>
          <p:cNvPr id="68" name="Shape 66"/>
          <p:cNvSpPr/>
          <p:nvPr/>
        </p:nvSpPr>
        <p:spPr>
          <a:xfrm>
            <a:off x="411480" y="5797296"/>
            <a:ext cx="11356848" cy="438912"/>
          </a:xfrm>
          <a:prstGeom prst="roundRect">
            <a:avLst>
              <a:gd name="adj" fmla="val 16667"/>
            </a:avLst>
          </a:prstGeom>
          <a:solidFill>
            <a:srgbClr val="1B2E45"/>
          </a:solidFill>
          <a:ln w="12700">
            <a:solidFill>
              <a:srgbClr val="243B55"/>
            </a:solidFill>
            <a:prstDash val="solid"/>
          </a:ln>
        </p:spPr>
        <p:txBody>
          <a:bodyPr/>
          <a:lstStyle/>
          <a:p>
            <a:endParaRPr lang="en-US"/>
          </a:p>
        </p:txBody>
      </p:sp>
      <p:sp>
        <p:nvSpPr>
          <p:cNvPr id="69" name="Shape 67"/>
          <p:cNvSpPr/>
          <p:nvPr/>
        </p:nvSpPr>
        <p:spPr>
          <a:xfrm>
            <a:off x="566928" y="5888736"/>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70" name="Text 68"/>
          <p:cNvSpPr/>
          <p:nvPr/>
        </p:nvSpPr>
        <p:spPr>
          <a:xfrm>
            <a:off x="566928" y="5888736"/>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INPUT</a:t>
            </a:r>
            <a:endParaRPr lang="en-US" sz="850" dirty="0"/>
          </a:p>
        </p:txBody>
      </p:sp>
      <p:sp>
        <p:nvSpPr>
          <p:cNvPr id="71" name="Text 69"/>
          <p:cNvSpPr/>
          <p:nvPr/>
        </p:nvSpPr>
        <p:spPr>
          <a:xfrm>
            <a:off x="1298448" y="5852160"/>
            <a:ext cx="461772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 financial_year: 2026, quarter: "Q4" }  via API Gateway → Lambda</a:t>
            </a:r>
            <a:endParaRPr lang="en-US" sz="1100" dirty="0"/>
          </a:p>
        </p:txBody>
      </p:sp>
      <p:sp>
        <p:nvSpPr>
          <p:cNvPr id="72" name="Shape 70"/>
          <p:cNvSpPr/>
          <p:nvPr/>
        </p:nvSpPr>
        <p:spPr>
          <a:xfrm>
            <a:off x="6217920" y="5888736"/>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73" name="Text 71"/>
          <p:cNvSpPr/>
          <p:nvPr/>
        </p:nvSpPr>
        <p:spPr>
          <a:xfrm>
            <a:off x="6217920" y="5888736"/>
            <a:ext cx="658368"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74" name="Text 72"/>
          <p:cNvSpPr/>
          <p:nvPr/>
        </p:nvSpPr>
        <p:spPr>
          <a:xfrm>
            <a:off x="6949440" y="5852160"/>
            <a:ext cx="4617720" cy="292608"/>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HTTP 200 → latest full pipeline result JSON  |  HTTP 404 if no records found</a:t>
            </a:r>
            <a:endParaRPr lang="en-US" sz="1100" dirty="0"/>
          </a:p>
        </p:txBody>
      </p:sp>
      <p:sp>
        <p:nvSpPr>
          <p:cNvPr id="75" name="Text 73"/>
          <p:cNvSpPr/>
          <p:nvPr/>
        </p:nvSpPr>
        <p:spPr>
          <a:xfrm>
            <a:off x="411480" y="6355080"/>
            <a:ext cx="11338560" cy="256032"/>
          </a:xfrm>
          <a:prstGeom prst="rect">
            <a:avLst/>
          </a:prstGeom>
          <a:noFill/>
          <a:ln/>
        </p:spPr>
        <p:txBody>
          <a:bodyPr wrap="square" rtlCol="0" anchor="ctr"/>
          <a:lstStyle/>
          <a:p>
            <a:pPr marL="0" indent="0">
              <a:buNone/>
            </a:pPr>
            <a:r>
              <a:rPr lang="en-US" sz="1000" dirty="0">
                <a:solidFill>
                  <a:srgbClr val="7A94B0"/>
                </a:solidFill>
                <a:latin typeface="Calibri" pitchFamily="34" charset="0"/>
                <a:ea typeface="Calibri" pitchFamily="34" charset="-122"/>
                <a:cs typeface="Calibri" pitchFamily="34" charset="-120"/>
              </a:rPr>
              <a:t>auditai-output table  ·  Decimal serialised via custom JSONEncoder  ·  run_id prefix = "{year}-{quarter}"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Business Impact &amp; Relevance</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What changes for the finance team on the Monday after this ships.</a:t>
            </a:r>
            <a:endParaRPr lang="en-US" sz="130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10</a:t>
            </a:r>
            <a:endParaRPr lang="en-US" sz="1050"/>
          </a:p>
        </p:txBody>
      </p:sp>
      <p:sp>
        <p:nvSpPr>
          <p:cNvPr id="10" name="Text 8"/>
          <p:cNvSpPr/>
          <p:nvPr/>
        </p:nvSpPr>
        <p:spPr>
          <a:xfrm>
            <a:off x="566928" y="1773936"/>
            <a:ext cx="6309360" cy="2788920"/>
          </a:xfrm>
          <a:prstGeom prst="rect">
            <a:avLst/>
          </a:prstGeom>
          <a:noFill/>
          <a:ln/>
        </p:spPr>
        <p:txBody>
          <a:bodyPr wrap="square" lIns="0" tIns="0" rIns="0" bIns="0" rtlCol="0" anchor="t"/>
          <a:lstStyle/>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Weeks become minutes. The close work that spans days of manual posting and cross-checking runs as one unattended pass over the same documents.</a:t>
            </a:r>
            <a:endParaRPr lang="en-US" sz="1300"/>
          </a:p>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Replaces the keying, not the judgment. The reviewer opens a dashboard with the postings, both statements and the differences already laid out.</a:t>
            </a:r>
            <a:endParaRPr lang="en-US" sz="1300"/>
          </a:p>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One audit picture. Every stage is stored in the same place, so a figure can be traced back through the trial balance to the document it came from.</a:t>
            </a:r>
            <a:endParaRPr lang="en-US" sz="1300"/>
          </a:p>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Explainable by construction. Each agent persists its own finding with its evidence, so a reviewer sees why a figure moved, not just that it did.</a:t>
            </a:r>
            <a:endParaRPr lang="en-US" sz="1300"/>
          </a:p>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Portable across teams. No client-specific assumptions and no fixed currency. Point it at any document set and chart of accounts.</a:t>
            </a:r>
            <a:endParaRPr lang="en-US" sz="1300"/>
          </a:p>
        </p:txBody>
      </p:sp>
      <p:sp>
        <p:nvSpPr>
          <p:cNvPr id="11" name="Shape 9"/>
          <p:cNvSpPr/>
          <p:nvPr/>
        </p:nvSpPr>
        <p:spPr>
          <a:xfrm>
            <a:off x="7406640" y="1737360"/>
            <a:ext cx="4133088" cy="1078992"/>
          </a:xfrm>
          <a:prstGeom prst="roundRect">
            <a:avLst>
              <a:gd name="adj" fmla="val 508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2" name="Shape 10"/>
          <p:cNvSpPr/>
          <p:nvPr/>
        </p:nvSpPr>
        <p:spPr>
          <a:xfrm>
            <a:off x="7699248" y="2121408"/>
            <a:ext cx="201168" cy="201168"/>
          </a:xfrm>
          <a:prstGeom prst="ellipse">
            <a:avLst/>
          </a:prstGeom>
          <a:solidFill>
            <a:srgbClr val="A100FF"/>
          </a:solidFill>
          <a:ln w="12700">
            <a:solidFill>
              <a:srgbClr val="A100FF"/>
            </a:solidFill>
            <a:prstDash val="solid"/>
          </a:ln>
        </p:spPr>
        <p:txBody>
          <a:bodyPr/>
          <a:lstStyle/>
          <a:p>
            <a:endParaRPr lang="en-US"/>
          </a:p>
        </p:txBody>
      </p:sp>
      <p:sp>
        <p:nvSpPr>
          <p:cNvPr id="13" name="Text 11"/>
          <p:cNvSpPr/>
          <p:nvPr/>
        </p:nvSpPr>
        <p:spPr>
          <a:xfrm>
            <a:off x="8028432" y="1920240"/>
            <a:ext cx="3291840" cy="365760"/>
          </a:xfrm>
          <a:prstGeom prst="rect">
            <a:avLst/>
          </a:prstGeom>
          <a:noFill/>
          <a:ln/>
        </p:spPr>
        <p:txBody>
          <a:bodyPr wrap="square" lIns="0" tIns="0" rIns="0" bIns="0" rtlCol="0" anchor="ctr"/>
          <a:lstStyle/>
          <a:p>
            <a:pPr marL="0" indent="0">
              <a:buNone/>
            </a:pPr>
            <a:r>
              <a:rPr lang="en-US" sz="1500" b="1">
                <a:solidFill>
                  <a:srgbClr val="12101F"/>
                </a:solidFill>
                <a:latin typeface="Bookman Old Style" pitchFamily="34" charset="0"/>
                <a:ea typeface="Bookman Old Style" pitchFamily="34" charset="-122"/>
                <a:cs typeface="Bookman Old Style" pitchFamily="34" charset="-120"/>
              </a:rPr>
              <a:t>Documents to statements</a:t>
            </a:r>
            <a:endParaRPr lang="en-US" sz="1500"/>
          </a:p>
        </p:txBody>
      </p:sp>
      <p:sp>
        <p:nvSpPr>
          <p:cNvPr id="14" name="Text 12"/>
          <p:cNvSpPr/>
          <p:nvPr/>
        </p:nvSpPr>
        <p:spPr>
          <a:xfrm>
            <a:off x="8028432" y="2313432"/>
            <a:ext cx="3291840" cy="365760"/>
          </a:xfrm>
          <a:prstGeom prst="rect">
            <a:avLst/>
          </a:prstGeom>
          <a:noFill/>
          <a:ln/>
        </p:spPr>
        <p:txBody>
          <a:bodyPr wrap="square" lIns="0" tIns="0" rIns="0" bIns="0" rtlCol="0" anchor="ctr"/>
          <a:lstStyle/>
          <a:p>
            <a:pPr marL="0" indent="0">
              <a:buNone/>
            </a:pPr>
            <a:r>
              <a:rPr lang="en-US" sz="1150">
                <a:solidFill>
                  <a:srgbClr val="4B5563"/>
                </a:solidFill>
                <a:latin typeface="Calibri" pitchFamily="34" charset="0"/>
                <a:ea typeface="Calibri" pitchFamily="34" charset="-122"/>
                <a:cs typeface="Calibri" pitchFamily="34" charset="-120"/>
              </a:rPr>
              <a:t>in a single unattended run</a:t>
            </a:r>
            <a:endParaRPr lang="en-US" sz="1150"/>
          </a:p>
        </p:txBody>
      </p:sp>
      <p:sp>
        <p:nvSpPr>
          <p:cNvPr id="15" name="Shape 13"/>
          <p:cNvSpPr/>
          <p:nvPr/>
        </p:nvSpPr>
        <p:spPr>
          <a:xfrm>
            <a:off x="7406640" y="3017520"/>
            <a:ext cx="4133088" cy="1078992"/>
          </a:xfrm>
          <a:prstGeom prst="roundRect">
            <a:avLst>
              <a:gd name="adj" fmla="val 508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6" name="Shape 14"/>
          <p:cNvSpPr/>
          <p:nvPr/>
        </p:nvSpPr>
        <p:spPr>
          <a:xfrm>
            <a:off x="7699248" y="3401568"/>
            <a:ext cx="201168" cy="201168"/>
          </a:xfrm>
          <a:prstGeom prst="ellipse">
            <a:avLst/>
          </a:prstGeom>
          <a:solidFill>
            <a:srgbClr val="A100FF"/>
          </a:solidFill>
          <a:ln w="12700">
            <a:solidFill>
              <a:srgbClr val="A100FF"/>
            </a:solidFill>
            <a:prstDash val="solid"/>
          </a:ln>
        </p:spPr>
        <p:txBody>
          <a:bodyPr/>
          <a:lstStyle/>
          <a:p>
            <a:endParaRPr lang="en-US"/>
          </a:p>
        </p:txBody>
      </p:sp>
      <p:sp>
        <p:nvSpPr>
          <p:cNvPr id="17" name="Text 15"/>
          <p:cNvSpPr/>
          <p:nvPr/>
        </p:nvSpPr>
        <p:spPr>
          <a:xfrm>
            <a:off x="8028432" y="3200400"/>
            <a:ext cx="3291840" cy="365760"/>
          </a:xfrm>
          <a:prstGeom prst="rect">
            <a:avLst/>
          </a:prstGeom>
          <a:noFill/>
          <a:ln/>
        </p:spPr>
        <p:txBody>
          <a:bodyPr wrap="square" lIns="0" tIns="0" rIns="0" bIns="0" rtlCol="0" anchor="ctr"/>
          <a:lstStyle/>
          <a:p>
            <a:pPr marL="0" indent="0">
              <a:buNone/>
            </a:pPr>
            <a:r>
              <a:rPr lang="en-US" sz="1500" b="1">
                <a:solidFill>
                  <a:srgbClr val="12101F"/>
                </a:solidFill>
                <a:latin typeface="Bookman Old Style" pitchFamily="34" charset="0"/>
                <a:ea typeface="Bookman Old Style" pitchFamily="34" charset="-122"/>
                <a:cs typeface="Bookman Old Style" pitchFamily="34" charset="-120"/>
              </a:rPr>
              <a:t>Every finding</a:t>
            </a:r>
            <a:endParaRPr lang="en-US" sz="1500"/>
          </a:p>
        </p:txBody>
      </p:sp>
      <p:sp>
        <p:nvSpPr>
          <p:cNvPr id="18" name="Text 16"/>
          <p:cNvSpPr/>
          <p:nvPr/>
        </p:nvSpPr>
        <p:spPr>
          <a:xfrm>
            <a:off x="8028432" y="3593592"/>
            <a:ext cx="3291840" cy="365760"/>
          </a:xfrm>
          <a:prstGeom prst="rect">
            <a:avLst/>
          </a:prstGeom>
          <a:noFill/>
          <a:ln/>
        </p:spPr>
        <p:txBody>
          <a:bodyPr wrap="square" lIns="0" tIns="0" rIns="0" bIns="0" rtlCol="0" anchor="ctr"/>
          <a:lstStyle/>
          <a:p>
            <a:pPr marL="0" indent="0">
              <a:buNone/>
            </a:pPr>
            <a:r>
              <a:rPr lang="en-US" sz="1150">
                <a:solidFill>
                  <a:srgbClr val="4B5563"/>
                </a:solidFill>
                <a:latin typeface="Calibri" pitchFamily="34" charset="0"/>
                <a:ea typeface="Calibri" pitchFamily="34" charset="-122"/>
                <a:cs typeface="Calibri" pitchFamily="34" charset="-120"/>
              </a:rPr>
              <a:t>attributable to one agent</a:t>
            </a:r>
            <a:endParaRPr lang="en-US" sz="1150"/>
          </a:p>
        </p:txBody>
      </p:sp>
      <p:sp>
        <p:nvSpPr>
          <p:cNvPr id="19" name="Shape 17"/>
          <p:cNvSpPr/>
          <p:nvPr/>
        </p:nvSpPr>
        <p:spPr>
          <a:xfrm>
            <a:off x="7406640" y="4297680"/>
            <a:ext cx="4133088" cy="1078992"/>
          </a:xfrm>
          <a:prstGeom prst="roundRect">
            <a:avLst>
              <a:gd name="adj" fmla="val 508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0" name="Shape 18"/>
          <p:cNvSpPr/>
          <p:nvPr/>
        </p:nvSpPr>
        <p:spPr>
          <a:xfrm>
            <a:off x="7699248" y="4681728"/>
            <a:ext cx="201168" cy="201168"/>
          </a:xfrm>
          <a:prstGeom prst="ellipse">
            <a:avLst/>
          </a:prstGeom>
          <a:solidFill>
            <a:srgbClr val="A100FF"/>
          </a:solidFill>
          <a:ln w="12700">
            <a:solidFill>
              <a:srgbClr val="A100FF"/>
            </a:solidFill>
            <a:prstDash val="solid"/>
          </a:ln>
        </p:spPr>
        <p:txBody>
          <a:bodyPr/>
          <a:lstStyle/>
          <a:p>
            <a:endParaRPr lang="en-US"/>
          </a:p>
        </p:txBody>
      </p:sp>
      <p:sp>
        <p:nvSpPr>
          <p:cNvPr id="21" name="Text 19"/>
          <p:cNvSpPr/>
          <p:nvPr/>
        </p:nvSpPr>
        <p:spPr>
          <a:xfrm>
            <a:off x="8028432" y="4480560"/>
            <a:ext cx="3291840" cy="365760"/>
          </a:xfrm>
          <a:prstGeom prst="rect">
            <a:avLst/>
          </a:prstGeom>
          <a:noFill/>
          <a:ln/>
        </p:spPr>
        <p:txBody>
          <a:bodyPr wrap="square" lIns="0" tIns="0" rIns="0" bIns="0" rtlCol="0" anchor="ctr"/>
          <a:lstStyle/>
          <a:p>
            <a:pPr marL="0" indent="0">
              <a:buNone/>
            </a:pPr>
            <a:r>
              <a:rPr lang="en-US" sz="1500" b="1">
                <a:solidFill>
                  <a:srgbClr val="12101F"/>
                </a:solidFill>
                <a:latin typeface="Bookman Old Style" pitchFamily="34" charset="0"/>
                <a:ea typeface="Bookman Old Style" pitchFamily="34" charset="-122"/>
                <a:cs typeface="Bookman Old Style" pitchFamily="34" charset="-120"/>
              </a:rPr>
              <a:t>Every figure</a:t>
            </a:r>
            <a:endParaRPr lang="en-US" sz="1500"/>
          </a:p>
        </p:txBody>
      </p:sp>
      <p:sp>
        <p:nvSpPr>
          <p:cNvPr id="22" name="Text 20"/>
          <p:cNvSpPr/>
          <p:nvPr/>
        </p:nvSpPr>
        <p:spPr>
          <a:xfrm>
            <a:off x="8028432" y="4873752"/>
            <a:ext cx="3291840" cy="365760"/>
          </a:xfrm>
          <a:prstGeom prst="rect">
            <a:avLst/>
          </a:prstGeom>
          <a:noFill/>
          <a:ln/>
        </p:spPr>
        <p:txBody>
          <a:bodyPr wrap="square" lIns="0" tIns="0" rIns="0" bIns="0" rtlCol="0" anchor="ctr"/>
          <a:lstStyle/>
          <a:p>
            <a:pPr marL="0" indent="0">
              <a:buNone/>
            </a:pPr>
            <a:r>
              <a:rPr lang="en-US" sz="1150">
                <a:solidFill>
                  <a:srgbClr val="4B5563"/>
                </a:solidFill>
                <a:latin typeface="Calibri" pitchFamily="34" charset="0"/>
                <a:ea typeface="Calibri" pitchFamily="34" charset="-122"/>
                <a:cs typeface="Calibri" pitchFamily="34" charset="-120"/>
              </a:rPr>
              <a:t>traceable to its source document</a:t>
            </a:r>
            <a:endParaRPr lang="en-US" sz="1150"/>
          </a:p>
        </p:txBody>
      </p:sp>
      <p:sp>
        <p:nvSpPr>
          <p:cNvPr id="23" name="Text 21"/>
          <p:cNvSpPr/>
          <p:nvPr/>
        </p:nvSpPr>
        <p:spPr>
          <a:xfrm>
            <a:off x="566928" y="5760720"/>
            <a:ext cx="10515600" cy="320040"/>
          </a:xfrm>
          <a:prstGeom prst="rect">
            <a:avLst/>
          </a:prstGeom>
          <a:noFill/>
          <a:ln/>
        </p:spPr>
        <p:txBody>
          <a:bodyPr wrap="square" lIns="0" tIns="0" rIns="0" bIns="0" rtlCol="0" anchor="ctr"/>
          <a:lstStyle/>
          <a:p>
            <a:pPr marL="0" indent="0">
              <a:buNone/>
            </a:pPr>
            <a:r>
              <a:rPr lang="en-US" sz="1200" i="1">
                <a:solidFill>
                  <a:srgbClr val="7C8493"/>
                </a:solidFill>
                <a:latin typeface="Calibri" pitchFamily="34" charset="0"/>
                <a:ea typeface="Calibri" pitchFamily="34" charset="-122"/>
                <a:cs typeface="Calibri" pitchFamily="34" charset="-120"/>
              </a:rPr>
              <a:t>Relevance test: the parts we automated are the parts finance teams actually complain about.</a:t>
            </a:r>
            <a:endParaRPr lang="en-US"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Technical Implementation</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Six services, four agents, and arithmetic that is never guessed.</a:t>
            </a:r>
            <a:endParaRPr lang="en-US" sz="130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11</a:t>
            </a:r>
            <a:endParaRPr lang="en-US" sz="1050"/>
          </a:p>
        </p:txBody>
      </p:sp>
      <p:sp>
        <p:nvSpPr>
          <p:cNvPr id="10" name="Shape 8"/>
          <p:cNvSpPr/>
          <p:nvPr/>
        </p:nvSpPr>
        <p:spPr>
          <a:xfrm>
            <a:off x="566928" y="1645920"/>
            <a:ext cx="5394960" cy="3977640"/>
          </a:xfrm>
          <a:prstGeom prst="roundRect">
            <a:avLst>
              <a:gd name="adj" fmla="val 1379"/>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1" name="Text 9"/>
          <p:cNvSpPr/>
          <p:nvPr/>
        </p:nvSpPr>
        <p:spPr>
          <a:xfrm>
            <a:off x="886968" y="1828800"/>
            <a:ext cx="475488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THE STACK</a:t>
            </a:r>
            <a:endParaRPr lang="en-US" sz="1050"/>
          </a:p>
        </p:txBody>
      </p:sp>
      <p:sp>
        <p:nvSpPr>
          <p:cNvPr id="12" name="Text 10"/>
          <p:cNvSpPr/>
          <p:nvPr/>
        </p:nvSpPr>
        <p:spPr>
          <a:xfrm>
            <a:off x="886968" y="2194560"/>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Strands Agent Framework</a:t>
            </a:r>
            <a:endParaRPr lang="en-US" sz="1200"/>
          </a:p>
        </p:txBody>
      </p:sp>
      <p:sp>
        <p:nvSpPr>
          <p:cNvPr id="13" name="Text 11"/>
          <p:cNvSpPr/>
          <p:nvPr/>
        </p:nvSpPr>
        <p:spPr>
          <a:xfrm>
            <a:off x="886968" y="2432304"/>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AWS's open-source agent SDK. Each agent is a model, a prompt and its own tools, in plain Python</a:t>
            </a:r>
            <a:endParaRPr lang="en-US" sz="1050"/>
          </a:p>
        </p:txBody>
      </p:sp>
      <p:sp>
        <p:nvSpPr>
          <p:cNvPr id="14" name="Text 12"/>
          <p:cNvSpPr/>
          <p:nvPr/>
        </p:nvSpPr>
        <p:spPr>
          <a:xfrm>
            <a:off x="886968" y="2862072"/>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Amazon Bedrock</a:t>
            </a:r>
            <a:endParaRPr lang="en-US" sz="1200"/>
          </a:p>
        </p:txBody>
      </p:sp>
      <p:sp>
        <p:nvSpPr>
          <p:cNvPr id="15" name="Text 13"/>
          <p:cNvSpPr/>
          <p:nvPr/>
        </p:nvSpPr>
        <p:spPr>
          <a:xfrm>
            <a:off x="886968" y="3099816"/>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the reasoning behind every agent: classification, comparison and explanation</a:t>
            </a:r>
            <a:endParaRPr lang="en-US" sz="1050"/>
          </a:p>
        </p:txBody>
      </p:sp>
      <p:sp>
        <p:nvSpPr>
          <p:cNvPr id="16" name="Text 14"/>
          <p:cNvSpPr/>
          <p:nvPr/>
        </p:nvSpPr>
        <p:spPr>
          <a:xfrm>
            <a:off x="886968" y="3529584"/>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AWS Lambda</a:t>
            </a:r>
            <a:endParaRPr lang="en-US" sz="1200"/>
          </a:p>
        </p:txBody>
      </p:sp>
      <p:sp>
        <p:nvSpPr>
          <p:cNvPr id="17" name="Text 15"/>
          <p:cNvSpPr/>
          <p:nvPr/>
        </p:nvSpPr>
        <p:spPr>
          <a:xfrm>
            <a:off x="886968" y="3767328"/>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one function per agent; the S3 upload event starts the run, no scheduler needed</a:t>
            </a:r>
            <a:endParaRPr lang="en-US" sz="1050"/>
          </a:p>
        </p:txBody>
      </p:sp>
      <p:sp>
        <p:nvSpPr>
          <p:cNvPr id="18" name="Text 16"/>
          <p:cNvSpPr/>
          <p:nvPr/>
        </p:nvSpPr>
        <p:spPr>
          <a:xfrm>
            <a:off x="886968" y="4197096"/>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Amazon S3 + Textract</a:t>
            </a:r>
            <a:endParaRPr lang="en-US" sz="1200"/>
          </a:p>
        </p:txBody>
      </p:sp>
      <p:sp>
        <p:nvSpPr>
          <p:cNvPr id="19" name="Text 17"/>
          <p:cNvSpPr/>
          <p:nvPr/>
        </p:nvSpPr>
        <p:spPr>
          <a:xfrm>
            <a:off x="886968" y="4434840"/>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encrypted document store, and structured figures extracted from every uploaded document</a:t>
            </a:r>
            <a:endParaRPr lang="en-US" sz="1050"/>
          </a:p>
        </p:txBody>
      </p:sp>
      <p:sp>
        <p:nvSpPr>
          <p:cNvPr id="20" name="Text 18"/>
          <p:cNvSpPr/>
          <p:nvPr/>
        </p:nvSpPr>
        <p:spPr>
          <a:xfrm>
            <a:off x="886968" y="4864608"/>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Amazon DynamoDB + IAM</a:t>
            </a:r>
            <a:endParaRPr lang="en-US" sz="1200"/>
          </a:p>
        </p:txBody>
      </p:sp>
      <p:sp>
        <p:nvSpPr>
          <p:cNvPr id="21" name="Text 19"/>
          <p:cNvSpPr/>
          <p:nvPr/>
        </p:nvSpPr>
        <p:spPr>
          <a:xfrm>
            <a:off x="886968" y="5102352"/>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the results store every agent writes to and the dashboard reads, under least-privilege roles</a:t>
            </a:r>
            <a:endParaRPr lang="en-US" sz="1050"/>
          </a:p>
        </p:txBody>
      </p:sp>
      <p:sp>
        <p:nvSpPr>
          <p:cNvPr id="22" name="Shape 20"/>
          <p:cNvSpPr/>
          <p:nvPr/>
        </p:nvSpPr>
        <p:spPr>
          <a:xfrm>
            <a:off x="6144768" y="1645920"/>
            <a:ext cx="5394960" cy="3977640"/>
          </a:xfrm>
          <a:prstGeom prst="roundRect">
            <a:avLst>
              <a:gd name="adj" fmla="val 1379"/>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3" name="Text 21"/>
          <p:cNvSpPr/>
          <p:nvPr/>
        </p:nvSpPr>
        <p:spPr>
          <a:xfrm>
            <a:off x="6464808" y="1828800"/>
            <a:ext cx="475488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THE RULES WE BUILT AGAINST</a:t>
            </a:r>
            <a:endParaRPr lang="en-US" sz="1050"/>
          </a:p>
        </p:txBody>
      </p:sp>
      <p:sp>
        <p:nvSpPr>
          <p:cNvPr id="24" name="Text 22"/>
          <p:cNvSpPr/>
          <p:nvPr/>
        </p:nvSpPr>
        <p:spPr>
          <a:xfrm>
            <a:off x="6464808" y="2194560"/>
            <a:ext cx="4754880" cy="3291840"/>
          </a:xfrm>
          <a:prstGeom prst="rect">
            <a:avLst/>
          </a:prstGeom>
          <a:noFill/>
          <a:ln/>
        </p:spPr>
        <p:txBody>
          <a:bodyPr wrap="square" lIns="0" tIns="0" rIns="0" bIns="0" rtlCol="0" anchor="t"/>
          <a:lstStyle/>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Deterministic math, LLM judgment. Every total and balance check is computed in Python. The model classifies and explains, it never adds up a column.</a:t>
            </a:r>
            <a:endParaRPr lang="en-US" sz="1150"/>
          </a:p>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The double-entry gate. If debits don't equal credits, nothing is written and nothing downstream runs. A wrong ledger is worse than an empty one.</a:t>
            </a:r>
            <a:endParaRPr lang="en-US" sz="1150"/>
          </a:p>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Money is Decimal to 2 dp, never float, at every boundary where model output is parsed.</a:t>
            </a:r>
            <a:endParaRPr lang="en-US" sz="1150"/>
          </a:p>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Every stage persists its own result, so any agent can be re-run alone and the dashboard always reads stored output.</a:t>
            </a:r>
            <a:endParaRPr lang="en-US" sz="1150"/>
          </a:p>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Least privilege everywhere. Scoped IAM roles per function, and no credential is ever in code or a prompt.</a:t>
            </a:r>
            <a:endParaRPr lang="en-US" sz="1150"/>
          </a:p>
        </p:txBody>
      </p:sp>
      <p:sp>
        <p:nvSpPr>
          <p:cNvPr id="25" name="Shape 23"/>
          <p:cNvSpPr/>
          <p:nvPr/>
        </p:nvSpPr>
        <p:spPr>
          <a:xfrm>
            <a:off x="566928" y="5760720"/>
            <a:ext cx="11064240" cy="457200"/>
          </a:xfrm>
          <a:prstGeom prst="roundRect">
            <a:avLst>
              <a:gd name="adj" fmla="val 12000"/>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26" name="Text 24"/>
          <p:cNvSpPr/>
          <p:nvPr/>
        </p:nvSpPr>
        <p:spPr>
          <a:xfrm>
            <a:off x="841248" y="5760720"/>
            <a:ext cx="10515600" cy="457200"/>
          </a:xfrm>
          <a:prstGeom prst="rect">
            <a:avLst/>
          </a:prstGeom>
          <a:noFill/>
          <a:ln/>
        </p:spPr>
        <p:txBody>
          <a:bodyPr wrap="square" lIns="0" tIns="0" rIns="0" bIns="0" rtlCol="0" anchor="ctr"/>
          <a:lstStyle/>
          <a:p>
            <a:pPr marL="0" indent="0">
              <a:buNone/>
            </a:pPr>
            <a:r>
              <a:rPr lang="en-US" sz="1050" b="1">
                <a:solidFill>
                  <a:srgbClr val="6B21A8"/>
                </a:solidFill>
                <a:latin typeface="Calibri" pitchFamily="34" charset="0"/>
                <a:ea typeface="Calibri" pitchFamily="34" charset="-122"/>
                <a:cs typeface="Calibri" pitchFamily="34" charset="-120"/>
              </a:rPr>
              <a:t>Region gotcha we hit and solved:  </a:t>
            </a:r>
            <a:r>
              <a:rPr lang="en-US" sz="1050">
                <a:solidFill>
                  <a:srgbClr val="4B5563"/>
                </a:solidFill>
                <a:latin typeface="Calibri" pitchFamily="34" charset="0"/>
                <a:ea typeface="Calibri" pitchFamily="34" charset="-122"/>
                <a:cs typeface="Calibri" pitchFamily="34" charset="-120"/>
              </a:rPr>
              <a:t>a bare Claude model id returns a 400 in our region. Newer models are reachable only through a cross-Region inference profile, and IAM must grant the inference-profile ARN, not just the model.</a:t>
            </a:r>
            <a:endParaRPr lang="en-US" sz="10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15" name="Shape 13"/>
          <p:cNvSpPr/>
          <p:nvPr/>
        </p:nvSpPr>
        <p:spPr>
          <a:xfrm>
            <a:off x="6144768" y="1645920"/>
            <a:ext cx="5394960" cy="1325880"/>
          </a:xfrm>
          <a:prstGeom prst="roundRect">
            <a:avLst>
              <a:gd name="adj" fmla="val 4138"/>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6" name="Shape 9">
            <a:extLst>
              <a:ext uri="{FF2B5EF4-FFF2-40B4-BE49-F238E27FC236}">
                <a16:creationId xmlns:a16="http://schemas.microsoft.com/office/drawing/2014/main" id="{65E1560E-E7CA-2720-4385-A8B362F0AA62}"/>
              </a:ext>
            </a:extLst>
          </p:cNvPr>
          <p:cNvSpPr/>
          <p:nvPr/>
        </p:nvSpPr>
        <p:spPr>
          <a:xfrm>
            <a:off x="6432804" y="1892808"/>
            <a:ext cx="365760" cy="365760"/>
          </a:xfrm>
          <a:prstGeom prst="ellipse">
            <a:avLst/>
          </a:prstGeom>
          <a:solidFill>
            <a:srgbClr val="A100FF"/>
          </a:solidFill>
          <a:ln w="12700">
            <a:solidFill>
              <a:srgbClr val="A100FF"/>
            </a:solidFill>
            <a:prstDash val="solid"/>
          </a:ln>
        </p:spPr>
        <p:txBody>
          <a:bodyPr/>
          <a:lstStyle/>
          <a:p>
            <a:endParaRPr lang="en-US"/>
          </a:p>
        </p:txBody>
      </p:sp>
      <p:sp>
        <p:nvSpPr>
          <p:cNvPr id="2" name="Text 0"/>
          <p:cNvSpPr/>
          <p:nvPr/>
        </p:nvSpPr>
        <p:spPr>
          <a:xfrm>
            <a:off x="566928" y="512064"/>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Innovation &amp; Creativity</a:t>
            </a:r>
            <a:endParaRPr lang="en-US" sz="2900"/>
          </a:p>
        </p:txBody>
      </p:sp>
      <p:sp>
        <p:nvSpPr>
          <p:cNvPr id="6" name="Text 4"/>
          <p:cNvSpPr/>
          <p:nvPr/>
        </p:nvSpPr>
        <p:spPr>
          <a:xfrm>
            <a:off x="10424160" y="914400"/>
            <a:ext cx="1325880" cy="256032"/>
          </a:xfrm>
          <a:prstGeom prst="rect">
            <a:avLst/>
          </a:prstGeom>
          <a:noFill/>
          <a:ln/>
        </p:spPr>
        <p:txBody>
          <a:bodyPr wrap="square" lIns="0" tIns="0" rIns="0" bIns="0" rtlCol="0" anchor="ctr"/>
          <a:lstStyle/>
          <a:p>
            <a:pPr marL="0" indent="0" algn="ctr">
              <a:buNone/>
            </a:pPr>
            <a:r>
              <a:rPr lang="en-US" sz="850">
                <a:solidFill>
                  <a:srgbClr val="FFFFFF"/>
                </a:solidFill>
                <a:latin typeface="Calibri" pitchFamily="34" charset="0"/>
                <a:ea typeface="Calibri" pitchFamily="34" charset="-122"/>
                <a:cs typeface="Calibri" pitchFamily="34" charset="-120"/>
              </a:rPr>
              <a:t>of score</a:t>
            </a:r>
            <a:endParaRPr lang="en-US" sz="85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12</a:t>
            </a:r>
            <a:endParaRPr lang="en-US" sz="1050"/>
          </a:p>
        </p:txBody>
      </p:sp>
      <p:sp>
        <p:nvSpPr>
          <p:cNvPr id="10" name="Shape 8"/>
          <p:cNvSpPr/>
          <p:nvPr/>
        </p:nvSpPr>
        <p:spPr>
          <a:xfrm>
            <a:off x="566928" y="1645920"/>
            <a:ext cx="5394960" cy="1325880"/>
          </a:xfrm>
          <a:prstGeom prst="roundRect">
            <a:avLst>
              <a:gd name="adj" fmla="val 4138"/>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1" name="Shape 9"/>
          <p:cNvSpPr/>
          <p:nvPr/>
        </p:nvSpPr>
        <p:spPr>
          <a:xfrm>
            <a:off x="886968" y="1892808"/>
            <a:ext cx="365760" cy="365760"/>
          </a:xfrm>
          <a:prstGeom prst="ellipse">
            <a:avLst/>
          </a:prstGeom>
          <a:solidFill>
            <a:srgbClr val="A100FF"/>
          </a:solidFill>
          <a:ln w="12700">
            <a:solidFill>
              <a:srgbClr val="A100FF"/>
            </a:solidFill>
            <a:prstDash val="solid"/>
          </a:ln>
        </p:spPr>
        <p:txBody>
          <a:bodyPr/>
          <a:lstStyle/>
          <a:p>
            <a:endParaRPr lang="en-US"/>
          </a:p>
        </p:txBody>
      </p:sp>
      <p:sp>
        <p:nvSpPr>
          <p:cNvPr id="12" name="Text 10"/>
          <p:cNvSpPr/>
          <p:nvPr/>
        </p:nvSpPr>
        <p:spPr>
          <a:xfrm>
            <a:off x="886968" y="1947672"/>
            <a:ext cx="365760" cy="27432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1</a:t>
            </a:r>
            <a:endParaRPr lang="en-US" sz="1150"/>
          </a:p>
        </p:txBody>
      </p:sp>
      <p:sp>
        <p:nvSpPr>
          <p:cNvPr id="13" name="Text 11"/>
          <p:cNvSpPr/>
          <p:nvPr/>
        </p:nvSpPr>
        <p:spPr>
          <a:xfrm>
            <a:off x="1408176" y="1828800"/>
            <a:ext cx="425196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Four specialists, not one mega-prompt</a:t>
            </a:r>
            <a:endParaRPr lang="en-US" sz="1350"/>
          </a:p>
        </p:txBody>
      </p:sp>
      <p:sp>
        <p:nvSpPr>
          <p:cNvPr id="14" name="Text 12"/>
          <p:cNvSpPr/>
          <p:nvPr/>
        </p:nvSpPr>
        <p:spPr>
          <a:xfrm>
            <a:off x="1408176" y="2176272"/>
            <a:ext cx="425196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Each agent has a narrow job, its own tools and its own finding. That makes the system testable, replaceable and explainable one agent at a time.</a:t>
            </a:r>
            <a:endParaRPr lang="en-US" sz="1100"/>
          </a:p>
        </p:txBody>
      </p:sp>
      <p:sp>
        <p:nvSpPr>
          <p:cNvPr id="17" name="Text 15"/>
          <p:cNvSpPr/>
          <p:nvPr/>
        </p:nvSpPr>
        <p:spPr>
          <a:xfrm>
            <a:off x="6432804" y="1938528"/>
            <a:ext cx="365760" cy="274320"/>
          </a:xfrm>
          <a:prstGeom prst="rect">
            <a:avLst/>
          </a:prstGeom>
          <a:noFill/>
          <a:ln/>
        </p:spPr>
        <p:txBody>
          <a:bodyPr wrap="square" lIns="0" tIns="0" rIns="0" bIns="0" rtlCol="0" anchor="ctr"/>
          <a:lstStyle/>
          <a:p>
            <a:pPr marL="0" indent="0" algn="ctr">
              <a:buNone/>
            </a:pPr>
            <a:r>
              <a:rPr lang="en-US" sz="1150" b="1">
                <a:solidFill>
                  <a:schemeClr val="bg1"/>
                </a:solidFill>
                <a:latin typeface="Calibri" pitchFamily="34" charset="0"/>
                <a:ea typeface="Calibri" pitchFamily="34" charset="-122"/>
                <a:cs typeface="Calibri" pitchFamily="34" charset="-120"/>
              </a:rPr>
              <a:t>2</a:t>
            </a:r>
            <a:endParaRPr lang="en-US" sz="1150">
              <a:solidFill>
                <a:schemeClr val="bg1"/>
              </a:solidFill>
            </a:endParaRPr>
          </a:p>
        </p:txBody>
      </p:sp>
      <p:sp>
        <p:nvSpPr>
          <p:cNvPr id="18" name="Text 16"/>
          <p:cNvSpPr/>
          <p:nvPr/>
        </p:nvSpPr>
        <p:spPr>
          <a:xfrm>
            <a:off x="6986016" y="1828800"/>
            <a:ext cx="425196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Strands: agents as plain Python</a:t>
            </a:r>
            <a:endParaRPr lang="en-US" sz="1350"/>
          </a:p>
        </p:txBody>
      </p:sp>
      <p:sp>
        <p:nvSpPr>
          <p:cNvPr id="19" name="Text 17"/>
          <p:cNvSpPr/>
          <p:nvPr/>
        </p:nvSpPr>
        <p:spPr>
          <a:xfrm>
            <a:off x="6986016" y="2176272"/>
            <a:ext cx="425196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The framework is an open-source SDK, not a managed runtime. An agent is a model, a prompt and a few tools, so it runs in a Lambda, tests on a laptop, and costs nothing itself.</a:t>
            </a:r>
            <a:endParaRPr lang="en-US" sz="1100"/>
          </a:p>
        </p:txBody>
      </p:sp>
      <p:sp>
        <p:nvSpPr>
          <p:cNvPr id="20" name="Shape 18"/>
          <p:cNvSpPr/>
          <p:nvPr/>
        </p:nvSpPr>
        <p:spPr>
          <a:xfrm>
            <a:off x="566928" y="3154680"/>
            <a:ext cx="5394960" cy="1325880"/>
          </a:xfrm>
          <a:prstGeom prst="roundRect">
            <a:avLst>
              <a:gd name="adj" fmla="val 4138"/>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1" name="Shape 19"/>
          <p:cNvSpPr/>
          <p:nvPr/>
        </p:nvSpPr>
        <p:spPr>
          <a:xfrm>
            <a:off x="886968" y="3401568"/>
            <a:ext cx="365760" cy="365760"/>
          </a:xfrm>
          <a:prstGeom prst="ellipse">
            <a:avLst/>
          </a:prstGeom>
          <a:solidFill>
            <a:srgbClr val="A100FF"/>
          </a:solidFill>
          <a:ln w="12700">
            <a:solidFill>
              <a:srgbClr val="A100FF"/>
            </a:solidFill>
            <a:prstDash val="solid"/>
          </a:ln>
        </p:spPr>
        <p:txBody>
          <a:bodyPr/>
          <a:lstStyle/>
          <a:p>
            <a:endParaRPr lang="en-US"/>
          </a:p>
        </p:txBody>
      </p:sp>
      <p:sp>
        <p:nvSpPr>
          <p:cNvPr id="22" name="Text 20"/>
          <p:cNvSpPr/>
          <p:nvPr/>
        </p:nvSpPr>
        <p:spPr>
          <a:xfrm>
            <a:off x="886968" y="3456432"/>
            <a:ext cx="365760" cy="27432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3</a:t>
            </a:r>
            <a:endParaRPr lang="en-US" sz="1150"/>
          </a:p>
        </p:txBody>
      </p:sp>
      <p:sp>
        <p:nvSpPr>
          <p:cNvPr id="23" name="Text 21"/>
          <p:cNvSpPr/>
          <p:nvPr/>
        </p:nvSpPr>
        <p:spPr>
          <a:xfrm>
            <a:off x="1408176" y="3337560"/>
            <a:ext cx="425196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A split brain</a:t>
            </a:r>
            <a:endParaRPr lang="en-US" sz="1350"/>
          </a:p>
        </p:txBody>
      </p:sp>
      <p:sp>
        <p:nvSpPr>
          <p:cNvPr id="24" name="Text 22"/>
          <p:cNvSpPr/>
          <p:nvPr/>
        </p:nvSpPr>
        <p:spPr>
          <a:xfrm>
            <a:off x="1408176" y="3685032"/>
            <a:ext cx="425196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Python owns arithmetic, Claude owns judgment. The real design work was deciding which questions are judgment calls and which are just sums.</a:t>
            </a:r>
            <a:endParaRPr lang="en-US" sz="1100"/>
          </a:p>
        </p:txBody>
      </p:sp>
      <p:sp>
        <p:nvSpPr>
          <p:cNvPr id="25" name="Shape 23"/>
          <p:cNvSpPr/>
          <p:nvPr/>
        </p:nvSpPr>
        <p:spPr>
          <a:xfrm>
            <a:off x="6144768" y="3154680"/>
            <a:ext cx="5394960" cy="1325880"/>
          </a:xfrm>
          <a:prstGeom prst="roundRect">
            <a:avLst>
              <a:gd name="adj" fmla="val 4138"/>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6" name="Shape 24"/>
          <p:cNvSpPr/>
          <p:nvPr/>
        </p:nvSpPr>
        <p:spPr>
          <a:xfrm>
            <a:off x="6464808" y="3401568"/>
            <a:ext cx="365760" cy="365760"/>
          </a:xfrm>
          <a:prstGeom prst="ellipse">
            <a:avLst/>
          </a:prstGeom>
          <a:solidFill>
            <a:srgbClr val="A100FF"/>
          </a:solidFill>
          <a:ln w="12700">
            <a:solidFill>
              <a:srgbClr val="A100FF"/>
            </a:solidFill>
            <a:prstDash val="solid"/>
          </a:ln>
        </p:spPr>
        <p:txBody>
          <a:bodyPr/>
          <a:lstStyle/>
          <a:p>
            <a:endParaRPr lang="en-US"/>
          </a:p>
        </p:txBody>
      </p:sp>
      <p:sp>
        <p:nvSpPr>
          <p:cNvPr id="27" name="Text 25"/>
          <p:cNvSpPr/>
          <p:nvPr/>
        </p:nvSpPr>
        <p:spPr>
          <a:xfrm>
            <a:off x="6464808" y="3456432"/>
            <a:ext cx="365760" cy="27432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4</a:t>
            </a:r>
            <a:endParaRPr lang="en-US" sz="1150"/>
          </a:p>
        </p:txBody>
      </p:sp>
      <p:sp>
        <p:nvSpPr>
          <p:cNvPr id="28" name="Text 26"/>
          <p:cNvSpPr/>
          <p:nvPr/>
        </p:nvSpPr>
        <p:spPr>
          <a:xfrm>
            <a:off x="6986016" y="3337560"/>
            <a:ext cx="425196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A ledger, not a shortcut</a:t>
            </a:r>
            <a:endParaRPr lang="en-US" sz="1350"/>
          </a:p>
        </p:txBody>
      </p:sp>
      <p:sp>
        <p:nvSpPr>
          <p:cNvPr id="29" name="Text 27"/>
          <p:cNvSpPr/>
          <p:nvPr/>
        </p:nvSpPr>
        <p:spPr>
          <a:xfrm>
            <a:off x="6986016" y="3685032"/>
            <a:ext cx="425196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Statements are never generated straight from documents. Everything posts through a trial balance first, which is the only reason the reconciliation can tie out at all.</a:t>
            </a:r>
            <a:endParaRPr lang="en-US" sz="1100"/>
          </a:p>
        </p:txBody>
      </p:sp>
      <p:sp>
        <p:nvSpPr>
          <p:cNvPr id="30" name="Shape 28"/>
          <p:cNvSpPr/>
          <p:nvPr/>
        </p:nvSpPr>
        <p:spPr>
          <a:xfrm>
            <a:off x="566928" y="4663440"/>
            <a:ext cx="11064240" cy="1051560"/>
          </a:xfrm>
          <a:prstGeom prst="roundRect">
            <a:avLst>
              <a:gd name="adj" fmla="val 521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1" name="Shape 29"/>
          <p:cNvSpPr/>
          <p:nvPr/>
        </p:nvSpPr>
        <p:spPr>
          <a:xfrm>
            <a:off x="886968" y="4910328"/>
            <a:ext cx="365760" cy="365760"/>
          </a:xfrm>
          <a:prstGeom prst="ellipse">
            <a:avLst/>
          </a:prstGeom>
          <a:solidFill>
            <a:srgbClr val="A100FF"/>
          </a:solidFill>
          <a:ln w="12700">
            <a:solidFill>
              <a:srgbClr val="A100FF"/>
            </a:solidFill>
            <a:prstDash val="solid"/>
          </a:ln>
        </p:spPr>
        <p:txBody>
          <a:bodyPr/>
          <a:lstStyle/>
          <a:p>
            <a:endParaRPr lang="en-US"/>
          </a:p>
        </p:txBody>
      </p:sp>
      <p:sp>
        <p:nvSpPr>
          <p:cNvPr id="32" name="Text 30"/>
          <p:cNvSpPr/>
          <p:nvPr/>
        </p:nvSpPr>
        <p:spPr>
          <a:xfrm>
            <a:off x="886968" y="4965192"/>
            <a:ext cx="365760" cy="27432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5</a:t>
            </a:r>
            <a:endParaRPr lang="en-US" sz="1150"/>
          </a:p>
        </p:txBody>
      </p:sp>
      <p:sp>
        <p:nvSpPr>
          <p:cNvPr id="33" name="Text 31"/>
          <p:cNvSpPr/>
          <p:nvPr/>
        </p:nvSpPr>
        <p:spPr>
          <a:xfrm>
            <a:off x="1408176" y="4846320"/>
            <a:ext cx="992124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One results store as the source of truth</a:t>
            </a:r>
            <a:endParaRPr lang="en-US" sz="1350"/>
          </a:p>
        </p:txBody>
      </p:sp>
      <p:sp>
        <p:nvSpPr>
          <p:cNvPr id="34" name="Text 32"/>
          <p:cNvSpPr/>
          <p:nvPr/>
        </p:nvSpPr>
        <p:spPr>
          <a:xfrm>
            <a:off x="1408176" y="5193792"/>
            <a:ext cx="992124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Every stage writes its own output to DynamoDB, so the dashboard renders stored results rather than a summary, and any agent can be re-run without repeating the run.</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Scalability &amp; Feasibility</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What we run on 14 Aug, and what changes when volume arrives.</a:t>
            </a:r>
            <a:endParaRPr lang="en-US" sz="1300"/>
          </a:p>
        </p:txBody>
      </p:sp>
      <p:sp>
        <p:nvSpPr>
          <p:cNvPr id="6" name="Text 4"/>
          <p:cNvSpPr/>
          <p:nvPr/>
        </p:nvSpPr>
        <p:spPr>
          <a:xfrm>
            <a:off x="10424160" y="914400"/>
            <a:ext cx="1325880" cy="256032"/>
          </a:xfrm>
          <a:prstGeom prst="rect">
            <a:avLst/>
          </a:prstGeom>
          <a:noFill/>
          <a:ln/>
        </p:spPr>
        <p:txBody>
          <a:bodyPr wrap="square" lIns="0" tIns="0" rIns="0" bIns="0" rtlCol="0" anchor="ctr"/>
          <a:lstStyle/>
          <a:p>
            <a:pPr marL="0" indent="0" algn="ctr">
              <a:buNone/>
            </a:pPr>
            <a:r>
              <a:rPr lang="en-US" sz="850">
                <a:solidFill>
                  <a:srgbClr val="FFFFFF"/>
                </a:solidFill>
                <a:latin typeface="Calibri" pitchFamily="34" charset="0"/>
                <a:ea typeface="Calibri" pitchFamily="34" charset="-122"/>
                <a:cs typeface="Calibri" pitchFamily="34" charset="-120"/>
              </a:rPr>
              <a:t>of score</a:t>
            </a:r>
            <a:endParaRPr lang="en-US" sz="85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13</a:t>
            </a:r>
            <a:endParaRPr lang="en-US" sz="1050"/>
          </a:p>
        </p:txBody>
      </p:sp>
      <p:sp>
        <p:nvSpPr>
          <p:cNvPr id="10" name="Text 8"/>
          <p:cNvSpPr/>
          <p:nvPr/>
        </p:nvSpPr>
        <p:spPr>
          <a:xfrm>
            <a:off x="566928" y="1691640"/>
            <a:ext cx="5029200" cy="256032"/>
          </a:xfrm>
          <a:prstGeom prst="rect">
            <a:avLst/>
          </a:prstGeom>
          <a:noFill/>
          <a:ln/>
        </p:spPr>
        <p:txBody>
          <a:bodyPr wrap="square" lIns="0" tIns="0" rIns="0" bIns="0" rtlCol="0" anchor="ctr"/>
          <a:lstStyle/>
          <a:p>
            <a:pPr marL="0" indent="0">
              <a:buNone/>
            </a:pPr>
            <a:r>
              <a:rPr lang="en-US" sz="1050" b="1" kern="0" spc="200">
                <a:solidFill>
                  <a:srgbClr val="7C8493"/>
                </a:solidFill>
                <a:latin typeface="Calibri" pitchFamily="34" charset="0"/>
                <a:ea typeface="Calibri" pitchFamily="34" charset="-122"/>
                <a:cs typeface="Calibri" pitchFamily="34" charset="-120"/>
              </a:rPr>
              <a:t>TODAY — the MVP</a:t>
            </a:r>
            <a:endParaRPr lang="en-US" sz="1050"/>
          </a:p>
        </p:txBody>
      </p:sp>
      <p:sp>
        <p:nvSpPr>
          <p:cNvPr id="11" name="Text 9"/>
          <p:cNvSpPr/>
          <p:nvPr/>
        </p:nvSpPr>
        <p:spPr>
          <a:xfrm>
            <a:off x="6263640" y="1691640"/>
            <a:ext cx="50292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NEXT — no rewrite required</a:t>
            </a:r>
            <a:endParaRPr lang="en-US" sz="1050"/>
          </a:p>
        </p:txBody>
      </p:sp>
      <p:sp>
        <p:nvSpPr>
          <p:cNvPr id="12" name="Shape 10"/>
          <p:cNvSpPr/>
          <p:nvPr/>
        </p:nvSpPr>
        <p:spPr>
          <a:xfrm>
            <a:off x="566928" y="2011680"/>
            <a:ext cx="5074920" cy="768096"/>
          </a:xfrm>
          <a:prstGeom prst="roundRect">
            <a:avLst>
              <a:gd name="adj" fmla="val 7143"/>
            </a:avLst>
          </a:prstGeom>
          <a:solidFill>
            <a:srgbClr val="FAF8FE"/>
          </a:solidFill>
          <a:ln w="9525">
            <a:solidFill>
              <a:srgbClr val="FAF8FE"/>
            </a:solidFill>
            <a:prstDash val="solid"/>
          </a:ln>
          <a:effectLst>
            <a:outerShdw blurRad="127000" dist="12700" dir="5400000" algn="bl" rotWithShape="0">
              <a:srgbClr val="1A1033">
                <a:alpha val="10000"/>
              </a:srgbClr>
            </a:outerShdw>
          </a:effectLst>
        </p:spPr>
        <p:txBody>
          <a:bodyPr/>
          <a:lstStyle/>
          <a:p>
            <a:endParaRPr lang="en-US"/>
          </a:p>
        </p:txBody>
      </p:sp>
      <p:sp>
        <p:nvSpPr>
          <p:cNvPr id="13" name="Text 11"/>
          <p:cNvSpPr/>
          <p:nvPr/>
        </p:nvSpPr>
        <p:spPr>
          <a:xfrm>
            <a:off x="841248" y="2011680"/>
            <a:ext cx="4526280" cy="768096"/>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Four Strands agents over three document types, one team.</a:t>
            </a:r>
            <a:endParaRPr lang="en-US" sz="1150"/>
          </a:p>
        </p:txBody>
      </p:sp>
      <p:sp>
        <p:nvSpPr>
          <p:cNvPr id="14" name="Shape 12"/>
          <p:cNvSpPr/>
          <p:nvPr/>
        </p:nvSpPr>
        <p:spPr>
          <a:xfrm>
            <a:off x="5833872" y="2286000"/>
            <a:ext cx="292608" cy="219456"/>
          </a:xfrm>
          <a:prstGeom prst="rightArrow">
            <a:avLst/>
          </a:prstGeom>
          <a:solidFill>
            <a:srgbClr val="C3B4DE"/>
          </a:solidFill>
          <a:ln w="12700">
            <a:solidFill>
              <a:srgbClr val="C3B4DE"/>
            </a:solidFill>
            <a:prstDash val="solid"/>
          </a:ln>
        </p:spPr>
        <p:txBody>
          <a:bodyPr/>
          <a:lstStyle/>
          <a:p>
            <a:endParaRPr lang="en-US"/>
          </a:p>
        </p:txBody>
      </p:sp>
      <p:sp>
        <p:nvSpPr>
          <p:cNvPr id="15" name="Shape 13"/>
          <p:cNvSpPr/>
          <p:nvPr/>
        </p:nvSpPr>
        <p:spPr>
          <a:xfrm>
            <a:off x="6263640" y="2011680"/>
            <a:ext cx="5367528" cy="768096"/>
          </a:xfrm>
          <a:prstGeom prst="roundRect">
            <a:avLst>
              <a:gd name="adj" fmla="val 7143"/>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6" name="Text 14"/>
          <p:cNvSpPr/>
          <p:nvPr/>
        </p:nvSpPr>
        <p:spPr>
          <a:xfrm>
            <a:off x="6537960" y="2011680"/>
            <a:ext cx="4818888" cy="768096"/>
          </a:xfrm>
          <a:prstGeom prst="rect">
            <a:avLst/>
          </a:prstGeom>
          <a:noFill/>
          <a:ln/>
        </p:spPr>
        <p:txBody>
          <a:bodyPr wrap="square" lIns="0" tIns="0" rIns="0" bIns="0" rtlCol="0" anchor="ctr"/>
          <a:lstStyle/>
          <a:p>
            <a:pPr marL="0" indent="0">
              <a:lnSpc>
                <a:spcPts val="1500"/>
              </a:lnSpc>
              <a:buNone/>
            </a:pPr>
            <a:r>
              <a:rPr lang="en-US" sz="1150">
                <a:solidFill>
                  <a:srgbClr val="12101F"/>
                </a:solidFill>
                <a:latin typeface="Calibri" pitchFamily="34" charset="0"/>
                <a:ea typeface="Calibri" pitchFamily="34" charset="-122"/>
                <a:cs typeface="Calibri" pitchFamily="34" charset="-120"/>
              </a:rPr>
              <a:t>Cash-flow and tax agents are added the same way: a new agent in its own Lambda, not a redesign.</a:t>
            </a:r>
            <a:endParaRPr lang="en-US" sz="1150"/>
          </a:p>
        </p:txBody>
      </p:sp>
      <p:sp>
        <p:nvSpPr>
          <p:cNvPr id="17" name="Shape 15"/>
          <p:cNvSpPr/>
          <p:nvPr/>
        </p:nvSpPr>
        <p:spPr>
          <a:xfrm>
            <a:off x="566928" y="2926080"/>
            <a:ext cx="5074920" cy="768096"/>
          </a:xfrm>
          <a:prstGeom prst="roundRect">
            <a:avLst>
              <a:gd name="adj" fmla="val 7143"/>
            </a:avLst>
          </a:prstGeom>
          <a:solidFill>
            <a:srgbClr val="FAF8FE"/>
          </a:solidFill>
          <a:ln w="9525">
            <a:solidFill>
              <a:srgbClr val="FAF8FE"/>
            </a:solidFill>
            <a:prstDash val="solid"/>
          </a:ln>
          <a:effectLst>
            <a:outerShdw blurRad="127000" dist="12700" dir="5400000" algn="bl" rotWithShape="0">
              <a:srgbClr val="1A1033">
                <a:alpha val="10000"/>
              </a:srgbClr>
            </a:outerShdw>
          </a:effectLst>
        </p:spPr>
        <p:txBody>
          <a:bodyPr/>
          <a:lstStyle/>
          <a:p>
            <a:endParaRPr lang="en-US"/>
          </a:p>
        </p:txBody>
      </p:sp>
      <p:sp>
        <p:nvSpPr>
          <p:cNvPr id="18" name="Text 16"/>
          <p:cNvSpPr/>
          <p:nvPr/>
        </p:nvSpPr>
        <p:spPr>
          <a:xfrm>
            <a:off x="841248" y="2926080"/>
            <a:ext cx="4526280" cy="768096"/>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Agents run in sequence, chained by events and direct invocation.</a:t>
            </a:r>
            <a:endParaRPr lang="en-US" sz="1150"/>
          </a:p>
        </p:txBody>
      </p:sp>
      <p:sp>
        <p:nvSpPr>
          <p:cNvPr id="19" name="Shape 17"/>
          <p:cNvSpPr/>
          <p:nvPr/>
        </p:nvSpPr>
        <p:spPr>
          <a:xfrm>
            <a:off x="5833872" y="3200400"/>
            <a:ext cx="292608" cy="219456"/>
          </a:xfrm>
          <a:prstGeom prst="rightArrow">
            <a:avLst/>
          </a:prstGeom>
          <a:solidFill>
            <a:srgbClr val="C3B4DE"/>
          </a:solidFill>
          <a:ln w="12700">
            <a:solidFill>
              <a:srgbClr val="C3B4DE"/>
            </a:solidFill>
            <a:prstDash val="solid"/>
          </a:ln>
        </p:spPr>
        <p:txBody>
          <a:bodyPr/>
          <a:lstStyle/>
          <a:p>
            <a:endParaRPr lang="en-US"/>
          </a:p>
        </p:txBody>
      </p:sp>
      <p:sp>
        <p:nvSpPr>
          <p:cNvPr id="20" name="Shape 18"/>
          <p:cNvSpPr/>
          <p:nvPr/>
        </p:nvSpPr>
        <p:spPr>
          <a:xfrm>
            <a:off x="6263640" y="2926080"/>
            <a:ext cx="5367528" cy="768096"/>
          </a:xfrm>
          <a:prstGeom prst="roundRect">
            <a:avLst>
              <a:gd name="adj" fmla="val 7143"/>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1" name="Text 19"/>
          <p:cNvSpPr/>
          <p:nvPr/>
        </p:nvSpPr>
        <p:spPr>
          <a:xfrm>
            <a:off x="6537960" y="2926080"/>
            <a:ext cx="4818888" cy="768096"/>
          </a:xfrm>
          <a:prstGeom prst="rect">
            <a:avLst/>
          </a:prstGeom>
          <a:noFill/>
          <a:ln/>
        </p:spPr>
        <p:txBody>
          <a:bodyPr wrap="square" lIns="0" tIns="0" rIns="0" bIns="0" rtlCol="0" anchor="ctr"/>
          <a:lstStyle/>
          <a:p>
            <a:pPr marL="0" indent="0">
              <a:lnSpc>
                <a:spcPts val="1500"/>
              </a:lnSpc>
              <a:buNone/>
            </a:pPr>
            <a:r>
              <a:rPr lang="en-US" sz="1150">
                <a:solidFill>
                  <a:srgbClr val="12101F"/>
                </a:solidFill>
                <a:latin typeface="Calibri" pitchFamily="34" charset="0"/>
                <a:ea typeface="Calibri" pitchFamily="34" charset="-122"/>
                <a:cs typeface="Calibri" pitchFamily="34" charset="-120"/>
              </a:rPr>
              <a:t>A managed orchestrator runs the two statement agents as true parallel branches, with retries.</a:t>
            </a:r>
            <a:endParaRPr lang="en-US" sz="1150"/>
          </a:p>
        </p:txBody>
      </p:sp>
      <p:sp>
        <p:nvSpPr>
          <p:cNvPr id="22" name="Shape 20"/>
          <p:cNvSpPr/>
          <p:nvPr/>
        </p:nvSpPr>
        <p:spPr>
          <a:xfrm>
            <a:off x="566928" y="3840480"/>
            <a:ext cx="5074920" cy="768096"/>
          </a:xfrm>
          <a:prstGeom prst="roundRect">
            <a:avLst>
              <a:gd name="adj" fmla="val 7143"/>
            </a:avLst>
          </a:prstGeom>
          <a:solidFill>
            <a:srgbClr val="FAF8FE"/>
          </a:solidFill>
          <a:ln w="9525">
            <a:solidFill>
              <a:srgbClr val="FAF8FE"/>
            </a:solidFill>
            <a:prstDash val="solid"/>
          </a:ln>
          <a:effectLst>
            <a:outerShdw blurRad="127000" dist="12700" dir="5400000" algn="bl" rotWithShape="0">
              <a:srgbClr val="1A1033">
                <a:alpha val="10000"/>
              </a:srgbClr>
            </a:outerShdw>
          </a:effectLst>
        </p:spPr>
        <p:txBody>
          <a:bodyPr/>
          <a:lstStyle/>
          <a:p>
            <a:endParaRPr lang="en-US"/>
          </a:p>
        </p:txBody>
      </p:sp>
      <p:sp>
        <p:nvSpPr>
          <p:cNvPr id="23" name="Text 21"/>
          <p:cNvSpPr/>
          <p:nvPr/>
        </p:nvSpPr>
        <p:spPr>
          <a:xfrm>
            <a:off x="841248" y="3840480"/>
            <a:ext cx="4526280" cy="768096"/>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Every upload triggers its own run automatically.</a:t>
            </a:r>
            <a:endParaRPr lang="en-US" sz="1150"/>
          </a:p>
        </p:txBody>
      </p:sp>
      <p:sp>
        <p:nvSpPr>
          <p:cNvPr id="24" name="Shape 22"/>
          <p:cNvSpPr/>
          <p:nvPr/>
        </p:nvSpPr>
        <p:spPr>
          <a:xfrm>
            <a:off x="5833872" y="4114800"/>
            <a:ext cx="292608" cy="219456"/>
          </a:xfrm>
          <a:prstGeom prst="rightArrow">
            <a:avLst/>
          </a:prstGeom>
          <a:solidFill>
            <a:srgbClr val="C3B4DE"/>
          </a:solidFill>
          <a:ln w="12700">
            <a:solidFill>
              <a:srgbClr val="C3B4DE"/>
            </a:solidFill>
            <a:prstDash val="solid"/>
          </a:ln>
        </p:spPr>
        <p:txBody>
          <a:bodyPr/>
          <a:lstStyle/>
          <a:p>
            <a:endParaRPr lang="en-US"/>
          </a:p>
        </p:txBody>
      </p:sp>
      <p:sp>
        <p:nvSpPr>
          <p:cNvPr id="25" name="Shape 23"/>
          <p:cNvSpPr/>
          <p:nvPr/>
        </p:nvSpPr>
        <p:spPr>
          <a:xfrm>
            <a:off x="6263640" y="3840480"/>
            <a:ext cx="5367528" cy="768096"/>
          </a:xfrm>
          <a:prstGeom prst="roundRect">
            <a:avLst>
              <a:gd name="adj" fmla="val 7143"/>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6" name="Text 24"/>
          <p:cNvSpPr/>
          <p:nvPr/>
        </p:nvSpPr>
        <p:spPr>
          <a:xfrm>
            <a:off x="6537960" y="3840480"/>
            <a:ext cx="4818888" cy="768096"/>
          </a:xfrm>
          <a:prstGeom prst="rect">
            <a:avLst/>
          </a:prstGeom>
          <a:noFill/>
          <a:ln/>
        </p:spPr>
        <p:txBody>
          <a:bodyPr wrap="square" lIns="0" tIns="0" rIns="0" bIns="0" rtlCol="0" anchor="ctr"/>
          <a:lstStyle/>
          <a:p>
            <a:pPr marL="0" indent="0">
              <a:lnSpc>
                <a:spcPts val="1500"/>
              </a:lnSpc>
              <a:buNone/>
            </a:pPr>
            <a:r>
              <a:rPr lang="en-US" sz="1150">
                <a:solidFill>
                  <a:srgbClr val="12101F"/>
                </a:solidFill>
                <a:latin typeface="Calibri" pitchFamily="34" charset="0"/>
                <a:ea typeface="Calibri" pitchFamily="34" charset="-122"/>
                <a:cs typeface="Calibri" pitchFamily="34" charset="-120"/>
              </a:rPr>
              <a:t>Continuous audit across sources, with per-entity partitions in the same results table.</a:t>
            </a:r>
            <a:endParaRPr lang="en-US" sz="1150"/>
          </a:p>
        </p:txBody>
      </p:sp>
      <p:sp>
        <p:nvSpPr>
          <p:cNvPr id="27" name="Shape 25"/>
          <p:cNvSpPr/>
          <p:nvPr/>
        </p:nvSpPr>
        <p:spPr>
          <a:xfrm>
            <a:off x="566928" y="4754880"/>
            <a:ext cx="5074920" cy="768096"/>
          </a:xfrm>
          <a:prstGeom prst="roundRect">
            <a:avLst>
              <a:gd name="adj" fmla="val 7143"/>
            </a:avLst>
          </a:prstGeom>
          <a:solidFill>
            <a:srgbClr val="FAF8FE"/>
          </a:solidFill>
          <a:ln w="9525">
            <a:solidFill>
              <a:srgbClr val="FAF8FE"/>
            </a:solidFill>
            <a:prstDash val="solid"/>
          </a:ln>
          <a:effectLst>
            <a:outerShdw blurRad="127000" dist="12700" dir="5400000" algn="bl" rotWithShape="0">
              <a:srgbClr val="1A1033">
                <a:alpha val="10000"/>
              </a:srgbClr>
            </a:outerShdw>
          </a:effectLst>
        </p:spPr>
        <p:txBody>
          <a:bodyPr/>
          <a:lstStyle/>
          <a:p>
            <a:endParaRPr lang="en-US"/>
          </a:p>
        </p:txBody>
      </p:sp>
      <p:sp>
        <p:nvSpPr>
          <p:cNvPr id="28" name="Text 26"/>
          <p:cNvSpPr/>
          <p:nvPr/>
        </p:nvSpPr>
        <p:spPr>
          <a:xfrm>
            <a:off x="841248" y="4754880"/>
            <a:ext cx="4526280" cy="768096"/>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Serverless throughout: Lambda, DynamoDB, S3, Textract.</a:t>
            </a:r>
            <a:endParaRPr lang="en-US" sz="1150"/>
          </a:p>
        </p:txBody>
      </p:sp>
      <p:sp>
        <p:nvSpPr>
          <p:cNvPr id="29" name="Shape 27"/>
          <p:cNvSpPr/>
          <p:nvPr/>
        </p:nvSpPr>
        <p:spPr>
          <a:xfrm>
            <a:off x="5833872" y="5029200"/>
            <a:ext cx="292608" cy="219456"/>
          </a:xfrm>
          <a:prstGeom prst="rightArrow">
            <a:avLst/>
          </a:prstGeom>
          <a:solidFill>
            <a:srgbClr val="C3B4DE"/>
          </a:solidFill>
          <a:ln w="12700">
            <a:solidFill>
              <a:srgbClr val="C3B4DE"/>
            </a:solidFill>
            <a:prstDash val="solid"/>
          </a:ln>
        </p:spPr>
        <p:txBody>
          <a:bodyPr/>
          <a:lstStyle/>
          <a:p>
            <a:endParaRPr lang="en-US"/>
          </a:p>
        </p:txBody>
      </p:sp>
      <p:sp>
        <p:nvSpPr>
          <p:cNvPr id="30" name="Shape 28"/>
          <p:cNvSpPr/>
          <p:nvPr/>
        </p:nvSpPr>
        <p:spPr>
          <a:xfrm>
            <a:off x="6263640" y="4754880"/>
            <a:ext cx="5367528" cy="768096"/>
          </a:xfrm>
          <a:prstGeom prst="roundRect">
            <a:avLst>
              <a:gd name="adj" fmla="val 7143"/>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1" name="Text 29"/>
          <p:cNvSpPr/>
          <p:nvPr/>
        </p:nvSpPr>
        <p:spPr>
          <a:xfrm>
            <a:off x="6537960" y="4754880"/>
            <a:ext cx="4818888" cy="768096"/>
          </a:xfrm>
          <a:prstGeom prst="rect">
            <a:avLst/>
          </a:prstGeom>
          <a:noFill/>
          <a:ln/>
        </p:spPr>
        <p:txBody>
          <a:bodyPr wrap="square" lIns="0" tIns="0" rIns="0" bIns="0" rtlCol="0" anchor="ctr"/>
          <a:lstStyle/>
          <a:p>
            <a:pPr marL="0" indent="0">
              <a:lnSpc>
                <a:spcPts val="1500"/>
              </a:lnSpc>
              <a:buNone/>
            </a:pPr>
            <a:r>
              <a:rPr lang="en-US" sz="1150">
                <a:solidFill>
                  <a:srgbClr val="12101F"/>
                </a:solidFill>
                <a:latin typeface="Calibri" pitchFamily="34" charset="0"/>
                <a:ea typeface="Calibri" pitchFamily="34" charset="-122"/>
                <a:cs typeface="Calibri" pitchFamily="34" charset="-120"/>
              </a:rPr>
              <a:t>Same components, higher limits. Nothing to re-platform and no servers to resize.</a:t>
            </a:r>
            <a:endParaRPr lang="en-US" sz="1150"/>
          </a:p>
        </p:txBody>
      </p:sp>
      <p:sp>
        <p:nvSpPr>
          <p:cNvPr id="32" name="Shape 30"/>
          <p:cNvSpPr/>
          <p:nvPr/>
        </p:nvSpPr>
        <p:spPr>
          <a:xfrm>
            <a:off x="566928" y="5742432"/>
            <a:ext cx="11064240" cy="475488"/>
          </a:xfrm>
          <a:prstGeom prst="roundRect">
            <a:avLst>
              <a:gd name="adj" fmla="val 11538"/>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33" name="Text 31"/>
          <p:cNvSpPr/>
          <p:nvPr/>
        </p:nvSpPr>
        <p:spPr>
          <a:xfrm>
            <a:off x="841248" y="5742432"/>
            <a:ext cx="10515600" cy="475488"/>
          </a:xfrm>
          <a:prstGeom prst="rect">
            <a:avLst/>
          </a:prstGeom>
          <a:noFill/>
          <a:ln/>
        </p:spPr>
        <p:txBody>
          <a:bodyPr wrap="square" lIns="0" tIns="0" rIns="0" bIns="0" rtlCol="0" anchor="ctr"/>
          <a:lstStyle/>
          <a:p>
            <a:pPr marL="0" indent="0">
              <a:buNone/>
            </a:pPr>
            <a:r>
              <a:rPr lang="en-US" sz="1150" i="1">
                <a:solidFill>
                  <a:srgbClr val="FFFFFF"/>
                </a:solidFill>
                <a:latin typeface="Calibri" pitchFamily="34" charset="0"/>
                <a:ea typeface="Calibri" pitchFamily="34" charset="-122"/>
                <a:cs typeface="Calibri" pitchFamily="34" charset="-120"/>
              </a:rPr>
              <a:t>Feasibility, evidenced: everything on the left is running inside the hack window, on six managed services, within the credit. Nothing on the right depends on a component we haven't already used.</a:t>
            </a:r>
            <a:endParaRPr lang="en-US" sz="11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Cost Effectiveness</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What we estimated, and what we actually spent.</a:t>
            </a:r>
            <a:endParaRPr lang="en-US" sz="1300"/>
          </a:p>
        </p:txBody>
      </p:sp>
      <p:sp>
        <p:nvSpPr>
          <p:cNvPr id="6" name="Text 4"/>
          <p:cNvSpPr/>
          <p:nvPr/>
        </p:nvSpPr>
        <p:spPr>
          <a:xfrm>
            <a:off x="10424160" y="914400"/>
            <a:ext cx="1325880" cy="256032"/>
          </a:xfrm>
          <a:prstGeom prst="rect">
            <a:avLst/>
          </a:prstGeom>
          <a:noFill/>
          <a:ln/>
        </p:spPr>
        <p:txBody>
          <a:bodyPr wrap="square" lIns="0" tIns="0" rIns="0" bIns="0" rtlCol="0" anchor="ctr"/>
          <a:lstStyle/>
          <a:p>
            <a:pPr marL="0" indent="0" algn="ctr">
              <a:buNone/>
            </a:pPr>
            <a:r>
              <a:rPr lang="en-US" sz="850">
                <a:solidFill>
                  <a:srgbClr val="FFFFFF"/>
                </a:solidFill>
                <a:latin typeface="Calibri" pitchFamily="34" charset="0"/>
                <a:ea typeface="Calibri" pitchFamily="34" charset="-122"/>
                <a:cs typeface="Calibri" pitchFamily="34" charset="-120"/>
              </a:rPr>
              <a:t>of score</a:t>
            </a:r>
            <a:endParaRPr lang="en-US" sz="85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14</a:t>
            </a:r>
            <a:endParaRPr lang="en-US" sz="1050"/>
          </a:p>
        </p:txBody>
      </p:sp>
      <p:sp>
        <p:nvSpPr>
          <p:cNvPr id="10" name="Shape 8"/>
          <p:cNvSpPr/>
          <p:nvPr/>
        </p:nvSpPr>
        <p:spPr>
          <a:xfrm>
            <a:off x="566928" y="1645920"/>
            <a:ext cx="3520440" cy="1234440"/>
          </a:xfrm>
          <a:prstGeom prst="roundRect">
            <a:avLst>
              <a:gd name="adj" fmla="val 4444"/>
            </a:avLst>
          </a:prstGeom>
          <a:solidFill>
            <a:srgbClr val="141033"/>
          </a:solidFill>
          <a:ln w="9525">
            <a:solidFill>
              <a:srgbClr val="141033"/>
            </a:solidFill>
            <a:prstDash val="solid"/>
          </a:ln>
          <a:effectLst>
            <a:outerShdw blurRad="127000" dist="12700" dir="5400000" algn="bl" rotWithShape="0">
              <a:srgbClr val="1A1033">
                <a:alpha val="10000"/>
              </a:srgbClr>
            </a:outerShdw>
          </a:effectLst>
        </p:spPr>
        <p:txBody>
          <a:bodyPr/>
          <a:lstStyle/>
          <a:p>
            <a:endParaRPr lang="en-US"/>
          </a:p>
        </p:txBody>
      </p:sp>
      <p:sp>
        <p:nvSpPr>
          <p:cNvPr id="11" name="Text 9"/>
          <p:cNvSpPr/>
          <p:nvPr/>
        </p:nvSpPr>
        <p:spPr>
          <a:xfrm>
            <a:off x="859536" y="1783080"/>
            <a:ext cx="2926080" cy="237744"/>
          </a:xfrm>
          <a:prstGeom prst="rect">
            <a:avLst/>
          </a:prstGeom>
          <a:noFill/>
          <a:ln/>
        </p:spPr>
        <p:txBody>
          <a:bodyPr wrap="square" lIns="0" tIns="0" rIns="0" bIns="0" rtlCol="0" anchor="ctr"/>
          <a:lstStyle/>
          <a:p>
            <a:pPr marL="0" indent="0">
              <a:buNone/>
            </a:pPr>
            <a:r>
              <a:rPr lang="en-US" sz="900" b="1" kern="0" spc="140">
                <a:solidFill>
                  <a:srgbClr val="C9B6E8"/>
                </a:solidFill>
                <a:latin typeface="Calibri" pitchFamily="34" charset="0"/>
                <a:ea typeface="Calibri" pitchFamily="34" charset="-122"/>
                <a:cs typeface="Calibri" pitchFamily="34" charset="-120"/>
              </a:rPr>
              <a:t>ESTIMATED</a:t>
            </a:r>
            <a:endParaRPr lang="en-US" sz="900"/>
          </a:p>
        </p:txBody>
      </p:sp>
      <p:sp>
        <p:nvSpPr>
          <p:cNvPr id="12" name="Text 10"/>
          <p:cNvSpPr/>
          <p:nvPr/>
        </p:nvSpPr>
        <p:spPr>
          <a:xfrm>
            <a:off x="859536" y="2011680"/>
            <a:ext cx="2926080" cy="566928"/>
          </a:xfrm>
          <a:prstGeom prst="rect">
            <a:avLst/>
          </a:prstGeom>
          <a:noFill/>
          <a:ln/>
        </p:spPr>
        <p:txBody>
          <a:bodyPr wrap="square" lIns="0" tIns="0" rIns="0" bIns="0" rtlCol="0" anchor="ctr"/>
          <a:lstStyle/>
          <a:p>
            <a:pPr marL="0" indent="0">
              <a:buNone/>
            </a:pPr>
            <a:r>
              <a:rPr lang="en-US" sz="3000" b="1">
                <a:solidFill>
                  <a:srgbClr val="FF9900"/>
                </a:solidFill>
                <a:latin typeface="Bookman Old Style" pitchFamily="34" charset="0"/>
                <a:ea typeface="Bookman Old Style" pitchFamily="34" charset="-122"/>
                <a:cs typeface="Bookman Old Style" pitchFamily="34" charset="-120"/>
              </a:rPr>
              <a:t>$36</a:t>
            </a:r>
            <a:endParaRPr lang="en-US" sz="3000"/>
          </a:p>
        </p:txBody>
      </p:sp>
      <p:sp>
        <p:nvSpPr>
          <p:cNvPr id="13" name="Text 11"/>
          <p:cNvSpPr/>
          <p:nvPr/>
        </p:nvSpPr>
        <p:spPr>
          <a:xfrm>
            <a:off x="859536" y="2578608"/>
            <a:ext cx="2926080" cy="256032"/>
          </a:xfrm>
          <a:prstGeom prst="rect">
            <a:avLst/>
          </a:prstGeom>
          <a:noFill/>
          <a:ln/>
        </p:spPr>
        <p:txBody>
          <a:bodyPr wrap="square" lIns="0" tIns="0" rIns="0" bIns="0" rtlCol="0" anchor="ctr"/>
          <a:lstStyle/>
          <a:p>
            <a:pPr marL="0" indent="0">
              <a:buNone/>
            </a:pPr>
            <a:r>
              <a:rPr lang="en-US" sz="1050">
                <a:solidFill>
                  <a:srgbClr val="E0D2F5"/>
                </a:solidFill>
                <a:latin typeface="Calibri" pitchFamily="34" charset="0"/>
                <a:ea typeface="Calibri" pitchFamily="34" charset="-122"/>
                <a:cs typeface="Calibri" pitchFamily="34" charset="-120"/>
              </a:rPr>
              <a:t>for one 4-week hack period</a:t>
            </a:r>
            <a:endParaRPr lang="en-US" sz="1050"/>
          </a:p>
        </p:txBody>
      </p:sp>
      <p:sp>
        <p:nvSpPr>
          <p:cNvPr id="14" name="Shape 12"/>
          <p:cNvSpPr/>
          <p:nvPr/>
        </p:nvSpPr>
        <p:spPr>
          <a:xfrm>
            <a:off x="4343400" y="1645920"/>
            <a:ext cx="3520440" cy="1234440"/>
          </a:xfrm>
          <a:prstGeom prst="roundRect">
            <a:avLst>
              <a:gd name="adj" fmla="val 4444"/>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15" name="Text 13"/>
          <p:cNvSpPr/>
          <p:nvPr/>
        </p:nvSpPr>
        <p:spPr>
          <a:xfrm>
            <a:off x="4636008" y="1783080"/>
            <a:ext cx="2926080" cy="237744"/>
          </a:xfrm>
          <a:prstGeom prst="rect">
            <a:avLst/>
          </a:prstGeom>
          <a:noFill/>
          <a:ln/>
        </p:spPr>
        <p:txBody>
          <a:bodyPr wrap="square" lIns="0" tIns="0" rIns="0" bIns="0" rtlCol="0" anchor="ctr"/>
          <a:lstStyle/>
          <a:p>
            <a:pPr marL="0" indent="0">
              <a:buNone/>
            </a:pPr>
            <a:r>
              <a:rPr lang="en-US" sz="900" b="1" kern="0" spc="140">
                <a:solidFill>
                  <a:srgbClr val="C9B6E8"/>
                </a:solidFill>
                <a:latin typeface="Calibri" pitchFamily="34" charset="0"/>
                <a:ea typeface="Calibri" pitchFamily="34" charset="-122"/>
                <a:cs typeface="Calibri" pitchFamily="34" charset="-120"/>
              </a:rPr>
              <a:t>ACTUAL, AFTER THE FINAL RUN</a:t>
            </a:r>
            <a:endParaRPr lang="en-US" sz="900"/>
          </a:p>
        </p:txBody>
      </p:sp>
      <p:sp>
        <p:nvSpPr>
          <p:cNvPr id="16" name="Text 14"/>
          <p:cNvSpPr/>
          <p:nvPr/>
        </p:nvSpPr>
        <p:spPr>
          <a:xfrm>
            <a:off x="4636008" y="2011680"/>
            <a:ext cx="2926080" cy="566928"/>
          </a:xfrm>
          <a:prstGeom prst="rect">
            <a:avLst/>
          </a:prstGeom>
          <a:noFill/>
          <a:ln/>
        </p:spPr>
        <p:txBody>
          <a:bodyPr wrap="square" lIns="0" tIns="0" rIns="0" bIns="0" rtlCol="0" anchor="ctr"/>
          <a:lstStyle/>
          <a:p>
            <a:pPr marL="0" indent="0">
              <a:buNone/>
            </a:pPr>
            <a:r>
              <a:rPr lang="en-US" sz="3000" b="1">
                <a:solidFill>
                  <a:srgbClr val="FF9900"/>
                </a:solidFill>
                <a:latin typeface="Bookman Old Style" pitchFamily="34" charset="0"/>
                <a:ea typeface="Bookman Old Style" pitchFamily="34" charset="-122"/>
                <a:cs typeface="Bookman Old Style" pitchFamily="34" charset="-120"/>
              </a:rPr>
              <a:t>$0.79</a:t>
            </a:r>
            <a:endParaRPr lang="en-US" sz="3000"/>
          </a:p>
        </p:txBody>
      </p:sp>
      <p:sp>
        <p:nvSpPr>
          <p:cNvPr id="17" name="Text 15"/>
          <p:cNvSpPr/>
          <p:nvPr/>
        </p:nvSpPr>
        <p:spPr>
          <a:xfrm>
            <a:off x="4636008" y="2578608"/>
            <a:ext cx="2926080" cy="256032"/>
          </a:xfrm>
          <a:prstGeom prst="rect">
            <a:avLst/>
          </a:prstGeom>
          <a:noFill/>
          <a:ln/>
        </p:spPr>
        <p:txBody>
          <a:bodyPr wrap="square" lIns="0" tIns="0" rIns="0" bIns="0" rtlCol="0" anchor="ctr"/>
          <a:lstStyle/>
          <a:p>
            <a:pPr marL="0" indent="0">
              <a:buNone/>
            </a:pPr>
            <a:r>
              <a:rPr lang="en-US" sz="1050">
                <a:solidFill>
                  <a:srgbClr val="E0D2F5"/>
                </a:solidFill>
                <a:latin typeface="Calibri" pitchFamily="34" charset="0"/>
                <a:ea typeface="Calibri" pitchFamily="34" charset="-122"/>
                <a:cs typeface="Calibri" pitchFamily="34" charset="-120"/>
              </a:rPr>
              <a:t>measured in AWS Billing</a:t>
            </a:r>
            <a:endParaRPr lang="en-US" sz="1050"/>
          </a:p>
        </p:txBody>
      </p:sp>
      <p:sp>
        <p:nvSpPr>
          <p:cNvPr id="18" name="Shape 16"/>
          <p:cNvSpPr/>
          <p:nvPr/>
        </p:nvSpPr>
        <p:spPr>
          <a:xfrm>
            <a:off x="8119872" y="1645920"/>
            <a:ext cx="3520440" cy="1234440"/>
          </a:xfrm>
          <a:prstGeom prst="roundRect">
            <a:avLst>
              <a:gd name="adj" fmla="val 4444"/>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9" name="Text 17"/>
          <p:cNvSpPr/>
          <p:nvPr/>
        </p:nvSpPr>
        <p:spPr>
          <a:xfrm>
            <a:off x="8412480" y="1783080"/>
            <a:ext cx="2926080" cy="237744"/>
          </a:xfrm>
          <a:prstGeom prst="rect">
            <a:avLst/>
          </a:prstGeom>
          <a:noFill/>
          <a:ln/>
        </p:spPr>
        <p:txBody>
          <a:bodyPr wrap="square" lIns="0" tIns="0" rIns="0" bIns="0" rtlCol="0" anchor="ctr"/>
          <a:lstStyle/>
          <a:p>
            <a:pPr marL="0" indent="0">
              <a:buNone/>
            </a:pPr>
            <a:r>
              <a:rPr lang="en-US" sz="900" b="1" kern="0" spc="140">
                <a:solidFill>
                  <a:srgbClr val="7C8493"/>
                </a:solidFill>
                <a:latin typeface="Calibri" pitchFamily="34" charset="0"/>
                <a:ea typeface="Calibri" pitchFamily="34" charset="-122"/>
                <a:cs typeface="Calibri" pitchFamily="34" charset="-120"/>
              </a:rPr>
              <a:t>AWS CREDIT</a:t>
            </a:r>
            <a:endParaRPr lang="en-US" sz="900"/>
          </a:p>
        </p:txBody>
      </p:sp>
      <p:sp>
        <p:nvSpPr>
          <p:cNvPr id="20" name="Text 18"/>
          <p:cNvSpPr/>
          <p:nvPr/>
        </p:nvSpPr>
        <p:spPr>
          <a:xfrm>
            <a:off x="8412480" y="2011680"/>
            <a:ext cx="2926080" cy="566928"/>
          </a:xfrm>
          <a:prstGeom prst="rect">
            <a:avLst/>
          </a:prstGeom>
          <a:noFill/>
          <a:ln/>
        </p:spPr>
        <p:txBody>
          <a:bodyPr wrap="square" lIns="0" tIns="0" rIns="0" bIns="0" rtlCol="0" anchor="ctr"/>
          <a:lstStyle/>
          <a:p>
            <a:pPr marL="0" indent="0">
              <a:buNone/>
            </a:pPr>
            <a:r>
              <a:rPr lang="en-US" sz="3000" b="1">
                <a:solidFill>
                  <a:srgbClr val="6B21A8"/>
                </a:solidFill>
                <a:latin typeface="Bookman Old Style" pitchFamily="34" charset="0"/>
                <a:ea typeface="Bookman Old Style" pitchFamily="34" charset="-122"/>
                <a:cs typeface="Bookman Old Style" pitchFamily="34" charset="-120"/>
              </a:rPr>
              <a:t>$100</a:t>
            </a:r>
            <a:endParaRPr lang="en-US" sz="3000"/>
          </a:p>
        </p:txBody>
      </p:sp>
      <p:sp>
        <p:nvSpPr>
          <p:cNvPr id="21" name="Text 19"/>
          <p:cNvSpPr/>
          <p:nvPr/>
        </p:nvSpPr>
        <p:spPr>
          <a:xfrm>
            <a:off x="8412480" y="2578608"/>
            <a:ext cx="2926080" cy="256032"/>
          </a:xfrm>
          <a:prstGeom prst="rect">
            <a:avLst/>
          </a:prstGeom>
          <a:noFill/>
          <a:ln/>
        </p:spPr>
        <p:txBody>
          <a:bodyPr wrap="square" lIns="0" tIns="0" rIns="0" bIns="0" rtlCol="0" anchor="ctr"/>
          <a:lstStyle/>
          <a:p>
            <a:pPr marL="0" indent="0">
              <a:buNone/>
            </a:pPr>
            <a:r>
              <a:rPr lang="en-US" sz="1050">
                <a:solidFill>
                  <a:srgbClr val="4B5563"/>
                </a:solidFill>
                <a:latin typeface="Calibri" pitchFamily="34" charset="0"/>
                <a:ea typeface="Calibri" pitchFamily="34" charset="-122"/>
                <a:cs typeface="Calibri" pitchFamily="34" charset="-120"/>
              </a:rPr>
              <a:t>the ceiling we were given</a:t>
            </a:r>
            <a:endParaRPr lang="en-US" sz="1050"/>
          </a:p>
        </p:txBody>
      </p:sp>
      <p:graphicFrame>
        <p:nvGraphicFramePr>
          <p:cNvPr id="22" name="Chart 0"/>
          <p:cNvGraphicFramePr/>
          <p:nvPr/>
        </p:nvGraphicFramePr>
        <p:xfrm>
          <a:off x="411480" y="3063240"/>
          <a:ext cx="57150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6272784" y="3035248"/>
            <a:ext cx="5367528" cy="2286000"/>
          </a:xfrm>
          <a:prstGeom prst="roundRect">
            <a:avLst>
              <a:gd name="adj" fmla="val 2400"/>
            </a:avLst>
          </a:prstGeom>
          <a:solidFill>
            <a:srgbClr val="FCFBFE"/>
          </a:solidFill>
          <a:ln w="12700">
            <a:solidFill>
              <a:srgbClr val="A100FF"/>
            </a:solidFill>
            <a:prstDash val="solid"/>
          </a:ln>
        </p:spPr>
        <p:txBody>
          <a:bodyPr/>
          <a:lstStyle/>
          <a:p>
            <a:endParaRPr lang="en-US"/>
          </a:p>
        </p:txBody>
      </p:sp>
      <p:sp>
        <p:nvSpPr>
          <p:cNvPr id="24" name="Text 21"/>
          <p:cNvSpPr/>
          <p:nvPr/>
        </p:nvSpPr>
        <p:spPr>
          <a:xfrm>
            <a:off x="6263640" y="3072197"/>
            <a:ext cx="5367528" cy="274320"/>
          </a:xfrm>
          <a:prstGeom prst="rect">
            <a:avLst/>
          </a:prstGeom>
          <a:noFill/>
          <a:ln/>
        </p:spPr>
        <p:txBody>
          <a:bodyPr wrap="square" lIns="0" tIns="0" rIns="0" bIns="0" rtlCol="0" anchor="ctr"/>
          <a:lstStyle/>
          <a:p>
            <a:pPr marL="0" indent="0" algn="ctr">
              <a:buNone/>
            </a:pPr>
            <a:r>
              <a:rPr lang="en-US" sz="1050" b="1" kern="0" spc="60">
                <a:solidFill>
                  <a:srgbClr val="6B21A8"/>
                </a:solidFill>
                <a:latin typeface="Calibri" pitchFamily="34" charset="0"/>
                <a:ea typeface="Calibri" pitchFamily="34" charset="-122"/>
                <a:cs typeface="Calibri" pitchFamily="34" charset="-120"/>
              </a:rPr>
              <a:t>AWS Cost Explorer, spend after the final run</a:t>
            </a:r>
            <a:endParaRPr lang="en-US" sz="1050"/>
          </a:p>
        </p:txBody>
      </p:sp>
      <p:sp>
        <p:nvSpPr>
          <p:cNvPr id="26" name="Shape 23"/>
          <p:cNvSpPr/>
          <p:nvPr/>
        </p:nvSpPr>
        <p:spPr>
          <a:xfrm>
            <a:off x="566928" y="5486400"/>
            <a:ext cx="11064240" cy="548640"/>
          </a:xfrm>
          <a:prstGeom prst="roundRect">
            <a:avLst>
              <a:gd name="adj" fmla="val 10000"/>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27" name="Text 24"/>
          <p:cNvSpPr/>
          <p:nvPr/>
        </p:nvSpPr>
        <p:spPr>
          <a:xfrm>
            <a:off x="841248" y="5486400"/>
            <a:ext cx="10515600" cy="548640"/>
          </a:xfrm>
          <a:prstGeom prst="rect">
            <a:avLst/>
          </a:prstGeom>
          <a:noFill/>
          <a:ln/>
        </p:spPr>
        <p:txBody>
          <a:bodyPr wrap="square" lIns="0" tIns="0" rIns="0" bIns="0" rtlCol="0" anchor="ctr"/>
          <a:lstStyle/>
          <a:p>
            <a:pPr marL="0" indent="0">
              <a:lnSpc>
                <a:spcPts val="1400"/>
              </a:lnSpc>
              <a:buNone/>
            </a:pPr>
            <a:r>
              <a:rPr lang="en-US" sz="1100" b="1">
                <a:solidFill>
                  <a:srgbClr val="6B21A8"/>
                </a:solidFill>
                <a:latin typeface="Calibri" pitchFamily="34" charset="0"/>
                <a:ea typeface="Calibri" pitchFamily="34" charset="-122"/>
                <a:cs typeface="Calibri" pitchFamily="34" charset="-120"/>
              </a:rPr>
              <a:t>The framework itself is free.  </a:t>
            </a:r>
            <a:r>
              <a:rPr lang="en-US" sz="1100">
                <a:solidFill>
                  <a:srgbClr val="4B5563"/>
                </a:solidFill>
                <a:latin typeface="Calibri" pitchFamily="34" charset="0"/>
                <a:ea typeface="Calibri" pitchFamily="34" charset="-122"/>
                <a:cs typeface="Calibri" pitchFamily="34" charset="-120"/>
              </a:rPr>
              <a:t>Strands is open source, so we pay for Bedrock inference and Lambda execution only. Serverless throughout means we pay per audit run, not per hour, and the arithmetic we kept in Python is inference never bought.</a:t>
            </a:r>
            <a:endParaRPr lang="en-US" sz="1100"/>
          </a:p>
        </p:txBody>
      </p:sp>
      <p:pic>
        <p:nvPicPr>
          <p:cNvPr id="31" name="Picture 30">
            <a:extLst>
              <a:ext uri="{FF2B5EF4-FFF2-40B4-BE49-F238E27FC236}">
                <a16:creationId xmlns:a16="http://schemas.microsoft.com/office/drawing/2014/main" id="{3425DA30-93D7-4F9F-7723-AB9EF290D648}"/>
              </a:ext>
            </a:extLst>
          </p:cNvPr>
          <p:cNvPicPr>
            <a:picLocks noChangeAspect="1"/>
          </p:cNvPicPr>
          <p:nvPr/>
        </p:nvPicPr>
        <p:blipFill>
          <a:blip r:embed="rId4"/>
          <a:stretch>
            <a:fillRect/>
          </a:stretch>
        </p:blipFill>
        <p:spPr>
          <a:xfrm>
            <a:off x="6761988" y="3290318"/>
            <a:ext cx="4389120" cy="201081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Sustainability</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Compute in proportion to work actually done.</a:t>
            </a:r>
            <a:endParaRPr lang="en-US" sz="130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15</a:t>
            </a:r>
            <a:endParaRPr lang="en-US" sz="1050"/>
          </a:p>
        </p:txBody>
      </p:sp>
      <p:sp>
        <p:nvSpPr>
          <p:cNvPr id="10" name="Shape 8"/>
          <p:cNvSpPr/>
          <p:nvPr/>
        </p:nvSpPr>
        <p:spPr>
          <a:xfrm>
            <a:off x="566928" y="1645920"/>
            <a:ext cx="5394960" cy="1280160"/>
          </a:xfrm>
          <a:prstGeom prst="roundRect">
            <a:avLst>
              <a:gd name="adj" fmla="val 4286"/>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11" name="Shape 9"/>
          <p:cNvSpPr/>
          <p:nvPr/>
        </p:nvSpPr>
        <p:spPr>
          <a:xfrm>
            <a:off x="914400" y="1975104"/>
            <a:ext cx="201168" cy="201168"/>
          </a:xfrm>
          <a:prstGeom prst="ellipse">
            <a:avLst/>
          </a:prstGeom>
          <a:solidFill>
            <a:srgbClr val="1F7A5A"/>
          </a:solidFill>
          <a:ln w="12700">
            <a:solidFill>
              <a:srgbClr val="1F7A5A"/>
            </a:solidFill>
            <a:prstDash val="solid"/>
          </a:ln>
        </p:spPr>
        <p:txBody>
          <a:bodyPr/>
          <a:lstStyle/>
          <a:p>
            <a:endParaRPr lang="en-US"/>
          </a:p>
        </p:txBody>
      </p:sp>
      <p:sp>
        <p:nvSpPr>
          <p:cNvPr id="12" name="Text 10"/>
          <p:cNvSpPr/>
          <p:nvPr/>
        </p:nvSpPr>
        <p:spPr>
          <a:xfrm>
            <a:off x="1225296" y="1828800"/>
            <a:ext cx="438912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Nothing idles</a:t>
            </a:r>
            <a:endParaRPr lang="en-US" sz="1400"/>
          </a:p>
        </p:txBody>
      </p:sp>
      <p:sp>
        <p:nvSpPr>
          <p:cNvPr id="13" name="Text 11"/>
          <p:cNvSpPr/>
          <p:nvPr/>
        </p:nvSpPr>
        <p:spPr>
          <a:xfrm>
            <a:off x="1225296" y="2176272"/>
            <a:ext cx="438912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Every component scales to zero between runs. No server is powered on waiting for a document. Compute exists only while one is being processed.</a:t>
            </a:r>
            <a:endParaRPr lang="en-US" sz="1100"/>
          </a:p>
        </p:txBody>
      </p:sp>
      <p:sp>
        <p:nvSpPr>
          <p:cNvPr id="14" name="Shape 12"/>
          <p:cNvSpPr/>
          <p:nvPr/>
        </p:nvSpPr>
        <p:spPr>
          <a:xfrm>
            <a:off x="6144768" y="1645920"/>
            <a:ext cx="5394960" cy="1280160"/>
          </a:xfrm>
          <a:prstGeom prst="roundRect">
            <a:avLst>
              <a:gd name="adj" fmla="val 4286"/>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15" name="Shape 13"/>
          <p:cNvSpPr/>
          <p:nvPr/>
        </p:nvSpPr>
        <p:spPr>
          <a:xfrm>
            <a:off x="6492240" y="1975104"/>
            <a:ext cx="201168" cy="201168"/>
          </a:xfrm>
          <a:prstGeom prst="ellipse">
            <a:avLst/>
          </a:prstGeom>
          <a:solidFill>
            <a:srgbClr val="1F7A5A"/>
          </a:solidFill>
          <a:ln w="12700">
            <a:solidFill>
              <a:srgbClr val="1F7A5A"/>
            </a:solidFill>
            <a:prstDash val="solid"/>
          </a:ln>
        </p:spPr>
        <p:txBody>
          <a:bodyPr/>
          <a:lstStyle/>
          <a:p>
            <a:endParaRPr lang="en-US"/>
          </a:p>
        </p:txBody>
      </p:sp>
      <p:sp>
        <p:nvSpPr>
          <p:cNvPr id="16" name="Text 14"/>
          <p:cNvSpPr/>
          <p:nvPr/>
        </p:nvSpPr>
        <p:spPr>
          <a:xfrm>
            <a:off x="6803136" y="1828800"/>
            <a:ext cx="438912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Fewer tokens by design</a:t>
            </a:r>
            <a:endParaRPr lang="en-US" sz="1400"/>
          </a:p>
        </p:txBody>
      </p:sp>
      <p:sp>
        <p:nvSpPr>
          <p:cNvPr id="17" name="Text 15"/>
          <p:cNvSpPr/>
          <p:nvPr/>
        </p:nvSpPr>
        <p:spPr>
          <a:xfrm>
            <a:off x="6803136" y="2176272"/>
            <a:ext cx="438912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Inference is the energy-intensive part of this system. Computing every total in Python and capping output per agent cuts how much inference happens, not just what it costs.</a:t>
            </a:r>
            <a:endParaRPr lang="en-US" sz="1100"/>
          </a:p>
        </p:txBody>
      </p:sp>
      <p:sp>
        <p:nvSpPr>
          <p:cNvPr id="18" name="Shape 16"/>
          <p:cNvSpPr/>
          <p:nvPr/>
        </p:nvSpPr>
        <p:spPr>
          <a:xfrm>
            <a:off x="566928" y="3108960"/>
            <a:ext cx="5394960" cy="1280160"/>
          </a:xfrm>
          <a:prstGeom prst="roundRect">
            <a:avLst>
              <a:gd name="adj" fmla="val 4286"/>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19" name="Shape 17"/>
          <p:cNvSpPr/>
          <p:nvPr/>
        </p:nvSpPr>
        <p:spPr>
          <a:xfrm>
            <a:off x="914400" y="3438144"/>
            <a:ext cx="201168" cy="201168"/>
          </a:xfrm>
          <a:prstGeom prst="ellipse">
            <a:avLst/>
          </a:prstGeom>
          <a:solidFill>
            <a:srgbClr val="1F7A5A"/>
          </a:solidFill>
          <a:ln w="12700">
            <a:solidFill>
              <a:srgbClr val="1F7A5A"/>
            </a:solidFill>
            <a:prstDash val="solid"/>
          </a:ln>
        </p:spPr>
        <p:txBody>
          <a:bodyPr/>
          <a:lstStyle/>
          <a:p>
            <a:endParaRPr lang="en-US"/>
          </a:p>
        </p:txBody>
      </p:sp>
      <p:sp>
        <p:nvSpPr>
          <p:cNvPr id="20" name="Text 18"/>
          <p:cNvSpPr/>
          <p:nvPr/>
        </p:nvSpPr>
        <p:spPr>
          <a:xfrm>
            <a:off x="1225296" y="3291840"/>
            <a:ext cx="438912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A smaller footprint by subtraction</a:t>
            </a:r>
            <a:endParaRPr lang="en-US" sz="1400"/>
          </a:p>
        </p:txBody>
      </p:sp>
      <p:sp>
        <p:nvSpPr>
          <p:cNvPr id="21" name="Text 19"/>
          <p:cNvSpPr/>
          <p:nvPr/>
        </p:nvSpPr>
        <p:spPr>
          <a:xfrm>
            <a:off x="1225296" y="3639312"/>
            <a:ext cx="438912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Six services instead of sixteen. Every component we removed is infrastructure that no longer runs, monitors or stores anything on our behalf.</a:t>
            </a:r>
            <a:endParaRPr lang="en-US" sz="1100"/>
          </a:p>
        </p:txBody>
      </p:sp>
      <p:sp>
        <p:nvSpPr>
          <p:cNvPr id="22" name="Shape 20"/>
          <p:cNvSpPr/>
          <p:nvPr/>
        </p:nvSpPr>
        <p:spPr>
          <a:xfrm>
            <a:off x="6144768" y="3108960"/>
            <a:ext cx="5394960" cy="1280160"/>
          </a:xfrm>
          <a:prstGeom prst="roundRect">
            <a:avLst>
              <a:gd name="adj" fmla="val 4286"/>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23" name="Shape 21"/>
          <p:cNvSpPr/>
          <p:nvPr/>
        </p:nvSpPr>
        <p:spPr>
          <a:xfrm>
            <a:off x="6492240" y="3438144"/>
            <a:ext cx="201168" cy="201168"/>
          </a:xfrm>
          <a:prstGeom prst="ellipse">
            <a:avLst/>
          </a:prstGeom>
          <a:solidFill>
            <a:srgbClr val="1F7A5A"/>
          </a:solidFill>
          <a:ln w="12700">
            <a:solidFill>
              <a:srgbClr val="1F7A5A"/>
            </a:solidFill>
            <a:prstDash val="solid"/>
          </a:ln>
        </p:spPr>
        <p:txBody>
          <a:bodyPr/>
          <a:lstStyle/>
          <a:p>
            <a:endParaRPr lang="en-US"/>
          </a:p>
        </p:txBody>
      </p:sp>
      <p:sp>
        <p:nvSpPr>
          <p:cNvPr id="24" name="Text 22"/>
          <p:cNvSpPr/>
          <p:nvPr/>
        </p:nvSpPr>
        <p:spPr>
          <a:xfrm>
            <a:off x="6803136" y="3291840"/>
            <a:ext cx="438912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We don't store what we won't read</a:t>
            </a:r>
            <a:endParaRPr lang="en-US" sz="1400"/>
          </a:p>
        </p:txBody>
      </p:sp>
      <p:sp>
        <p:nvSpPr>
          <p:cNvPr id="25" name="Text 23"/>
          <p:cNvSpPr/>
          <p:nvPr/>
        </p:nvSpPr>
        <p:spPr>
          <a:xfrm>
            <a:off x="6803136" y="3639312"/>
            <a:ext cx="438912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S3 lifecycle rules, short log retention, and one canonical copy per document rather than the same file scattered across systems.</a:t>
            </a:r>
            <a:endParaRPr lang="en-US" sz="1100"/>
          </a:p>
        </p:txBody>
      </p:sp>
      <p:sp>
        <p:nvSpPr>
          <p:cNvPr id="26" name="Shape 24"/>
          <p:cNvSpPr/>
          <p:nvPr/>
        </p:nvSpPr>
        <p:spPr>
          <a:xfrm>
            <a:off x="566928" y="4572000"/>
            <a:ext cx="11064240" cy="914400"/>
          </a:xfrm>
          <a:prstGeom prst="roundRect">
            <a:avLst>
              <a:gd name="adj" fmla="val 6000"/>
            </a:avLst>
          </a:prstGeom>
          <a:solidFill>
            <a:srgbClr val="F2F8F4"/>
          </a:solidFill>
          <a:ln w="9525">
            <a:solidFill>
              <a:srgbClr val="F2F8F4"/>
            </a:solidFill>
            <a:prstDash val="solid"/>
          </a:ln>
          <a:effectLst>
            <a:outerShdw blurRad="127000" dist="12700" dir="5400000" algn="bl" rotWithShape="0">
              <a:srgbClr val="1A1033">
                <a:alpha val="10000"/>
              </a:srgbClr>
            </a:outerShdw>
          </a:effectLst>
        </p:spPr>
        <p:txBody>
          <a:bodyPr/>
          <a:lstStyle/>
          <a:p>
            <a:endParaRPr lang="en-US"/>
          </a:p>
        </p:txBody>
      </p:sp>
      <p:sp>
        <p:nvSpPr>
          <p:cNvPr id="27" name="Shape 25"/>
          <p:cNvSpPr/>
          <p:nvPr/>
        </p:nvSpPr>
        <p:spPr>
          <a:xfrm>
            <a:off x="914400" y="4901184"/>
            <a:ext cx="201168" cy="201168"/>
          </a:xfrm>
          <a:prstGeom prst="ellipse">
            <a:avLst/>
          </a:prstGeom>
          <a:solidFill>
            <a:srgbClr val="1F7A5A"/>
          </a:solidFill>
          <a:ln w="12700">
            <a:solidFill>
              <a:srgbClr val="1F7A5A"/>
            </a:solidFill>
            <a:prstDash val="solid"/>
          </a:ln>
        </p:spPr>
        <p:txBody>
          <a:bodyPr/>
          <a:lstStyle/>
          <a:p>
            <a:endParaRPr lang="en-US"/>
          </a:p>
        </p:txBody>
      </p:sp>
      <p:sp>
        <p:nvSpPr>
          <p:cNvPr id="28" name="Text 26"/>
          <p:cNvSpPr/>
          <p:nvPr/>
        </p:nvSpPr>
        <p:spPr>
          <a:xfrm>
            <a:off x="1225296" y="4754880"/>
            <a:ext cx="1005840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Paperless end to end</a:t>
            </a:r>
            <a:endParaRPr lang="en-US" sz="1400"/>
          </a:p>
        </p:txBody>
      </p:sp>
      <p:sp>
        <p:nvSpPr>
          <p:cNvPr id="29" name="Text 27"/>
          <p:cNvSpPr/>
          <p:nvPr/>
        </p:nvSpPr>
        <p:spPr>
          <a:xfrm>
            <a:off x="1225296" y="5102352"/>
            <a:ext cx="1005840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The audit trail is digital from upload to dashboard, with no printed ledgers, no filed receipts and no documents couriered between reviewers.</a:t>
            </a:r>
            <a:endParaRPr lang="en-US" sz="1100"/>
          </a:p>
        </p:txBody>
      </p:sp>
      <p:sp>
        <p:nvSpPr>
          <p:cNvPr id="30" name="Text 28"/>
          <p:cNvSpPr/>
          <p:nvPr/>
        </p:nvSpPr>
        <p:spPr>
          <a:xfrm>
            <a:off x="566928" y="5806440"/>
            <a:ext cx="11064240" cy="320040"/>
          </a:xfrm>
          <a:prstGeom prst="rect">
            <a:avLst/>
          </a:prstGeom>
          <a:noFill/>
          <a:ln/>
        </p:spPr>
        <p:txBody>
          <a:bodyPr wrap="square" lIns="0" tIns="0" rIns="0" bIns="0" rtlCol="0" anchor="ctr"/>
          <a:lstStyle/>
          <a:p>
            <a:pPr marL="0" indent="0">
              <a:buNone/>
            </a:pPr>
            <a:r>
              <a:rPr lang="en-US" sz="1100" i="1">
                <a:solidFill>
                  <a:srgbClr val="7C8493"/>
                </a:solidFill>
                <a:latin typeface="Calibri" pitchFamily="34" charset="0"/>
                <a:ea typeface="Calibri" pitchFamily="34" charset="-122"/>
                <a:cs typeface="Calibri" pitchFamily="34" charset="-120"/>
              </a:rPr>
              <a:t>Honest framing: we make no claim about the grid behind the region. What we can claim is that this design consumes compute only in proportion to work actually done.</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Built to Last</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Responsible-AI by design, and a clear path to production.</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16</a:t>
            </a:r>
            <a:endParaRPr lang="en-US" sz="1050"/>
          </a:p>
        </p:txBody>
      </p:sp>
      <p:sp>
        <p:nvSpPr>
          <p:cNvPr id="7" name="Text 5"/>
          <p:cNvSpPr/>
          <p:nvPr/>
        </p:nvSpPr>
        <p:spPr>
          <a:xfrm>
            <a:off x="566928" y="1554480"/>
            <a:ext cx="45720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RESPONSIBLE AI</a:t>
            </a:r>
            <a:endParaRPr lang="en-US" sz="1050"/>
          </a:p>
        </p:txBody>
      </p:sp>
      <p:sp>
        <p:nvSpPr>
          <p:cNvPr id="8" name="Shape 6"/>
          <p:cNvSpPr/>
          <p:nvPr/>
        </p:nvSpPr>
        <p:spPr>
          <a:xfrm>
            <a:off x="566928" y="1920240"/>
            <a:ext cx="5212080" cy="1051560"/>
          </a:xfrm>
          <a:prstGeom prst="roundRect">
            <a:avLst>
              <a:gd name="adj" fmla="val 521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9" name="Shape 7"/>
          <p:cNvSpPr/>
          <p:nvPr/>
        </p:nvSpPr>
        <p:spPr>
          <a:xfrm>
            <a:off x="859536" y="2231136"/>
            <a:ext cx="420624" cy="420624"/>
          </a:xfrm>
          <a:prstGeom prst="ellipse">
            <a:avLst/>
          </a:prstGeom>
          <a:solidFill>
            <a:srgbClr val="0E7490"/>
          </a:solidFill>
          <a:ln w="12700">
            <a:solidFill>
              <a:srgbClr val="0E7490"/>
            </a:solidFill>
            <a:prstDash val="solid"/>
          </a:ln>
        </p:spPr>
        <p:txBody>
          <a:bodyPr/>
          <a:lstStyle/>
          <a:p>
            <a:endParaRPr lang="en-US"/>
          </a:p>
        </p:txBody>
      </p:sp>
      <p:sp>
        <p:nvSpPr>
          <p:cNvPr id="10" name="Text 8"/>
          <p:cNvSpPr/>
          <p:nvPr/>
        </p:nvSpPr>
        <p:spPr>
          <a:xfrm>
            <a:off x="859536" y="2295144"/>
            <a:ext cx="420624" cy="31089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11" name="Text 9"/>
          <p:cNvSpPr/>
          <p:nvPr/>
        </p:nvSpPr>
        <p:spPr>
          <a:xfrm>
            <a:off x="1435608" y="2103120"/>
            <a:ext cx="4114800" cy="310896"/>
          </a:xfrm>
          <a:prstGeom prst="rect">
            <a:avLst/>
          </a:prstGeom>
          <a:noFill/>
          <a:ln/>
        </p:spPr>
        <p:txBody>
          <a:bodyPr wrap="square" lIns="0" tIns="0" rIns="0" bIns="0" rtlCol="0" anchor="ctr"/>
          <a:lstStyle/>
          <a:p>
            <a:pPr marL="0" indent="0">
              <a:buNone/>
            </a:pPr>
            <a:r>
              <a:rPr lang="en-US" sz="1450" b="1">
                <a:solidFill>
                  <a:srgbClr val="12101F"/>
                </a:solidFill>
                <a:latin typeface="Bookman Old Style" pitchFamily="34" charset="0"/>
                <a:ea typeface="Bookman Old Style" pitchFamily="34" charset="-122"/>
                <a:cs typeface="Bookman Old Style" pitchFamily="34" charset="-120"/>
              </a:rPr>
              <a:t>Explainable</a:t>
            </a:r>
            <a:endParaRPr lang="en-US" sz="1450"/>
          </a:p>
        </p:txBody>
      </p:sp>
      <p:sp>
        <p:nvSpPr>
          <p:cNvPr id="12" name="Text 10"/>
          <p:cNvSpPr/>
          <p:nvPr/>
        </p:nvSpPr>
        <p:spPr>
          <a:xfrm>
            <a:off x="1435608" y="2450592"/>
            <a:ext cx="4114800" cy="45720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Each agent returns an independent finding with its evidence. No black-box verdicts.</a:t>
            </a:r>
            <a:endParaRPr lang="en-US" sz="1100"/>
          </a:p>
        </p:txBody>
      </p:sp>
      <p:sp>
        <p:nvSpPr>
          <p:cNvPr id="13" name="Shape 11"/>
          <p:cNvSpPr/>
          <p:nvPr/>
        </p:nvSpPr>
        <p:spPr>
          <a:xfrm>
            <a:off x="566928" y="3127248"/>
            <a:ext cx="5212080" cy="1051560"/>
          </a:xfrm>
          <a:prstGeom prst="roundRect">
            <a:avLst>
              <a:gd name="adj" fmla="val 521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4" name="Shape 12"/>
          <p:cNvSpPr/>
          <p:nvPr/>
        </p:nvSpPr>
        <p:spPr>
          <a:xfrm>
            <a:off x="859536" y="3438144"/>
            <a:ext cx="420624" cy="420624"/>
          </a:xfrm>
          <a:prstGeom prst="ellipse">
            <a:avLst/>
          </a:prstGeom>
          <a:solidFill>
            <a:srgbClr val="0E7490"/>
          </a:solidFill>
          <a:ln w="12700">
            <a:solidFill>
              <a:srgbClr val="0E7490"/>
            </a:solidFill>
            <a:prstDash val="solid"/>
          </a:ln>
        </p:spPr>
        <p:txBody>
          <a:bodyPr/>
          <a:lstStyle/>
          <a:p>
            <a:endParaRPr lang="en-US"/>
          </a:p>
        </p:txBody>
      </p:sp>
      <p:sp>
        <p:nvSpPr>
          <p:cNvPr id="15" name="Text 13"/>
          <p:cNvSpPr/>
          <p:nvPr/>
        </p:nvSpPr>
        <p:spPr>
          <a:xfrm>
            <a:off x="859536" y="3502152"/>
            <a:ext cx="420624" cy="31089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16" name="Text 14"/>
          <p:cNvSpPr/>
          <p:nvPr/>
        </p:nvSpPr>
        <p:spPr>
          <a:xfrm>
            <a:off x="1435608" y="3310128"/>
            <a:ext cx="4114800" cy="310896"/>
          </a:xfrm>
          <a:prstGeom prst="rect">
            <a:avLst/>
          </a:prstGeom>
          <a:noFill/>
          <a:ln/>
        </p:spPr>
        <p:txBody>
          <a:bodyPr wrap="square" lIns="0" tIns="0" rIns="0" bIns="0" rtlCol="0" anchor="ctr"/>
          <a:lstStyle/>
          <a:p>
            <a:pPr marL="0" indent="0">
              <a:buNone/>
            </a:pPr>
            <a:r>
              <a:rPr lang="en-US" sz="1450" b="1">
                <a:solidFill>
                  <a:srgbClr val="12101F"/>
                </a:solidFill>
                <a:latin typeface="Bookman Old Style" pitchFamily="34" charset="0"/>
                <a:ea typeface="Bookman Old Style" pitchFamily="34" charset="-122"/>
                <a:cs typeface="Bookman Old Style" pitchFamily="34" charset="-120"/>
              </a:rPr>
              <a:t>Auditable</a:t>
            </a:r>
            <a:endParaRPr lang="en-US" sz="1450"/>
          </a:p>
        </p:txBody>
      </p:sp>
      <p:sp>
        <p:nvSpPr>
          <p:cNvPr id="17" name="Text 15"/>
          <p:cNvSpPr/>
          <p:nvPr/>
        </p:nvSpPr>
        <p:spPr>
          <a:xfrm>
            <a:off x="1435608" y="3657600"/>
            <a:ext cx="4114800" cy="45720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Every stage is persisted, so any reported figure traces back through the trial balance to a document.</a:t>
            </a:r>
            <a:endParaRPr lang="en-US" sz="1100"/>
          </a:p>
        </p:txBody>
      </p:sp>
      <p:sp>
        <p:nvSpPr>
          <p:cNvPr id="18" name="Shape 16"/>
          <p:cNvSpPr/>
          <p:nvPr/>
        </p:nvSpPr>
        <p:spPr>
          <a:xfrm>
            <a:off x="566928" y="4334256"/>
            <a:ext cx="5212080" cy="1051560"/>
          </a:xfrm>
          <a:prstGeom prst="roundRect">
            <a:avLst>
              <a:gd name="adj" fmla="val 521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9" name="Shape 17"/>
          <p:cNvSpPr/>
          <p:nvPr/>
        </p:nvSpPr>
        <p:spPr>
          <a:xfrm>
            <a:off x="859536" y="4645152"/>
            <a:ext cx="420624" cy="420624"/>
          </a:xfrm>
          <a:prstGeom prst="ellipse">
            <a:avLst/>
          </a:prstGeom>
          <a:solidFill>
            <a:srgbClr val="0E7490"/>
          </a:solidFill>
          <a:ln w="12700">
            <a:solidFill>
              <a:srgbClr val="0E7490"/>
            </a:solidFill>
            <a:prstDash val="solid"/>
          </a:ln>
        </p:spPr>
        <p:txBody>
          <a:bodyPr/>
          <a:lstStyle/>
          <a:p>
            <a:endParaRPr lang="en-US"/>
          </a:p>
        </p:txBody>
      </p:sp>
      <p:sp>
        <p:nvSpPr>
          <p:cNvPr id="20" name="Text 18"/>
          <p:cNvSpPr/>
          <p:nvPr/>
        </p:nvSpPr>
        <p:spPr>
          <a:xfrm>
            <a:off x="859536" y="4709160"/>
            <a:ext cx="420624" cy="31089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21" name="Text 19"/>
          <p:cNvSpPr/>
          <p:nvPr/>
        </p:nvSpPr>
        <p:spPr>
          <a:xfrm>
            <a:off x="1435608" y="4517136"/>
            <a:ext cx="4114800" cy="310896"/>
          </a:xfrm>
          <a:prstGeom prst="rect">
            <a:avLst/>
          </a:prstGeom>
          <a:noFill/>
          <a:ln/>
        </p:spPr>
        <p:txBody>
          <a:bodyPr wrap="square" lIns="0" tIns="0" rIns="0" bIns="0" rtlCol="0" anchor="ctr"/>
          <a:lstStyle/>
          <a:p>
            <a:pPr marL="0" indent="0">
              <a:buNone/>
            </a:pPr>
            <a:r>
              <a:rPr lang="en-US" sz="1450" b="1">
                <a:solidFill>
                  <a:srgbClr val="12101F"/>
                </a:solidFill>
                <a:latin typeface="Bookman Old Style" pitchFamily="34" charset="0"/>
                <a:ea typeface="Bookman Old Style" pitchFamily="34" charset="-122"/>
                <a:cs typeface="Bookman Old Style" pitchFamily="34" charset="-120"/>
              </a:rPr>
              <a:t>Governed</a:t>
            </a:r>
            <a:endParaRPr lang="en-US" sz="1450"/>
          </a:p>
        </p:txBody>
      </p:sp>
      <p:sp>
        <p:nvSpPr>
          <p:cNvPr id="22" name="Text 20"/>
          <p:cNvSpPr/>
          <p:nvPr/>
        </p:nvSpPr>
        <p:spPr>
          <a:xfrm>
            <a:off x="1435608" y="4864608"/>
            <a:ext cx="4114800" cy="45720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Scoped IAM roles per agent and CloudWatch observability on every agent action.</a:t>
            </a:r>
            <a:endParaRPr lang="en-US" sz="1100"/>
          </a:p>
        </p:txBody>
      </p:sp>
      <p:sp>
        <p:nvSpPr>
          <p:cNvPr id="23" name="Text 21"/>
          <p:cNvSpPr/>
          <p:nvPr/>
        </p:nvSpPr>
        <p:spPr>
          <a:xfrm>
            <a:off x="6263640" y="1554480"/>
            <a:ext cx="50292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ROADMAP — v2 IN 3 MONTHS</a:t>
            </a:r>
            <a:endParaRPr lang="en-US" sz="1050"/>
          </a:p>
        </p:txBody>
      </p:sp>
      <p:sp>
        <p:nvSpPr>
          <p:cNvPr id="24" name="Shape 22"/>
          <p:cNvSpPr/>
          <p:nvPr/>
        </p:nvSpPr>
        <p:spPr>
          <a:xfrm>
            <a:off x="6263640" y="2011680"/>
            <a:ext cx="868680" cy="457200"/>
          </a:xfrm>
          <a:prstGeom prst="roundRect">
            <a:avLst>
              <a:gd name="adj" fmla="val 14000"/>
            </a:avLst>
          </a:prstGeom>
          <a:solidFill>
            <a:srgbClr val="6B21A8"/>
          </a:solidFill>
          <a:ln w="12700">
            <a:solidFill>
              <a:srgbClr val="6B21A8"/>
            </a:solidFill>
            <a:prstDash val="solid"/>
          </a:ln>
        </p:spPr>
        <p:txBody>
          <a:bodyPr/>
          <a:lstStyle/>
          <a:p>
            <a:endParaRPr lang="en-US"/>
          </a:p>
        </p:txBody>
      </p:sp>
      <p:sp>
        <p:nvSpPr>
          <p:cNvPr id="25" name="Text 23"/>
          <p:cNvSpPr/>
          <p:nvPr/>
        </p:nvSpPr>
        <p:spPr>
          <a:xfrm>
            <a:off x="6263640" y="2011680"/>
            <a:ext cx="868680"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Now</a:t>
            </a:r>
            <a:endParaRPr lang="en-US" sz="1100"/>
          </a:p>
        </p:txBody>
      </p:sp>
      <p:sp>
        <p:nvSpPr>
          <p:cNvPr id="26" name="Text 24"/>
          <p:cNvSpPr/>
          <p:nvPr/>
        </p:nvSpPr>
        <p:spPr>
          <a:xfrm>
            <a:off x="7315200" y="1965960"/>
            <a:ext cx="4297680" cy="640080"/>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Four agents, three document types, single-team demo on AWS.</a:t>
            </a:r>
            <a:endParaRPr lang="en-US" sz="1150"/>
          </a:p>
        </p:txBody>
      </p:sp>
      <p:sp>
        <p:nvSpPr>
          <p:cNvPr id="27" name="Shape 25"/>
          <p:cNvSpPr/>
          <p:nvPr/>
        </p:nvSpPr>
        <p:spPr>
          <a:xfrm>
            <a:off x="6263640" y="2926080"/>
            <a:ext cx="868680" cy="457200"/>
          </a:xfrm>
          <a:prstGeom prst="roundRect">
            <a:avLst>
              <a:gd name="adj" fmla="val 14000"/>
            </a:avLst>
          </a:prstGeom>
          <a:solidFill>
            <a:srgbClr val="EDE0FB"/>
          </a:solidFill>
          <a:ln w="12700">
            <a:solidFill>
              <a:srgbClr val="DCC8F5"/>
            </a:solidFill>
            <a:prstDash val="solid"/>
          </a:ln>
        </p:spPr>
        <p:txBody>
          <a:bodyPr/>
          <a:lstStyle/>
          <a:p>
            <a:endParaRPr lang="en-US"/>
          </a:p>
        </p:txBody>
      </p:sp>
      <p:sp>
        <p:nvSpPr>
          <p:cNvPr id="28" name="Text 26"/>
          <p:cNvSpPr/>
          <p:nvPr/>
        </p:nvSpPr>
        <p:spPr>
          <a:xfrm>
            <a:off x="6263640" y="2926080"/>
            <a:ext cx="868680" cy="457200"/>
          </a:xfrm>
          <a:prstGeom prst="rect">
            <a:avLst/>
          </a:prstGeom>
          <a:noFill/>
          <a:ln/>
        </p:spPr>
        <p:txBody>
          <a:bodyPr wrap="square" lIns="0" tIns="0" rIns="0" bIns="0" rtlCol="0" anchor="ctr"/>
          <a:lstStyle/>
          <a:p>
            <a:pPr marL="0" indent="0" algn="ctr">
              <a:buNone/>
            </a:pPr>
            <a:r>
              <a:rPr lang="en-US" sz="1100" b="1">
                <a:solidFill>
                  <a:srgbClr val="6B21A8"/>
                </a:solidFill>
                <a:latin typeface="Calibri" pitchFamily="34" charset="0"/>
                <a:ea typeface="Calibri" pitchFamily="34" charset="-122"/>
                <a:cs typeface="Calibri" pitchFamily="34" charset="-120"/>
              </a:rPr>
              <a:t>+1 mo</a:t>
            </a:r>
            <a:endParaRPr lang="en-US" sz="1100"/>
          </a:p>
        </p:txBody>
      </p:sp>
      <p:sp>
        <p:nvSpPr>
          <p:cNvPr id="29" name="Text 27"/>
          <p:cNvSpPr/>
          <p:nvPr/>
        </p:nvSpPr>
        <p:spPr>
          <a:xfrm>
            <a:off x="7315200" y="2880360"/>
            <a:ext cx="4297680" cy="640080"/>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Cash-flow and tax agents; richer dashboard views over the same results store.</a:t>
            </a:r>
            <a:endParaRPr lang="en-US" sz="1150"/>
          </a:p>
        </p:txBody>
      </p:sp>
      <p:sp>
        <p:nvSpPr>
          <p:cNvPr id="30" name="Shape 28"/>
          <p:cNvSpPr/>
          <p:nvPr/>
        </p:nvSpPr>
        <p:spPr>
          <a:xfrm>
            <a:off x="6263640" y="3840480"/>
            <a:ext cx="868680" cy="457200"/>
          </a:xfrm>
          <a:prstGeom prst="roundRect">
            <a:avLst>
              <a:gd name="adj" fmla="val 14000"/>
            </a:avLst>
          </a:prstGeom>
          <a:solidFill>
            <a:srgbClr val="EDE0FB"/>
          </a:solidFill>
          <a:ln w="12700">
            <a:solidFill>
              <a:srgbClr val="DCC8F5"/>
            </a:solidFill>
            <a:prstDash val="solid"/>
          </a:ln>
        </p:spPr>
        <p:txBody>
          <a:bodyPr/>
          <a:lstStyle/>
          <a:p>
            <a:endParaRPr lang="en-US"/>
          </a:p>
        </p:txBody>
      </p:sp>
      <p:sp>
        <p:nvSpPr>
          <p:cNvPr id="31" name="Text 29"/>
          <p:cNvSpPr/>
          <p:nvPr/>
        </p:nvSpPr>
        <p:spPr>
          <a:xfrm>
            <a:off x="6263640" y="3840480"/>
            <a:ext cx="868680" cy="457200"/>
          </a:xfrm>
          <a:prstGeom prst="rect">
            <a:avLst/>
          </a:prstGeom>
          <a:noFill/>
          <a:ln/>
        </p:spPr>
        <p:txBody>
          <a:bodyPr wrap="square" lIns="0" tIns="0" rIns="0" bIns="0" rtlCol="0" anchor="ctr"/>
          <a:lstStyle/>
          <a:p>
            <a:pPr marL="0" indent="0" algn="ctr">
              <a:buNone/>
            </a:pPr>
            <a:r>
              <a:rPr lang="en-US" sz="1100" b="1">
                <a:solidFill>
                  <a:srgbClr val="6B21A8"/>
                </a:solidFill>
                <a:latin typeface="Calibri" pitchFamily="34" charset="0"/>
                <a:ea typeface="Calibri" pitchFamily="34" charset="-122"/>
                <a:cs typeface="Calibri" pitchFamily="34" charset="-120"/>
              </a:rPr>
              <a:t>+2 mo</a:t>
            </a:r>
            <a:endParaRPr lang="en-US" sz="1100"/>
          </a:p>
        </p:txBody>
      </p:sp>
      <p:sp>
        <p:nvSpPr>
          <p:cNvPr id="32" name="Text 30"/>
          <p:cNvSpPr/>
          <p:nvPr/>
        </p:nvSpPr>
        <p:spPr>
          <a:xfrm>
            <a:off x="7315200" y="3794760"/>
            <a:ext cx="4297680" cy="640080"/>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Managed orchestration for true parallel execution and automatic retries.</a:t>
            </a:r>
            <a:endParaRPr lang="en-US" sz="1150"/>
          </a:p>
        </p:txBody>
      </p:sp>
      <p:sp>
        <p:nvSpPr>
          <p:cNvPr id="33" name="Shape 31"/>
          <p:cNvSpPr/>
          <p:nvPr/>
        </p:nvSpPr>
        <p:spPr>
          <a:xfrm>
            <a:off x="6263640" y="4754880"/>
            <a:ext cx="868680" cy="457200"/>
          </a:xfrm>
          <a:prstGeom prst="roundRect">
            <a:avLst>
              <a:gd name="adj" fmla="val 14000"/>
            </a:avLst>
          </a:prstGeom>
          <a:solidFill>
            <a:srgbClr val="EDE0FB"/>
          </a:solidFill>
          <a:ln w="12700">
            <a:solidFill>
              <a:srgbClr val="DCC8F5"/>
            </a:solidFill>
            <a:prstDash val="solid"/>
          </a:ln>
        </p:spPr>
        <p:txBody>
          <a:bodyPr/>
          <a:lstStyle/>
          <a:p>
            <a:endParaRPr lang="en-US"/>
          </a:p>
        </p:txBody>
      </p:sp>
      <p:sp>
        <p:nvSpPr>
          <p:cNvPr id="34" name="Text 32"/>
          <p:cNvSpPr/>
          <p:nvPr/>
        </p:nvSpPr>
        <p:spPr>
          <a:xfrm>
            <a:off x="6263640" y="4754880"/>
            <a:ext cx="868680" cy="457200"/>
          </a:xfrm>
          <a:prstGeom prst="rect">
            <a:avLst/>
          </a:prstGeom>
          <a:noFill/>
          <a:ln/>
        </p:spPr>
        <p:txBody>
          <a:bodyPr wrap="square" lIns="0" tIns="0" rIns="0" bIns="0" rtlCol="0" anchor="ctr"/>
          <a:lstStyle/>
          <a:p>
            <a:pPr marL="0" indent="0" algn="ctr">
              <a:buNone/>
            </a:pPr>
            <a:r>
              <a:rPr lang="en-US" sz="1100" b="1">
                <a:solidFill>
                  <a:srgbClr val="6B21A8"/>
                </a:solidFill>
                <a:latin typeface="Calibri" pitchFamily="34" charset="0"/>
                <a:ea typeface="Calibri" pitchFamily="34" charset="-122"/>
                <a:cs typeface="Calibri" pitchFamily="34" charset="-120"/>
              </a:rPr>
              <a:t>+3 mo</a:t>
            </a:r>
            <a:endParaRPr lang="en-US" sz="1100"/>
          </a:p>
        </p:txBody>
      </p:sp>
      <p:sp>
        <p:nvSpPr>
          <p:cNvPr id="35" name="Text 33"/>
          <p:cNvSpPr/>
          <p:nvPr/>
        </p:nvSpPr>
        <p:spPr>
          <a:xfrm>
            <a:off x="7315200" y="4709160"/>
            <a:ext cx="4297680" cy="640080"/>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Org-wide rollout with per-entity dashboards and connections to live systems of record.</a:t>
            </a:r>
            <a:endParaRPr lang="en-US" sz="1150"/>
          </a:p>
        </p:txBody>
      </p:sp>
      <p:sp>
        <p:nvSpPr>
          <p:cNvPr id="36" name="Shape 34"/>
          <p:cNvSpPr/>
          <p:nvPr/>
        </p:nvSpPr>
        <p:spPr>
          <a:xfrm>
            <a:off x="566928" y="5532120"/>
            <a:ext cx="11064240" cy="548640"/>
          </a:xfrm>
          <a:prstGeom prst="roundRect">
            <a:avLst>
              <a:gd name="adj" fmla="val 10000"/>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37" name="Text 35"/>
          <p:cNvSpPr/>
          <p:nvPr/>
        </p:nvSpPr>
        <p:spPr>
          <a:xfrm>
            <a:off x="566928" y="5532120"/>
            <a:ext cx="11064240" cy="54864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FinSightOps — audit at machine speed, with every figure traceable to its source.</a:t>
            </a:r>
            <a:endParaRPr lang="en-US" sz="1300"/>
          </a:p>
        </p:txBody>
      </p:sp>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Prototype Demo</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A live run from upload to dashboard, with a recorded fallback ready.</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17</a:t>
            </a:r>
            <a:endParaRPr lang="en-US" sz="1050"/>
          </a:p>
        </p:txBody>
      </p:sp>
      <p:sp>
        <p:nvSpPr>
          <p:cNvPr id="7" name="Shape 5"/>
          <p:cNvSpPr/>
          <p:nvPr/>
        </p:nvSpPr>
        <p:spPr>
          <a:xfrm>
            <a:off x="566928" y="1645920"/>
            <a:ext cx="6583680" cy="3703320"/>
          </a:xfrm>
          <a:prstGeom prst="roundRect">
            <a:avLst>
              <a:gd name="adj" fmla="val 1728"/>
            </a:avLst>
          </a:prstGeom>
          <a:solidFill>
            <a:srgbClr val="F4F1FB"/>
          </a:solidFill>
          <a:ln w="15875">
            <a:solidFill>
              <a:srgbClr val="A100FF"/>
            </a:solidFill>
            <a:prstDash val="solid"/>
          </a:ln>
        </p:spPr>
        <p:txBody>
          <a:bodyPr/>
          <a:lstStyle/>
          <a:p>
            <a:endParaRPr lang="en-US"/>
          </a:p>
        </p:txBody>
      </p:sp>
      <p:sp>
        <p:nvSpPr>
          <p:cNvPr id="8" name="Shape 6"/>
          <p:cNvSpPr/>
          <p:nvPr/>
        </p:nvSpPr>
        <p:spPr>
          <a:xfrm>
            <a:off x="3538728" y="3063240"/>
            <a:ext cx="640080" cy="640080"/>
          </a:xfrm>
          <a:prstGeom prst="ellipse">
            <a:avLst/>
          </a:prstGeom>
          <a:solidFill>
            <a:srgbClr val="A100FF"/>
          </a:solidFill>
          <a:ln w="12700">
            <a:solidFill>
              <a:srgbClr val="A100FF"/>
            </a:solidFill>
            <a:prstDash val="solid"/>
          </a:ln>
        </p:spPr>
        <p:txBody>
          <a:bodyPr/>
          <a:lstStyle/>
          <a:p>
            <a:endParaRPr lang="en-US"/>
          </a:p>
        </p:txBody>
      </p:sp>
      <p:sp>
        <p:nvSpPr>
          <p:cNvPr id="9" name="Shape 7"/>
          <p:cNvSpPr/>
          <p:nvPr/>
        </p:nvSpPr>
        <p:spPr>
          <a:xfrm rot="5400000">
            <a:off x="3739896" y="3200400"/>
            <a:ext cx="274320" cy="365760"/>
          </a:xfrm>
          <a:prstGeom prst="triangle">
            <a:avLst/>
          </a:prstGeom>
          <a:solidFill>
            <a:srgbClr val="FFFFFF"/>
          </a:solidFill>
          <a:ln w="12700">
            <a:solidFill>
              <a:srgbClr val="FFFFFF"/>
            </a:solidFill>
            <a:prstDash val="solid"/>
          </a:ln>
        </p:spPr>
        <p:txBody>
          <a:bodyPr/>
          <a:lstStyle/>
          <a:p>
            <a:endParaRPr lang="en-US"/>
          </a:p>
        </p:txBody>
      </p:sp>
      <p:sp>
        <p:nvSpPr>
          <p:cNvPr id="10" name="Text 8"/>
          <p:cNvSpPr/>
          <p:nvPr/>
        </p:nvSpPr>
        <p:spPr>
          <a:xfrm>
            <a:off x="566928" y="3840480"/>
            <a:ext cx="6583680" cy="310896"/>
          </a:xfrm>
          <a:prstGeom prst="rect">
            <a:avLst/>
          </a:prstGeom>
          <a:noFill/>
          <a:ln/>
        </p:spPr>
        <p:txBody>
          <a:bodyPr wrap="square" lIns="0" tIns="0" rIns="0" bIns="0" rtlCol="0" anchor="ctr"/>
          <a:lstStyle/>
          <a:p>
            <a:pPr marL="0" indent="0" algn="ctr">
              <a:buNone/>
            </a:pPr>
            <a:r>
              <a:rPr lang="en-US" sz="1500" b="1">
                <a:solidFill>
                  <a:srgbClr val="6B21A8"/>
                </a:solidFill>
                <a:latin typeface="Bookman Old Style" pitchFamily="34" charset="0"/>
                <a:ea typeface="Bookman Old Style" pitchFamily="34" charset="-122"/>
                <a:cs typeface="Bookman Old Style" pitchFamily="34" charset="-120"/>
              </a:rPr>
              <a:t>Recorded demo</a:t>
            </a:r>
            <a:endParaRPr lang="en-US" sz="1500"/>
          </a:p>
        </p:txBody>
      </p:sp>
      <p:sp>
        <p:nvSpPr>
          <p:cNvPr id="11" name="Text 9"/>
          <p:cNvSpPr/>
          <p:nvPr/>
        </p:nvSpPr>
        <p:spPr>
          <a:xfrm>
            <a:off x="566928" y="4169664"/>
            <a:ext cx="6583680" cy="274320"/>
          </a:xfrm>
          <a:prstGeom prst="rect">
            <a:avLst/>
          </a:prstGeom>
          <a:noFill/>
          <a:ln/>
        </p:spPr>
        <p:txBody>
          <a:bodyPr wrap="square" lIns="0" tIns="0" rIns="0" bIns="0" rtlCol="0" anchor="ctr"/>
          <a:lstStyle/>
          <a:p>
            <a:pPr marL="0" indent="0" algn="ctr">
              <a:buNone/>
            </a:pPr>
            <a:r>
              <a:rPr lang="en-US" sz="1100" i="1">
                <a:solidFill>
                  <a:srgbClr val="7C8493"/>
                </a:solidFill>
                <a:latin typeface="Calibri" pitchFamily="34" charset="0"/>
                <a:ea typeface="Calibri" pitchFamily="34" charset="-122"/>
                <a:cs typeface="Calibri" pitchFamily="34" charset="-120"/>
              </a:rPr>
              <a:t>video to be embedded here as the backup for the live run</a:t>
            </a:r>
            <a:endParaRPr lang="en-US" sz="1100"/>
          </a:p>
        </p:txBody>
      </p:sp>
      <p:sp>
        <p:nvSpPr>
          <p:cNvPr id="12" name="Text 10"/>
          <p:cNvSpPr/>
          <p:nvPr/>
        </p:nvSpPr>
        <p:spPr>
          <a:xfrm>
            <a:off x="7452360" y="1737360"/>
            <a:ext cx="36576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RUN SHEET</a:t>
            </a:r>
            <a:endParaRPr lang="en-US" sz="1050"/>
          </a:p>
        </p:txBody>
      </p:sp>
      <p:sp>
        <p:nvSpPr>
          <p:cNvPr id="13" name="Shape 11"/>
          <p:cNvSpPr/>
          <p:nvPr/>
        </p:nvSpPr>
        <p:spPr>
          <a:xfrm>
            <a:off x="7452360" y="2121408"/>
            <a:ext cx="329184" cy="329184"/>
          </a:xfrm>
          <a:prstGeom prst="ellipse">
            <a:avLst/>
          </a:prstGeom>
          <a:solidFill>
            <a:srgbClr val="A100FF"/>
          </a:solidFill>
          <a:ln w="12700">
            <a:solidFill>
              <a:srgbClr val="A100FF"/>
            </a:solidFill>
            <a:prstDash val="solid"/>
          </a:ln>
        </p:spPr>
        <p:txBody>
          <a:bodyPr/>
          <a:lstStyle/>
          <a:p>
            <a:endParaRPr lang="en-US"/>
          </a:p>
        </p:txBody>
      </p:sp>
      <p:sp>
        <p:nvSpPr>
          <p:cNvPr id="14" name="Text 12"/>
          <p:cNvSpPr/>
          <p:nvPr/>
        </p:nvSpPr>
        <p:spPr>
          <a:xfrm>
            <a:off x="7452360" y="2148840"/>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a:t>
            </a:r>
            <a:endParaRPr lang="en-US" sz="1050"/>
          </a:p>
        </p:txBody>
      </p:sp>
      <p:sp>
        <p:nvSpPr>
          <p:cNvPr id="15" name="Text 13"/>
          <p:cNvSpPr/>
          <p:nvPr/>
        </p:nvSpPr>
        <p:spPr>
          <a:xfrm>
            <a:off x="7918704" y="2084832"/>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Upload the document set from the portal</a:t>
            </a:r>
            <a:endParaRPr lang="en-US" sz="1150"/>
          </a:p>
        </p:txBody>
      </p:sp>
      <p:sp>
        <p:nvSpPr>
          <p:cNvPr id="16" name="Shape 14"/>
          <p:cNvSpPr/>
          <p:nvPr/>
        </p:nvSpPr>
        <p:spPr>
          <a:xfrm>
            <a:off x="7452360" y="2697480"/>
            <a:ext cx="329184" cy="329184"/>
          </a:xfrm>
          <a:prstGeom prst="ellipse">
            <a:avLst/>
          </a:prstGeom>
          <a:solidFill>
            <a:srgbClr val="A100FF"/>
          </a:solidFill>
          <a:ln w="12700">
            <a:solidFill>
              <a:srgbClr val="A100FF"/>
            </a:solidFill>
            <a:prstDash val="solid"/>
          </a:ln>
        </p:spPr>
        <p:txBody>
          <a:bodyPr/>
          <a:lstStyle/>
          <a:p>
            <a:endParaRPr lang="en-US"/>
          </a:p>
        </p:txBody>
      </p:sp>
      <p:sp>
        <p:nvSpPr>
          <p:cNvPr id="17" name="Text 15"/>
          <p:cNvSpPr/>
          <p:nvPr/>
        </p:nvSpPr>
        <p:spPr>
          <a:xfrm>
            <a:off x="7452360" y="2724912"/>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a:t>
            </a:r>
            <a:endParaRPr lang="en-US" sz="1050"/>
          </a:p>
        </p:txBody>
      </p:sp>
      <p:sp>
        <p:nvSpPr>
          <p:cNvPr id="18" name="Text 16"/>
          <p:cNvSpPr/>
          <p:nvPr/>
        </p:nvSpPr>
        <p:spPr>
          <a:xfrm>
            <a:off x="7918704" y="2660904"/>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Ledger posts every entry; the trial balance balances</a:t>
            </a:r>
            <a:endParaRPr lang="en-US" sz="1150"/>
          </a:p>
        </p:txBody>
      </p:sp>
      <p:sp>
        <p:nvSpPr>
          <p:cNvPr id="19" name="Shape 17"/>
          <p:cNvSpPr/>
          <p:nvPr/>
        </p:nvSpPr>
        <p:spPr>
          <a:xfrm>
            <a:off x="7452360" y="3273552"/>
            <a:ext cx="329184" cy="329184"/>
          </a:xfrm>
          <a:prstGeom prst="ellipse">
            <a:avLst/>
          </a:prstGeom>
          <a:solidFill>
            <a:srgbClr val="A100FF"/>
          </a:solidFill>
          <a:ln w="12700">
            <a:solidFill>
              <a:srgbClr val="A100FF"/>
            </a:solidFill>
            <a:prstDash val="solid"/>
          </a:ln>
        </p:spPr>
        <p:txBody>
          <a:bodyPr/>
          <a:lstStyle/>
          <a:p>
            <a:endParaRPr lang="en-US"/>
          </a:p>
        </p:txBody>
      </p:sp>
      <p:sp>
        <p:nvSpPr>
          <p:cNvPr id="20" name="Text 18"/>
          <p:cNvSpPr/>
          <p:nvPr/>
        </p:nvSpPr>
        <p:spPr>
          <a:xfrm>
            <a:off x="7452360" y="3300984"/>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a:t>
            </a:r>
            <a:endParaRPr lang="en-US" sz="1050"/>
          </a:p>
        </p:txBody>
      </p:sp>
      <p:sp>
        <p:nvSpPr>
          <p:cNvPr id="21" name="Text 19"/>
          <p:cNvSpPr/>
          <p:nvPr/>
        </p:nvSpPr>
        <p:spPr>
          <a:xfrm>
            <a:off x="7918704" y="3236976"/>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P&amp;L and balance sheet compute off that trial balance</a:t>
            </a:r>
            <a:endParaRPr lang="en-US" sz="1150"/>
          </a:p>
        </p:txBody>
      </p:sp>
      <p:sp>
        <p:nvSpPr>
          <p:cNvPr id="22" name="Shape 20"/>
          <p:cNvSpPr/>
          <p:nvPr/>
        </p:nvSpPr>
        <p:spPr>
          <a:xfrm>
            <a:off x="7452360" y="3849624"/>
            <a:ext cx="329184" cy="329184"/>
          </a:xfrm>
          <a:prstGeom prst="ellipse">
            <a:avLst/>
          </a:prstGeom>
          <a:solidFill>
            <a:srgbClr val="A100FF"/>
          </a:solidFill>
          <a:ln w="12700">
            <a:solidFill>
              <a:srgbClr val="A100FF"/>
            </a:solidFill>
            <a:prstDash val="solid"/>
          </a:ln>
        </p:spPr>
        <p:txBody>
          <a:bodyPr/>
          <a:lstStyle/>
          <a:p>
            <a:endParaRPr lang="en-US"/>
          </a:p>
        </p:txBody>
      </p:sp>
      <p:sp>
        <p:nvSpPr>
          <p:cNvPr id="23" name="Text 21"/>
          <p:cNvSpPr/>
          <p:nvPr/>
        </p:nvSpPr>
        <p:spPr>
          <a:xfrm>
            <a:off x="7452360" y="3877056"/>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a:t>
            </a:r>
            <a:endParaRPr lang="en-US" sz="1050"/>
          </a:p>
        </p:txBody>
      </p:sp>
      <p:sp>
        <p:nvSpPr>
          <p:cNvPr id="24" name="Text 22"/>
          <p:cNvSpPr/>
          <p:nvPr/>
        </p:nvSpPr>
        <p:spPr>
          <a:xfrm>
            <a:off x="7918704" y="3813048"/>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Reconciliation surfaces and explains the difference</a:t>
            </a:r>
            <a:endParaRPr lang="en-US" sz="1150"/>
          </a:p>
        </p:txBody>
      </p:sp>
      <p:sp>
        <p:nvSpPr>
          <p:cNvPr id="25" name="Shape 23"/>
          <p:cNvSpPr/>
          <p:nvPr/>
        </p:nvSpPr>
        <p:spPr>
          <a:xfrm>
            <a:off x="7452360" y="4425696"/>
            <a:ext cx="329184" cy="329184"/>
          </a:xfrm>
          <a:prstGeom prst="ellipse">
            <a:avLst/>
          </a:prstGeom>
          <a:solidFill>
            <a:srgbClr val="A100FF"/>
          </a:solidFill>
          <a:ln w="12700">
            <a:solidFill>
              <a:srgbClr val="A100FF"/>
            </a:solidFill>
            <a:prstDash val="solid"/>
          </a:ln>
        </p:spPr>
        <p:txBody>
          <a:bodyPr/>
          <a:lstStyle/>
          <a:p>
            <a:endParaRPr lang="en-US"/>
          </a:p>
        </p:txBody>
      </p:sp>
      <p:sp>
        <p:nvSpPr>
          <p:cNvPr id="26" name="Text 24"/>
          <p:cNvSpPr/>
          <p:nvPr/>
        </p:nvSpPr>
        <p:spPr>
          <a:xfrm>
            <a:off x="7452360" y="4453128"/>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5</a:t>
            </a:r>
            <a:endParaRPr lang="en-US" sz="1050"/>
          </a:p>
        </p:txBody>
      </p:sp>
      <p:sp>
        <p:nvSpPr>
          <p:cNvPr id="27" name="Text 25"/>
          <p:cNvSpPr/>
          <p:nvPr/>
        </p:nvSpPr>
        <p:spPr>
          <a:xfrm>
            <a:off x="7918704" y="4389120"/>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Dashboard shows every stored result, stage by stage</a:t>
            </a:r>
            <a:endParaRPr lang="en-US" sz="1150"/>
          </a:p>
        </p:txBody>
      </p:sp>
      <p:sp>
        <p:nvSpPr>
          <p:cNvPr id="30" name="Text 28"/>
          <p:cNvSpPr/>
          <p:nvPr/>
        </p:nvSpPr>
        <p:spPr>
          <a:xfrm>
            <a:off x="566928" y="5532120"/>
            <a:ext cx="6583680" cy="548640"/>
          </a:xfrm>
          <a:prstGeom prst="rect">
            <a:avLst/>
          </a:prstGeom>
          <a:noFill/>
          <a:ln/>
        </p:spPr>
        <p:txBody>
          <a:bodyPr wrap="square" lIns="0" tIns="0" rIns="0" bIns="0" rtlCol="0" anchor="ctr"/>
          <a:lstStyle/>
          <a:p>
            <a:pPr marL="0" indent="0">
              <a:lnSpc>
                <a:spcPts val="1400"/>
              </a:lnSpc>
              <a:buNone/>
            </a:pPr>
            <a:r>
              <a:rPr lang="en-US" sz="1100" i="1">
                <a:solidFill>
                  <a:srgbClr val="7C8493"/>
                </a:solidFill>
                <a:latin typeface="Calibri" pitchFamily="34" charset="0"/>
                <a:ea typeface="Calibri" pitchFamily="34" charset="-122"/>
                <a:cs typeface="Calibri" pitchFamily="34" charset="-120"/>
              </a:rPr>
              <a:t>Every figure on screen is read back from DynamoDB, so what the judges see is stored output rather than a rendered summary.</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2468880"/>
            <a:ext cx="8229600" cy="914400"/>
          </a:xfrm>
          <a:prstGeom prst="rect">
            <a:avLst/>
          </a:prstGeom>
          <a:noFill/>
          <a:ln/>
        </p:spPr>
        <p:txBody>
          <a:bodyPr wrap="square" lIns="0" tIns="0" rIns="0" bIns="0" rtlCol="0" anchor="ctr"/>
          <a:lstStyle/>
          <a:p>
            <a:pPr marL="0" indent="0">
              <a:buNone/>
            </a:pPr>
            <a:r>
              <a:rPr lang="en-US" sz="4400" b="1">
                <a:solidFill>
                  <a:srgbClr val="FFFFFF"/>
                </a:solidFill>
                <a:latin typeface="Bookman Old Style" pitchFamily="34" charset="0"/>
                <a:ea typeface="Bookman Old Style" pitchFamily="34" charset="-122"/>
                <a:cs typeface="Bookman Old Style" pitchFamily="34" charset="-120"/>
              </a:rPr>
              <a:t>Thank you</a:t>
            </a:r>
            <a:endParaRPr lang="en-US" sz="4400"/>
          </a:p>
        </p:txBody>
      </p:sp>
      <p:sp>
        <p:nvSpPr>
          <p:cNvPr id="3" name="Text 1"/>
          <p:cNvSpPr/>
          <p:nvPr/>
        </p:nvSpPr>
        <p:spPr>
          <a:xfrm>
            <a:off x="566928" y="3520440"/>
            <a:ext cx="8229600" cy="365760"/>
          </a:xfrm>
          <a:prstGeom prst="rect">
            <a:avLst/>
          </a:prstGeom>
          <a:noFill/>
          <a:ln/>
        </p:spPr>
        <p:txBody>
          <a:bodyPr wrap="square" lIns="0" tIns="0" rIns="0" bIns="0" rtlCol="0" anchor="ctr"/>
          <a:lstStyle/>
          <a:p>
            <a:pPr marL="0" indent="0">
              <a:buNone/>
            </a:pPr>
            <a:r>
              <a:rPr lang="en-US" sz="1600">
                <a:solidFill>
                  <a:srgbClr val="FF9900"/>
                </a:solidFill>
                <a:latin typeface="Calibri" pitchFamily="34" charset="0"/>
                <a:ea typeface="Calibri" pitchFamily="34" charset="-122"/>
                <a:cs typeface="Calibri" pitchFamily="34" charset="-120"/>
              </a:rPr>
              <a:t>FinSightOps: audit at machine speed, with every figure traceable to its source.</a:t>
            </a:r>
            <a:endParaRPr lang="en-US" sz="1600"/>
          </a:p>
        </p:txBody>
      </p:sp>
      <p:sp>
        <p:nvSpPr>
          <p:cNvPr id="4" name="Text 2"/>
          <p:cNvSpPr/>
          <p:nvPr/>
        </p:nvSpPr>
        <p:spPr>
          <a:xfrm>
            <a:off x="566928" y="4023360"/>
            <a:ext cx="8229600" cy="320040"/>
          </a:xfrm>
          <a:prstGeom prst="rect">
            <a:avLst/>
          </a:prstGeom>
          <a:noFill/>
          <a:ln/>
        </p:spPr>
        <p:txBody>
          <a:bodyPr wrap="square" lIns="0" tIns="0" rIns="0" bIns="0" rtlCol="0" anchor="ctr"/>
          <a:lstStyle/>
          <a:p>
            <a:pPr marL="0" indent="0">
              <a:buNone/>
            </a:pPr>
            <a:r>
              <a:rPr lang="en-US" sz="1300">
                <a:solidFill>
                  <a:srgbClr val="D6CCEA"/>
                </a:solidFill>
                <a:latin typeface="Calibri" pitchFamily="34" charset="0"/>
                <a:ea typeface="Calibri" pitchFamily="34" charset="-122"/>
                <a:cs typeface="Calibri" pitchFamily="34" charset="-120"/>
              </a:rPr>
              <a:t>Team FinSightOps   ·   AABG FY26 Hackathon</a:t>
            </a:r>
            <a:endParaRPr lang="en-US" sz="1300"/>
          </a:p>
        </p:txBody>
      </p:sp>
      <p:sp>
        <p:nvSpPr>
          <p:cNvPr id="5" name="Text 3"/>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FFFFF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6" name="Text 4"/>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D6CCEA"/>
                </a:solidFill>
                <a:latin typeface="Calibri" pitchFamily="34" charset="0"/>
                <a:ea typeface="Calibri" pitchFamily="34" charset="-122"/>
                <a:cs typeface="Calibri" pitchFamily="34" charset="-120"/>
              </a:rPr>
              <a:t>AABG FY26 Hackathon   ·   Team FinSightOps</a:t>
            </a:r>
            <a:endParaRPr lang="en-US" sz="10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7</TotalTime>
  <Words>5639</Words>
  <Application>Microsoft Office PowerPoint</Application>
  <PresentationFormat>Widescreen</PresentationFormat>
  <Paragraphs>645</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Gan, Wei Jun</cp:lastModifiedBy>
  <cp:revision>2</cp:revision>
  <dcterms:created xsi:type="dcterms:W3CDTF">2026-08-13T12:54:45Z</dcterms:created>
  <dcterms:modified xsi:type="dcterms:W3CDTF">2026-08-14T05:33:12Z</dcterms:modified>
</cp:coreProperties>
</file>